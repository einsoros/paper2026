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발화 · 약 15초 ]
안녕하십니까. 기술경영전문대학원 기술경영전공 석사과정 이성준입니다.
「생성형 AI 협업 환경에서 성과 기여 귀속 모호성이 절차공정성 지각에 미치는 영향」이라는 주제로 연구계획을 발표드리겠습니다.
[ 주의 ] 여기서 배경 이야기를 시작하지 않는다. 제목만 읽고 넘긴다.
[ 준비 ] 상단 띠 우측에 학교 문양을 붙일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발화 · 약 8초 ]
발표는 연구배경과 문제제기, 연구목적과 학술적 기여, 연구모델과 방법, 향후 계획 순서로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발화 · 약 45초 ]
먼저 연구배경입니다.
생성형 AI는 이미 지식노동의 수행 방식을 바꾸고 있습니다.
그런데 인간과 AI가 함께 만든 산출물은 사후에 누가 무엇을 했는지로 분해되지 않습니다. 기술과 사람의 행위가 얽혀 있기 때문입니다.
그 결과 「누구의 기여인가」라는 귀속 판단이 어려워집니다.
문제는 성과평가가 바로 그 개인 기여의 식별을 전제로 작동한다는 점입니다.
그리고 절차공정성은 그 평가가 일관되고 정확한 정보에 근거했는지로 판단됩니다.
그렇다면 기여를 식별하기 어려워질수록, 그 규칙이 지켜졌는지 판단할 근거는 약해집니다. 이것이 본 연구의 출발점입니다.
[ 저자명 읽기 ] 브린욜프슨 · 델라쿠아 · 올리코프스키 · 레오나르디 · 니호프와 무어먼 · 레븐탈 · 콜퀴트
[ 주의 ] 저자명을 다 읽을 필요는 없다. 슬라이드에 적혀 있으므로 「선행연구들이 보여 왔습니다」로 넘겨도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발화 · 약 45초 ]
그래서 문제는 이것입니다. 평가받는 사람은 자신의 노력이 어떤 평가로 이어질지 가늠할 수 없게 됩니다.
이 문제를 선행연구가 어디까지 다뤘는지 세 가지 조건으로 정리했습니다. 불확실성이 조직 안에서 발생하는가, 매개 경로를 검증하는가, 절차공정성 지각이 종속변수인가입니다.
인간-AI 귀속 연구는 귀속 모호성을 다루지만 배분 판단에 머물고 공정성 지각을 재지 않습니다.
불확실성 관리 이론의 실증 연구들은 공정성 판단을 다루지만, 불확실성을 실험 조작이거나 외부 상황으로 놓고 조절변수로 배치합니다.
성과평가 공정성 연구는 절차공정성을 종속변수로 두지만, 다루는 불확실성이 직무의 외생 특성이고 매개를 검증하지 않습니다.
세 조건을 동시에 충족하는 연구는 확인되지 않았습니다. 본 연구는 그 공백을 다룹니다.
[ 주의 ] 표를 세로로 읽지 않는다. 「마지막 열까지 다 동그라미인 줄이 없습니다」 한 마디로 짚는다.
[ 주의 ] 「없습니다」가 아니라 「확인되지 않았습니다」로 말한다. 전수조사를 주장하지 않는다.
[ 저자명 읽기 ] 반 덴 보스 · 하트만과 슬라프니차르
[ 원문 발췌 ] 물으면 우하단 박스를 짚는다 — 정의 효과가 「컨디셔널 온 태스크 언서튼티」, 즉 조절이지 매개가 아니라고 적혀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발화 · 약 35초 ]
연구목적은 귀속 모호성이 공정성 지각에 이르는 경로를, 그 사이의 심리적 기제와 함께 규명하는 것입니다.
첫째, 선행연구가 시사한 관계를 이론 기반의 확인적 가설로 정식화합니다.
둘째, 지각된 평가 불확실성을 매개변수로 놓아 그 관계가 어떤 경로를 거치는지 실증합니다.
셋째, 절차공정성 구성개념을 AI 협업 성과평가라는 새 맥락에 적용하고, 절차 명확화의 완화 범위를 검정합니다.
[ 주의 ] 하단 「범위를 좁힌 근거」는 읽지 말고 넘긴다. 물으면 답한다 —
IT 개발직 한정은 협업 결합도를 조작하지 않고 통제하기 위해서이고, 종속변수를 두 측면으로 좁힌 것은 이론 층이 지목하는 규칙이 그 둘이기 때문이다.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발화 · 약 40초 ]
학술적 기여는 세 가지 전환으로 말씀드리겠습니다.
첫째는 질문의 전환입니다. 지금까지는 「AI에게 얼마의 크레딧을 줄 것인가」를 물었습니다. 본 연구는 「그 귀속이 어려울 때 평가받는 사람이 제도를 어떻게 지각하는가」를 묻습니다. 그러면 조직공정성이 축적한 이론과 측정 도구를 이 현상에 쓸 수 있게 됩니다.
둘째는 출처의 전환입니다. 지금까지 불확실성은 주어진 조건이었습니다. 본 연구는 그것을 업무의 성격이 만든 결과로 봅니다. AI 협업의 귀속 모호성을 불확실성의 출처로 지목합니다.
셋째는 처방의 검증입니다. 「기준을 명확히 하면 된다」는 통상적 처방이 어디까지 유효한지를 조절효과로 확인합니다.
[ 주의 ] 시간이 부족하면 붉은 화살표 줄만 읽어도 성립한다.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발화 · 약 85초 ]
연구모델의 논리는 한 문장으로 이렇습니다.
「기여를 가릴 수 없으면 평가를 예측할 수 없고, 예측할 수 없는 평가는 일관되고 정확하다고 판단할 근거를 잃는다.」
이 문장의 앞마디와 뒷마디가 각각 가설 1과 가설 2입니다.
가설 1은 귀인이론의 기대원리를 근거로 합니다. 원인을 안정적으로 귀속할 수 있을 때 사람은 미래 결과를 예측합니다. 귀속할 수 없으면 예측할 수 없습니다.
가설 2는 레븐탈의 절차 규칙을 근거로 합니다. 절차공정성은 절차가 일관되게, 그리고 정확한 정보에 근거해 적용된다는 지각에서 형성됩니다. 평가를 예측할 수 없으면 그 규칙이 지켜졌다고 판단할 근거를 잃게 됩니다.
가설 3은 이 둘의 연쇄로, 평가 불확실성의 매개효과입니다.
가설 4는 평가 절차 명확성의 조절효과입니다. 절차를 명확히 설명하는 것은 불확실성 자체를 낮추는 작용이므로, 앞쪽 경로를 조절하는 것으로 놓았습니다. 프로세스 매크로 모델 7에 해당합니다.
다만 이 조절변수를 측정으로 둘지 시나리오에서 조작할지는 사전 검정력 분석 결과에 따라 조정할 계획입니다.
[ 주의 ] 이론은 두 개로만 말한다. 세 개로 말하면 「UMT가 가설 2를 지지하느냐」를 자초한다.
[ 주의 ] 조절 「위치」까지 미정이라고 말하지 않는다. 위치는 논리로 확정했고 조작화 방식만 데이터로 정한다.
[ 저자명 읽기 ] 와이너 · 레븐탈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발화 · 약 50초 ]
검증은 시나리오 실험으로 합니다.
응답자는 가상의 회사에서 AI를 활용해 산출물을 만든 상황을 읽고 두 조건 중 하나에 무작위로 배정됩니다.
조작하는 요인은 하나입니다. 기여를 식별할 수 있는가입니다. 두 조건은 산출물도 품질도 같고, AI가 만든 결과물을 어떻게 처리했는지만 다릅니다.
협업의 결합 정도는 조작하지 않았습니다. 대신 AI를 업무 전 과정에서 쓰는 IT 개발직으로 대상을 좁혀 통제합니다.
측정은 평가 불확실성 네 문항, 절차공정성 지각 세 문항, 평가 절차 명확성 네 문항이고, 조작이 실제로 작동했는지는 조작 점검 문항으로 확인합니다.
통제변수로는 AI 리터러시와 사용 경험, 경력과 직급을 넣습니다.
분석은 조작 점검과 신뢰도·타당도 검토를 거쳐 매개효과는 부트스트래핑으로, 조절효과는 조절된 매개로 검정합니다. 표본은 IT 개발직 약 250명을 계획하고 있습니다.
[ 주의 ] 「250명이면 충분합니다」라고 말하지 않는다. 정식 검정력 분석 전이다.
[ 주의 ] 「판별타당도를 확정했습니다」라고 말하지 않는다. 「사전 계획에 포함했고 문항 단계 점검은 수행했습니다」까지가 사실이다.
[ 저자명 읽기 ] 리조 · 니호프와 무어먼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발화 · 약 35초 ]
향후 계획은 9월에 문항을 확정하고 사전검사와 본조사를 진행하며, 10월에 분석과 결과 작성, 11월에 공헌과 시사점과 한계, 12월에 파이널 디펜스입니다.
마지막으로 세 가지에 대해 지도를 구하고 싶습니다.
첫째, 조절변수를 측정으로 둘 것인지 시나리오에서 조작할 것인지입니다. 사전 검정력 분석을 판정 기준으로 두고 있습니다.
둘째, 가상 시나리오에서 절차공정성 지각을 재는 것이 구성 타당도 측면에서 성립하는지입니다.
셋째, 본 연구가 다루는 공백이 학위논문의 기여로 충분한지입니다.
이상입니다. 감사합니다.
[ 주의 ] 조절변수 문항 재설계와 표본 수는 먼저 꺼내지 않는다. 물으면 답한다.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트리거: 「그 이론에서 정확히 무엇을 가져왔습니까」 「왜 그 근거를 썼습니까」. 세 번째 열이 답이다. 미확인 항목은 감추지 않는다.
[ 저자명 읽기 — 발표에서 소리 내어 읽을 때 ]
Weiner 와이너 · Leventhal 레븐탈 · Colquitt 콜퀴트 · Niehoff 니호프 · Moorman 무어먼
Rizzo 리조 · House 하우스 · Lirtzman 러츠먼 · Hartmann 하트만 · Slapničar 슬라프니차르
Erdogan 에르도안 · Orlikowski 올리코프스키 · Leonardi 레오나르디
Brynjolfsson 브린욜프슨 · Dell'Acqua 델라쿠아 · Thompson 톰슨 · Hayes 헤이즈
van den Bos 반 덴 보스 · Lind 린드 · Diekmann 디크만 · Thau 타우
De Cremer 드 크레머 · Sedikides 세디키디스 · MacDonald 맥도널드 · Withey 위디
[ 요령 ] 발표에서 저자명을 다 읽을 필요는 없다. 슬라이드에 적혀 있으므로
「선행연구들이」로 넘기고, 핵심 세 사람 — 와이너 · 레븐탈 · 하트만 — 만 이름으로 부르면 충분하다.
확신이 없는 이름은 읽지 말고 「그 연구는」으로 대체한다.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트리거: 「척도는 어디서 가져왔습니까」 「IV와 MV가 같은 것 아닙니까」. 후자는 ① 정의문에서 IV를 분리했고 ② 판별타당도와 분류 과제로 확인한다.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트리거: 「어떻게 검정합니까」 「Model 7이면 조건부 간접효과를 보고합니까」. 답: 상호작용항으로 H4를 판정하고 조건부 간접효과를 함께 보고한다. MOD 직접항은 통제로 투입하되 가설로 세우지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트리거 1: 「통제변수 없이 나온 계수가 응답자 특성 때문이 아니라고 어떻게 압니까」 → a경로는 무작위 배정이라 무관, b경로는 순차적 무시가능성 가정. 통제변수를 더 넣어 닫는 문제가 아니라 가정에 이름을 붙여 명시하는 문제다. 트리거 2: 「왜 시점을 나누지 않았습니까」 → 시나리오 조작은 직후 측정이 필수이고 가상 조직이라 재접촉이 무의미하다. 대신 IV 무작위 배정이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트리거: 「두 조건이 실제로 어떻게 다릅니까」 「조작이 너무 약한 것 아닙니까」. 후자는 파일럿에서 MC가 갈리지 않으면 ④를 강화하는 안이 준비돼 있다고 답한다.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트리거: 「문항을 보여 주십시오」 「신규 문항이 있습니까」. 답: DV는 신규 0, MV는 Rizzo 정의 ⑴ 계열 복원, MC는 조작 점검용이다.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트리거 1: 「불확실성과 공정성 연구가 없다는 근거가 있습니까」 → 이 표를 연다. 트리거 2: 「Hartmann은 Leventhal 틀이 이론이 아니라고 하는데 왜 그 틀로 갔습니까」 → 하단 두 상자. 인정하고 용법을 구분한다. 상세는 qa-prep-260826 안건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26742" cy="2084832"/>
          </a:xfrm>
          <a:prstGeom prst="rect">
            <a:avLst/>
          </a:prstGeom>
          <a:solidFill>
            <a:srgbClr val="6B1F26"/>
          </a:solidFill>
          <a:ln/>
        </p:spPr>
      </p:sp>
      <p:sp>
        <p:nvSpPr>
          <p:cNvPr id="3" name="Text 1"/>
          <p:cNvSpPr/>
          <p:nvPr/>
        </p:nvSpPr>
        <p:spPr>
          <a:xfrm>
            <a:off x="987552" y="790042"/>
            <a:ext cx="12618720" cy="373075"/>
          </a:xfrm>
          <a:prstGeom prst="rect">
            <a:avLst/>
          </a:prstGeom>
          <a:noFill/>
          <a:ln/>
        </p:spPr>
        <p:txBody>
          <a:bodyPr wrap="square" lIns="0" tIns="0" rIns="0" bIns="0" rtlCol="0" anchor="ctr"/>
          <a:lstStyle/>
          <a:p>
            <a:pPr indent="0" marL="0">
              <a:buNone/>
            </a:pPr>
            <a:r>
              <a:rPr lang="en-US" sz="1300" b="1" spc="200" kern="0" dirty="0">
                <a:solidFill>
                  <a:srgbClr val="E6CFCC"/>
                </a:solidFill>
                <a:latin typeface="Arial" pitchFamily="34" charset="0"/>
                <a:ea typeface="Arial" pitchFamily="34" charset="-122"/>
                <a:cs typeface="Arial" pitchFamily="34" charset="-120"/>
              </a:rPr>
              <a:t>2026학년도 석사학위논문 프로포절 심사</a:t>
            </a:r>
            <a:endParaRPr lang="en-US" sz="1300" dirty="0"/>
          </a:p>
        </p:txBody>
      </p:sp>
      <p:sp>
        <p:nvSpPr>
          <p:cNvPr id="4" name="Text 2"/>
          <p:cNvSpPr/>
          <p:nvPr/>
        </p:nvSpPr>
        <p:spPr>
          <a:xfrm>
            <a:off x="987552" y="2798064"/>
            <a:ext cx="12618720" cy="1645920"/>
          </a:xfrm>
          <a:prstGeom prst="rect">
            <a:avLst/>
          </a:prstGeom>
          <a:noFill/>
          <a:ln/>
        </p:spPr>
        <p:txBody>
          <a:bodyPr wrap="square" lIns="0" tIns="0" rIns="0" bIns="0" rtlCol="0" anchor="ctr"/>
          <a:lstStyle/>
          <a:p>
            <a:pPr indent="0" marL="0">
              <a:lnSpc>
                <a:spcPts val="5520"/>
              </a:lnSpc>
              <a:buNone/>
            </a:pPr>
            <a:r>
              <a:rPr lang="en-US" sz="3300" b="1" dirty="0">
                <a:solidFill>
                  <a:srgbClr val="1F2226"/>
                </a:solidFill>
                <a:latin typeface="Arial" pitchFamily="34" charset="0"/>
                <a:ea typeface="Arial" pitchFamily="34" charset="-122"/>
                <a:cs typeface="Arial" pitchFamily="34" charset="-120"/>
              </a:rPr>
              <a:t>생성형 AI 협업 환경에서 성과 기여 귀속 모호성이</a:t>
            </a:r>
            <a:endParaRPr lang="en-US" sz="3300" dirty="0"/>
          </a:p>
          <a:p>
            <a:pPr indent="0" marL="0">
              <a:lnSpc>
                <a:spcPts val="5520"/>
              </a:lnSpc>
              <a:buNone/>
            </a:pPr>
            <a:r>
              <a:rPr lang="en-US" sz="3300" b="1" dirty="0">
                <a:solidFill>
                  <a:srgbClr val="1F2226"/>
                </a:solidFill>
                <a:latin typeface="Arial" pitchFamily="34" charset="0"/>
                <a:ea typeface="Arial" pitchFamily="34" charset="-122"/>
                <a:cs typeface="Arial" pitchFamily="34" charset="-120"/>
              </a:rPr>
              <a:t>절차공정성 지각에 미치는 영향</a:t>
            </a:r>
            <a:endParaRPr lang="en-US" sz="3300" dirty="0"/>
          </a:p>
        </p:txBody>
      </p:sp>
      <p:sp>
        <p:nvSpPr>
          <p:cNvPr id="5" name="Shape 3"/>
          <p:cNvSpPr/>
          <p:nvPr/>
        </p:nvSpPr>
        <p:spPr>
          <a:xfrm>
            <a:off x="1009498" y="4630522"/>
            <a:ext cx="1645920" cy="0"/>
          </a:xfrm>
          <a:prstGeom prst="line">
            <a:avLst/>
          </a:prstGeom>
          <a:noFill/>
          <a:ln w="38100">
            <a:solidFill>
              <a:srgbClr val="8C2A32"/>
            </a:solidFill>
            <a:prstDash val="solid"/>
          </a:ln>
        </p:spPr>
      </p:sp>
      <p:sp>
        <p:nvSpPr>
          <p:cNvPr id="6" name="Text 4"/>
          <p:cNvSpPr/>
          <p:nvPr/>
        </p:nvSpPr>
        <p:spPr>
          <a:xfrm>
            <a:off x="987552" y="4882896"/>
            <a:ext cx="12618720" cy="438912"/>
          </a:xfrm>
          <a:prstGeom prst="rect">
            <a:avLst/>
          </a:prstGeom>
          <a:noFill/>
          <a:ln/>
        </p:spPr>
        <p:txBody>
          <a:bodyPr wrap="square" lIns="0" tIns="0" rIns="0" bIns="0" rtlCol="0" anchor="ctr"/>
          <a:lstStyle/>
          <a:p>
            <a:pPr indent="0" marL="0">
              <a:buNone/>
            </a:pPr>
            <a:r>
              <a:rPr lang="en-US" sz="1600" dirty="0">
                <a:solidFill>
                  <a:srgbClr val="1F2226"/>
                </a:solidFill>
                <a:latin typeface="Arial" pitchFamily="34" charset="0"/>
                <a:ea typeface="Arial" pitchFamily="34" charset="-122"/>
                <a:cs typeface="Arial" pitchFamily="34" charset="-120"/>
              </a:rPr>
              <a:t>— 지각된 평가 불확실성의 매개효과와 평가 절차 명확성의 조절효과를 중심으로</a:t>
            </a:r>
            <a:endParaRPr lang="en-US" sz="1600" dirty="0"/>
          </a:p>
        </p:txBody>
      </p:sp>
      <p:sp>
        <p:nvSpPr>
          <p:cNvPr id="7" name="Text 5"/>
          <p:cNvSpPr/>
          <p:nvPr/>
        </p:nvSpPr>
        <p:spPr>
          <a:xfrm>
            <a:off x="987552" y="5332781"/>
            <a:ext cx="12618720" cy="373075"/>
          </a:xfrm>
          <a:prstGeom prst="rect">
            <a:avLst/>
          </a:prstGeom>
          <a:noFill/>
          <a:ln/>
        </p:spPr>
        <p:txBody>
          <a:bodyPr wrap="square" lIns="0" tIns="0" rIns="0" bIns="0" rtlCol="0" anchor="ctr"/>
          <a:lstStyle/>
          <a:p>
            <a:pPr indent="0" marL="0">
              <a:buNone/>
            </a:pPr>
            <a:r>
              <a:rPr lang="en-US" sz="1300" dirty="0">
                <a:solidFill>
                  <a:srgbClr val="70757C"/>
                </a:solidFill>
                <a:latin typeface="Arial" pitchFamily="34" charset="0"/>
                <a:ea typeface="Arial" pitchFamily="34" charset="-122"/>
                <a:cs typeface="Arial" pitchFamily="34" charset="-120"/>
              </a:rPr>
              <a:t>IT 개발직 대상 시나리오 실험</a:t>
            </a:r>
            <a:endParaRPr lang="en-US" sz="1300" dirty="0"/>
          </a:p>
        </p:txBody>
      </p:sp>
      <p:sp>
        <p:nvSpPr>
          <p:cNvPr id="8" name="Shape 6"/>
          <p:cNvSpPr/>
          <p:nvPr/>
        </p:nvSpPr>
        <p:spPr>
          <a:xfrm>
            <a:off x="1009498" y="6276442"/>
            <a:ext cx="6144768" cy="0"/>
          </a:xfrm>
          <a:prstGeom prst="line">
            <a:avLst/>
          </a:prstGeom>
          <a:noFill/>
          <a:ln w="12700">
            <a:solidFill>
              <a:srgbClr val="C9CDD3"/>
            </a:solidFill>
            <a:prstDash val="solid"/>
          </a:ln>
        </p:spPr>
      </p:sp>
      <p:sp>
        <p:nvSpPr>
          <p:cNvPr id="9" name="Text 7"/>
          <p:cNvSpPr/>
          <p:nvPr/>
        </p:nvSpPr>
        <p:spPr>
          <a:xfrm>
            <a:off x="1009498" y="6473952"/>
            <a:ext cx="1261872" cy="307238"/>
          </a:xfrm>
          <a:prstGeom prst="rect">
            <a:avLst/>
          </a:prstGeom>
          <a:noFill/>
          <a:ln/>
        </p:spPr>
        <p:txBody>
          <a:bodyPr wrap="square" lIns="0" tIns="0" rIns="0" bIns="0" rtlCol="0" anchor="ctr"/>
          <a:lstStyle/>
          <a:p>
            <a:pPr indent="0" marL="0">
              <a:buNone/>
            </a:pPr>
            <a:r>
              <a:rPr lang="en-US" sz="1150" dirty="0">
                <a:solidFill>
                  <a:srgbClr val="70757C"/>
                </a:solidFill>
                <a:latin typeface="Arial" pitchFamily="34" charset="0"/>
                <a:ea typeface="Arial" pitchFamily="34" charset="-122"/>
                <a:cs typeface="Arial" pitchFamily="34" charset="-120"/>
              </a:rPr>
              <a:t>발표자</a:t>
            </a:r>
            <a:endParaRPr lang="en-US" sz="1150" dirty="0"/>
          </a:p>
        </p:txBody>
      </p:sp>
      <p:sp>
        <p:nvSpPr>
          <p:cNvPr id="10" name="Text 8"/>
          <p:cNvSpPr/>
          <p:nvPr/>
        </p:nvSpPr>
        <p:spPr>
          <a:xfrm>
            <a:off x="2304288" y="6473952"/>
            <a:ext cx="7132320" cy="307238"/>
          </a:xfrm>
          <a:prstGeom prst="rect">
            <a:avLst/>
          </a:prstGeom>
          <a:noFill/>
          <a:ln/>
        </p:spPr>
        <p:txBody>
          <a:bodyPr wrap="square" lIns="0" tIns="0" rIns="0" bIns="0" rtlCol="0" anchor="ctr"/>
          <a:lstStyle/>
          <a:p>
            <a:pPr indent="0" marL="0">
              <a:buNone/>
            </a:pPr>
            <a:r>
              <a:rPr lang="en-US" sz="1250" b="1" dirty="0">
                <a:solidFill>
                  <a:srgbClr val="1F2226"/>
                </a:solidFill>
                <a:latin typeface="Arial" pitchFamily="34" charset="0"/>
                <a:ea typeface="Arial" pitchFamily="34" charset="-122"/>
                <a:cs typeface="Arial" pitchFamily="34" charset="-120"/>
              </a:rPr>
              <a:t>이성준</a:t>
            </a:r>
            <a:endParaRPr lang="en-US" sz="1250" dirty="0"/>
          </a:p>
        </p:txBody>
      </p:sp>
      <p:sp>
        <p:nvSpPr>
          <p:cNvPr id="11" name="Text 9"/>
          <p:cNvSpPr/>
          <p:nvPr/>
        </p:nvSpPr>
        <p:spPr>
          <a:xfrm>
            <a:off x="1009498" y="6814109"/>
            <a:ext cx="1261872" cy="307238"/>
          </a:xfrm>
          <a:prstGeom prst="rect">
            <a:avLst/>
          </a:prstGeom>
          <a:noFill/>
          <a:ln/>
        </p:spPr>
        <p:txBody>
          <a:bodyPr wrap="square" lIns="0" tIns="0" rIns="0" bIns="0" rtlCol="0" anchor="ctr"/>
          <a:lstStyle/>
          <a:p>
            <a:pPr indent="0" marL="0">
              <a:buNone/>
            </a:pPr>
            <a:r>
              <a:rPr lang="en-US" sz="1150" dirty="0">
                <a:solidFill>
                  <a:srgbClr val="70757C"/>
                </a:solidFill>
                <a:latin typeface="Arial" pitchFamily="34" charset="0"/>
                <a:ea typeface="Arial" pitchFamily="34" charset="-122"/>
                <a:cs typeface="Arial" pitchFamily="34" charset="-120"/>
              </a:rPr>
              <a:t>지도교수</a:t>
            </a:r>
            <a:endParaRPr lang="en-US" sz="1150" dirty="0"/>
          </a:p>
        </p:txBody>
      </p:sp>
      <p:sp>
        <p:nvSpPr>
          <p:cNvPr id="12" name="Text 10"/>
          <p:cNvSpPr/>
          <p:nvPr/>
        </p:nvSpPr>
        <p:spPr>
          <a:xfrm>
            <a:off x="2304288" y="6814109"/>
            <a:ext cx="7132320" cy="307238"/>
          </a:xfrm>
          <a:prstGeom prst="rect">
            <a:avLst/>
          </a:prstGeom>
          <a:noFill/>
          <a:ln/>
        </p:spPr>
        <p:txBody>
          <a:bodyPr wrap="square" lIns="0" tIns="0" rIns="0" bIns="0" rtlCol="0" anchor="ctr"/>
          <a:lstStyle/>
          <a:p>
            <a:pPr indent="0" marL="0">
              <a:buNone/>
            </a:pPr>
            <a:r>
              <a:rPr lang="en-US" sz="1250" b="1" dirty="0">
                <a:solidFill>
                  <a:srgbClr val="1F2226"/>
                </a:solidFill>
                <a:latin typeface="Arial" pitchFamily="34" charset="0"/>
                <a:ea typeface="Arial" pitchFamily="34" charset="-122"/>
                <a:cs typeface="Arial" pitchFamily="34" charset="-120"/>
              </a:rPr>
              <a:t>윤지환 교수님</a:t>
            </a:r>
            <a:endParaRPr lang="en-US" sz="1250" dirty="0"/>
          </a:p>
        </p:txBody>
      </p:sp>
      <p:sp>
        <p:nvSpPr>
          <p:cNvPr id="13" name="Text 11"/>
          <p:cNvSpPr/>
          <p:nvPr/>
        </p:nvSpPr>
        <p:spPr>
          <a:xfrm>
            <a:off x="1009498" y="7154266"/>
            <a:ext cx="1261872" cy="307238"/>
          </a:xfrm>
          <a:prstGeom prst="rect">
            <a:avLst/>
          </a:prstGeom>
          <a:noFill/>
          <a:ln/>
        </p:spPr>
        <p:txBody>
          <a:bodyPr wrap="square" lIns="0" tIns="0" rIns="0" bIns="0" rtlCol="0" anchor="ctr"/>
          <a:lstStyle/>
          <a:p>
            <a:pPr indent="0" marL="0">
              <a:buNone/>
            </a:pPr>
            <a:r>
              <a:rPr lang="en-US" sz="1150" dirty="0">
                <a:solidFill>
                  <a:srgbClr val="70757C"/>
                </a:solidFill>
                <a:latin typeface="Arial" pitchFamily="34" charset="0"/>
                <a:ea typeface="Arial" pitchFamily="34" charset="-122"/>
                <a:cs typeface="Arial" pitchFamily="34" charset="-120"/>
              </a:rPr>
              <a:t>소속</a:t>
            </a:r>
            <a:endParaRPr lang="en-US" sz="1150" dirty="0"/>
          </a:p>
        </p:txBody>
      </p:sp>
      <p:sp>
        <p:nvSpPr>
          <p:cNvPr id="14" name="Text 12"/>
          <p:cNvSpPr/>
          <p:nvPr/>
        </p:nvSpPr>
        <p:spPr>
          <a:xfrm>
            <a:off x="2304288" y="7154266"/>
            <a:ext cx="7132320" cy="307238"/>
          </a:xfrm>
          <a:prstGeom prst="rect">
            <a:avLst/>
          </a:prstGeom>
          <a:noFill/>
          <a:ln/>
        </p:spPr>
        <p:txBody>
          <a:bodyPr wrap="square" lIns="0" tIns="0" rIns="0" bIns="0" rtlCol="0" anchor="ctr"/>
          <a:lstStyle/>
          <a:p>
            <a:pPr indent="0" marL="0">
              <a:buNone/>
            </a:pPr>
            <a:r>
              <a:rPr lang="en-US" sz="1250" dirty="0">
                <a:solidFill>
                  <a:srgbClr val="1F2226"/>
                </a:solidFill>
                <a:latin typeface="Arial" pitchFamily="34" charset="0"/>
                <a:ea typeface="Arial" pitchFamily="34" charset="-122"/>
                <a:cs typeface="Arial" pitchFamily="34" charset="-120"/>
              </a:rPr>
              <a:t>고려대학교 기술경영전문대학원 기술경영전공 석사과정</a:t>
            </a:r>
            <a:endParaRPr lang="en-US" sz="1250" dirty="0"/>
          </a:p>
        </p:txBody>
      </p:sp>
      <p:sp>
        <p:nvSpPr>
          <p:cNvPr id="15" name="Text 13"/>
          <p:cNvSpPr/>
          <p:nvPr/>
        </p:nvSpPr>
        <p:spPr>
          <a:xfrm>
            <a:off x="1009498" y="7494422"/>
            <a:ext cx="1261872" cy="307238"/>
          </a:xfrm>
          <a:prstGeom prst="rect">
            <a:avLst/>
          </a:prstGeom>
          <a:noFill/>
          <a:ln/>
        </p:spPr>
        <p:txBody>
          <a:bodyPr wrap="square" lIns="0" tIns="0" rIns="0" bIns="0" rtlCol="0" anchor="ctr"/>
          <a:lstStyle/>
          <a:p>
            <a:pPr indent="0" marL="0">
              <a:buNone/>
            </a:pPr>
            <a:r>
              <a:rPr lang="en-US" sz="1150" dirty="0">
                <a:solidFill>
                  <a:srgbClr val="70757C"/>
                </a:solidFill>
                <a:latin typeface="Arial" pitchFamily="34" charset="0"/>
                <a:ea typeface="Arial" pitchFamily="34" charset="-122"/>
                <a:cs typeface="Arial" pitchFamily="34" charset="-120"/>
              </a:rPr>
              <a:t>일자</a:t>
            </a:r>
            <a:endParaRPr lang="en-US" sz="1150" dirty="0"/>
          </a:p>
        </p:txBody>
      </p:sp>
      <p:sp>
        <p:nvSpPr>
          <p:cNvPr id="16" name="Text 14"/>
          <p:cNvSpPr/>
          <p:nvPr/>
        </p:nvSpPr>
        <p:spPr>
          <a:xfrm>
            <a:off x="2304288" y="7494422"/>
            <a:ext cx="7132320" cy="307238"/>
          </a:xfrm>
          <a:prstGeom prst="rect">
            <a:avLst/>
          </a:prstGeom>
          <a:noFill/>
          <a:ln/>
        </p:spPr>
        <p:txBody>
          <a:bodyPr wrap="square" lIns="0" tIns="0" rIns="0" bIns="0" rtlCol="0" anchor="ctr"/>
          <a:lstStyle/>
          <a:p>
            <a:pPr indent="0" marL="0">
              <a:buNone/>
            </a:pPr>
            <a:r>
              <a:rPr lang="en-US" sz="1250" dirty="0">
                <a:solidFill>
                  <a:srgbClr val="1F2226"/>
                </a:solidFill>
                <a:latin typeface="Arial" pitchFamily="34" charset="0"/>
                <a:ea typeface="Arial" pitchFamily="34" charset="-122"/>
                <a:cs typeface="Arial" pitchFamily="34" charset="-120"/>
              </a:rPr>
              <a:t>2026. 08. 26.</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39328" y="329184"/>
            <a:ext cx="4992624" cy="285293"/>
          </a:xfrm>
          <a:prstGeom prst="rect">
            <a:avLst/>
          </a:prstGeom>
          <a:noFill/>
          <a:ln/>
        </p:spPr>
        <p:txBody>
          <a:bodyPr wrap="square" lIns="0" tIns="0" rIns="0" bIns="0" rtlCol="0" anchor="ctr"/>
          <a:lstStyle/>
          <a:p>
            <a:pPr algn="r" indent="0" marL="0">
              <a:buNone/>
            </a:pPr>
            <a:r>
              <a:rPr lang="en-US" sz="1050" dirty="0">
                <a:solidFill>
                  <a:srgbClr val="70757C"/>
                </a:solidFill>
                <a:latin typeface="Arial" pitchFamily="34" charset="0"/>
                <a:ea typeface="Arial" pitchFamily="34" charset="-122"/>
                <a:cs typeface="Arial" pitchFamily="34" charset="-120"/>
              </a:rPr>
              <a:t>2026학년도 석사학위논문</a:t>
            </a:r>
            <a:endParaRPr lang="en-US" sz="1050" dirty="0"/>
          </a:p>
        </p:txBody>
      </p:sp>
      <p:sp>
        <p:nvSpPr>
          <p:cNvPr id="3" name="Text 1"/>
          <p:cNvSpPr/>
          <p:nvPr/>
        </p:nvSpPr>
        <p:spPr>
          <a:xfrm>
            <a:off x="8339328" y="603504"/>
            <a:ext cx="4992624" cy="307238"/>
          </a:xfrm>
          <a:prstGeom prst="rect">
            <a:avLst/>
          </a:prstGeom>
          <a:noFill/>
          <a:ln/>
        </p:spPr>
        <p:txBody>
          <a:bodyPr wrap="square" lIns="0" tIns="0" rIns="0" bIns="0" rtlCol="0" anchor="ctr"/>
          <a:lstStyle/>
          <a:p>
            <a:pPr algn="r" indent="0" marL="0">
              <a:buNone/>
            </a:pPr>
            <a:r>
              <a:rPr lang="en-US" sz="1200" b="1" dirty="0">
                <a:solidFill>
                  <a:srgbClr val="1F2226"/>
                </a:solidFill>
                <a:latin typeface="Arial" pitchFamily="34" charset="0"/>
                <a:ea typeface="Arial" pitchFamily="34" charset="-122"/>
                <a:cs typeface="Arial" pitchFamily="34" charset="-120"/>
              </a:rPr>
              <a:t>프로포절 심사</a:t>
            </a:r>
            <a:endParaRPr lang="en-US" sz="1200" dirty="0"/>
          </a:p>
        </p:txBody>
      </p:sp>
      <p:sp>
        <p:nvSpPr>
          <p:cNvPr id="4" name="Shape 2"/>
          <p:cNvSpPr/>
          <p:nvPr/>
        </p:nvSpPr>
        <p:spPr>
          <a:xfrm>
            <a:off x="680314" y="1009498"/>
            <a:ext cx="13277088" cy="0"/>
          </a:xfrm>
          <a:prstGeom prst="line">
            <a:avLst/>
          </a:prstGeom>
          <a:noFill/>
          <a:ln w="12700">
            <a:solidFill>
              <a:srgbClr val="C9CDD3"/>
            </a:solidFill>
            <a:prstDash val="solid"/>
          </a:ln>
        </p:spPr>
      </p:sp>
      <p:sp>
        <p:nvSpPr>
          <p:cNvPr id="5" name="Shape 3"/>
          <p:cNvSpPr/>
          <p:nvPr/>
        </p:nvSpPr>
        <p:spPr>
          <a:xfrm>
            <a:off x="8339328" y="1009498"/>
            <a:ext cx="5618074" cy="0"/>
          </a:xfrm>
          <a:prstGeom prst="line">
            <a:avLst/>
          </a:prstGeom>
          <a:noFill/>
          <a:ln w="25400">
            <a:solidFill>
              <a:srgbClr val="8C2A32"/>
            </a:solidFill>
            <a:prstDash val="solid"/>
          </a:ln>
        </p:spPr>
      </p:sp>
      <p:sp>
        <p:nvSpPr>
          <p:cNvPr id="6" name="Shape 4"/>
          <p:cNvSpPr/>
          <p:nvPr/>
        </p:nvSpPr>
        <p:spPr>
          <a:xfrm>
            <a:off x="680314" y="1207008"/>
            <a:ext cx="899770" cy="899770"/>
          </a:xfrm>
          <a:prstGeom prst="ellipse">
            <a:avLst/>
          </a:prstGeom>
          <a:solidFill>
            <a:srgbClr val="FFFFFF">
              <a:alpha val="0"/>
            </a:srgbClr>
          </a:solidFill>
          <a:ln w="63500">
            <a:solidFill>
              <a:srgbClr val="8C2A32"/>
            </a:solidFill>
            <a:prstDash val="solid"/>
          </a:ln>
        </p:spPr>
      </p:sp>
      <p:sp>
        <p:nvSpPr>
          <p:cNvPr id="7" name="Shape 5"/>
          <p:cNvSpPr/>
          <p:nvPr/>
        </p:nvSpPr>
        <p:spPr>
          <a:xfrm>
            <a:off x="1207008" y="1119226"/>
            <a:ext cx="680314" cy="1075334"/>
          </a:xfrm>
          <a:prstGeom prst="rect">
            <a:avLst/>
          </a:prstGeom>
          <a:solidFill>
            <a:srgbClr val="FFFFFF"/>
          </a:solidFill>
          <a:ln w="12700">
            <a:solidFill>
              <a:srgbClr val="FFFFFF"/>
            </a:solidFill>
            <a:prstDash val="solid"/>
          </a:ln>
        </p:spPr>
      </p:sp>
      <p:sp>
        <p:nvSpPr>
          <p:cNvPr id="8" name="Text 6"/>
          <p:cNvSpPr/>
          <p:nvPr/>
        </p:nvSpPr>
        <p:spPr>
          <a:xfrm>
            <a:off x="1119226" y="1207008"/>
            <a:ext cx="12508992" cy="899770"/>
          </a:xfrm>
          <a:prstGeom prst="rect">
            <a:avLst/>
          </a:prstGeom>
          <a:noFill/>
          <a:ln/>
        </p:spPr>
        <p:txBody>
          <a:bodyPr wrap="square" lIns="0" tIns="0" rIns="0" bIns="0" rtlCol="0" anchor="ctr"/>
          <a:lstStyle/>
          <a:p>
            <a:pPr indent="0" marL="0">
              <a:buNone/>
            </a:pPr>
            <a:r>
              <a:rPr lang="en-US" sz="2600" b="1" dirty="0">
                <a:solidFill>
                  <a:srgbClr val="1F2226"/>
                </a:solidFill>
                <a:latin typeface="Arial" pitchFamily="34" charset="0"/>
                <a:ea typeface="Arial" pitchFamily="34" charset="-122"/>
                <a:cs typeface="Arial" pitchFamily="34" charset="-120"/>
              </a:rPr>
              <a:t>목차</a:t>
            </a:r>
            <a:endParaRPr lang="en-US" sz="2600" dirty="0"/>
          </a:p>
        </p:txBody>
      </p:sp>
      <p:sp>
        <p:nvSpPr>
          <p:cNvPr id="9" name="Text 7"/>
          <p:cNvSpPr/>
          <p:nvPr/>
        </p:nvSpPr>
        <p:spPr>
          <a:xfrm>
            <a:off x="932688" y="2578608"/>
            <a:ext cx="932688" cy="482803"/>
          </a:xfrm>
          <a:prstGeom prst="rect">
            <a:avLst/>
          </a:prstGeom>
          <a:noFill/>
          <a:ln/>
        </p:spPr>
        <p:txBody>
          <a:bodyPr wrap="square" lIns="0" tIns="0" rIns="0" bIns="0" rtlCol="0" anchor="ctr"/>
          <a:lstStyle/>
          <a:p>
            <a:pPr indent="0" marL="0">
              <a:buNone/>
            </a:pPr>
            <a:r>
              <a:rPr lang="en-US" sz="2100" b="1" dirty="0">
                <a:solidFill>
                  <a:srgbClr val="C4C6C9"/>
                </a:solidFill>
                <a:latin typeface="Arial" pitchFamily="34" charset="0"/>
                <a:ea typeface="Arial" pitchFamily="34" charset="-122"/>
                <a:cs typeface="Arial" pitchFamily="34" charset="-120"/>
              </a:rPr>
              <a:t>01</a:t>
            </a:r>
            <a:endParaRPr lang="en-US" sz="2100" dirty="0"/>
          </a:p>
        </p:txBody>
      </p:sp>
      <p:sp>
        <p:nvSpPr>
          <p:cNvPr id="10" name="Text 8"/>
          <p:cNvSpPr/>
          <p:nvPr/>
        </p:nvSpPr>
        <p:spPr>
          <a:xfrm>
            <a:off x="1920240" y="2622499"/>
            <a:ext cx="5266944" cy="416966"/>
          </a:xfrm>
          <a:prstGeom prst="rect">
            <a:avLst/>
          </a:prstGeom>
          <a:noFill/>
          <a:ln/>
        </p:spPr>
        <p:txBody>
          <a:bodyPr wrap="square" lIns="0" tIns="0" rIns="0" bIns="0" rtlCol="0" anchor="ctr"/>
          <a:lstStyle/>
          <a:p>
            <a:pPr indent="0" marL="0">
              <a:buNone/>
            </a:pPr>
            <a:r>
              <a:rPr lang="en-US" sz="1700" b="1" dirty="0">
                <a:solidFill>
                  <a:srgbClr val="1F2226"/>
                </a:solidFill>
                <a:latin typeface="Arial" pitchFamily="34" charset="0"/>
                <a:ea typeface="Arial" pitchFamily="34" charset="-122"/>
                <a:cs typeface="Arial" pitchFamily="34" charset="-120"/>
              </a:rPr>
              <a:t>연구배경</a:t>
            </a:r>
            <a:endParaRPr lang="en-US" sz="1700" dirty="0"/>
          </a:p>
        </p:txBody>
      </p:sp>
      <p:sp>
        <p:nvSpPr>
          <p:cNvPr id="11" name="Shape 9"/>
          <p:cNvSpPr/>
          <p:nvPr/>
        </p:nvSpPr>
        <p:spPr>
          <a:xfrm>
            <a:off x="1920240" y="3127248"/>
            <a:ext cx="5047488" cy="0"/>
          </a:xfrm>
          <a:prstGeom prst="line">
            <a:avLst/>
          </a:prstGeom>
          <a:noFill/>
          <a:ln w="12700">
            <a:solidFill>
              <a:srgbClr val="C9CDD3"/>
            </a:solidFill>
            <a:prstDash val="solid"/>
          </a:ln>
        </p:spPr>
      </p:sp>
      <p:sp>
        <p:nvSpPr>
          <p:cNvPr id="12" name="Text 10"/>
          <p:cNvSpPr/>
          <p:nvPr/>
        </p:nvSpPr>
        <p:spPr>
          <a:xfrm>
            <a:off x="932688" y="3621024"/>
            <a:ext cx="932688" cy="482803"/>
          </a:xfrm>
          <a:prstGeom prst="rect">
            <a:avLst/>
          </a:prstGeom>
          <a:noFill/>
          <a:ln/>
        </p:spPr>
        <p:txBody>
          <a:bodyPr wrap="square" lIns="0" tIns="0" rIns="0" bIns="0" rtlCol="0" anchor="ctr"/>
          <a:lstStyle/>
          <a:p>
            <a:pPr indent="0" marL="0">
              <a:buNone/>
            </a:pPr>
            <a:r>
              <a:rPr lang="en-US" sz="2100" b="1" dirty="0">
                <a:solidFill>
                  <a:srgbClr val="C4C6C9"/>
                </a:solidFill>
                <a:latin typeface="Arial" pitchFamily="34" charset="0"/>
                <a:ea typeface="Arial" pitchFamily="34" charset="-122"/>
                <a:cs typeface="Arial" pitchFamily="34" charset="-120"/>
              </a:rPr>
              <a:t>02</a:t>
            </a:r>
            <a:endParaRPr lang="en-US" sz="2100" dirty="0"/>
          </a:p>
        </p:txBody>
      </p:sp>
      <p:sp>
        <p:nvSpPr>
          <p:cNvPr id="13" name="Text 11"/>
          <p:cNvSpPr/>
          <p:nvPr/>
        </p:nvSpPr>
        <p:spPr>
          <a:xfrm>
            <a:off x="1920240" y="3664915"/>
            <a:ext cx="5266944" cy="416966"/>
          </a:xfrm>
          <a:prstGeom prst="rect">
            <a:avLst/>
          </a:prstGeom>
          <a:noFill/>
          <a:ln/>
        </p:spPr>
        <p:txBody>
          <a:bodyPr wrap="square" lIns="0" tIns="0" rIns="0" bIns="0" rtlCol="0" anchor="ctr"/>
          <a:lstStyle/>
          <a:p>
            <a:pPr indent="0" marL="0">
              <a:buNone/>
            </a:pPr>
            <a:r>
              <a:rPr lang="en-US" sz="1700" b="1" dirty="0">
                <a:solidFill>
                  <a:srgbClr val="1F2226"/>
                </a:solidFill>
                <a:latin typeface="Arial" pitchFamily="34" charset="0"/>
                <a:ea typeface="Arial" pitchFamily="34" charset="-122"/>
                <a:cs typeface="Arial" pitchFamily="34" charset="-120"/>
              </a:rPr>
              <a:t>문제제기</a:t>
            </a:r>
            <a:endParaRPr lang="en-US" sz="1700" dirty="0"/>
          </a:p>
        </p:txBody>
      </p:sp>
      <p:sp>
        <p:nvSpPr>
          <p:cNvPr id="14" name="Shape 12"/>
          <p:cNvSpPr/>
          <p:nvPr/>
        </p:nvSpPr>
        <p:spPr>
          <a:xfrm>
            <a:off x="1920240" y="4169664"/>
            <a:ext cx="5047488" cy="0"/>
          </a:xfrm>
          <a:prstGeom prst="line">
            <a:avLst/>
          </a:prstGeom>
          <a:noFill/>
          <a:ln w="12700">
            <a:solidFill>
              <a:srgbClr val="C9CDD3"/>
            </a:solidFill>
            <a:prstDash val="solid"/>
          </a:ln>
        </p:spPr>
      </p:sp>
      <p:sp>
        <p:nvSpPr>
          <p:cNvPr id="15" name="Text 13"/>
          <p:cNvSpPr/>
          <p:nvPr/>
        </p:nvSpPr>
        <p:spPr>
          <a:xfrm>
            <a:off x="932688" y="4663440"/>
            <a:ext cx="932688" cy="482803"/>
          </a:xfrm>
          <a:prstGeom prst="rect">
            <a:avLst/>
          </a:prstGeom>
          <a:noFill/>
          <a:ln/>
        </p:spPr>
        <p:txBody>
          <a:bodyPr wrap="square" lIns="0" tIns="0" rIns="0" bIns="0" rtlCol="0" anchor="ctr"/>
          <a:lstStyle/>
          <a:p>
            <a:pPr indent="0" marL="0">
              <a:buNone/>
            </a:pPr>
            <a:r>
              <a:rPr lang="en-US" sz="2100" b="1" dirty="0">
                <a:solidFill>
                  <a:srgbClr val="C4C6C9"/>
                </a:solidFill>
                <a:latin typeface="Arial" pitchFamily="34" charset="0"/>
                <a:ea typeface="Arial" pitchFamily="34" charset="-122"/>
                <a:cs typeface="Arial" pitchFamily="34" charset="-120"/>
              </a:rPr>
              <a:t>03</a:t>
            </a:r>
            <a:endParaRPr lang="en-US" sz="2100" dirty="0"/>
          </a:p>
        </p:txBody>
      </p:sp>
      <p:sp>
        <p:nvSpPr>
          <p:cNvPr id="16" name="Text 14"/>
          <p:cNvSpPr/>
          <p:nvPr/>
        </p:nvSpPr>
        <p:spPr>
          <a:xfrm>
            <a:off x="1920240" y="4707331"/>
            <a:ext cx="5266944" cy="416966"/>
          </a:xfrm>
          <a:prstGeom prst="rect">
            <a:avLst/>
          </a:prstGeom>
          <a:noFill/>
          <a:ln/>
        </p:spPr>
        <p:txBody>
          <a:bodyPr wrap="square" lIns="0" tIns="0" rIns="0" bIns="0" rtlCol="0" anchor="ctr"/>
          <a:lstStyle/>
          <a:p>
            <a:pPr indent="0" marL="0">
              <a:buNone/>
            </a:pPr>
            <a:r>
              <a:rPr lang="en-US" sz="1700" b="1" dirty="0">
                <a:solidFill>
                  <a:srgbClr val="1F2226"/>
                </a:solidFill>
                <a:latin typeface="Arial" pitchFamily="34" charset="0"/>
                <a:ea typeface="Arial" pitchFamily="34" charset="-122"/>
                <a:cs typeface="Arial" pitchFamily="34" charset="-120"/>
              </a:rPr>
              <a:t>연구목적</a:t>
            </a:r>
            <a:endParaRPr lang="en-US" sz="1700" dirty="0"/>
          </a:p>
        </p:txBody>
      </p:sp>
      <p:sp>
        <p:nvSpPr>
          <p:cNvPr id="17" name="Shape 15"/>
          <p:cNvSpPr/>
          <p:nvPr/>
        </p:nvSpPr>
        <p:spPr>
          <a:xfrm>
            <a:off x="1920240" y="5212080"/>
            <a:ext cx="5047488" cy="0"/>
          </a:xfrm>
          <a:prstGeom prst="line">
            <a:avLst/>
          </a:prstGeom>
          <a:noFill/>
          <a:ln w="12700">
            <a:solidFill>
              <a:srgbClr val="C9CDD3"/>
            </a:solidFill>
            <a:prstDash val="solid"/>
          </a:ln>
        </p:spPr>
      </p:sp>
      <p:sp>
        <p:nvSpPr>
          <p:cNvPr id="18" name="Text 16"/>
          <p:cNvSpPr/>
          <p:nvPr/>
        </p:nvSpPr>
        <p:spPr>
          <a:xfrm>
            <a:off x="932688" y="5705856"/>
            <a:ext cx="932688" cy="482803"/>
          </a:xfrm>
          <a:prstGeom prst="rect">
            <a:avLst/>
          </a:prstGeom>
          <a:noFill/>
          <a:ln/>
        </p:spPr>
        <p:txBody>
          <a:bodyPr wrap="square" lIns="0" tIns="0" rIns="0" bIns="0" rtlCol="0" anchor="ctr"/>
          <a:lstStyle/>
          <a:p>
            <a:pPr indent="0" marL="0">
              <a:buNone/>
            </a:pPr>
            <a:r>
              <a:rPr lang="en-US" sz="2100" b="1" dirty="0">
                <a:solidFill>
                  <a:srgbClr val="C4C6C9"/>
                </a:solidFill>
                <a:latin typeface="Arial" pitchFamily="34" charset="0"/>
                <a:ea typeface="Arial" pitchFamily="34" charset="-122"/>
                <a:cs typeface="Arial" pitchFamily="34" charset="-120"/>
              </a:rPr>
              <a:t>04</a:t>
            </a:r>
            <a:endParaRPr lang="en-US" sz="2100" dirty="0"/>
          </a:p>
        </p:txBody>
      </p:sp>
      <p:sp>
        <p:nvSpPr>
          <p:cNvPr id="19" name="Text 17"/>
          <p:cNvSpPr/>
          <p:nvPr/>
        </p:nvSpPr>
        <p:spPr>
          <a:xfrm>
            <a:off x="1920240" y="5749747"/>
            <a:ext cx="5266944" cy="416966"/>
          </a:xfrm>
          <a:prstGeom prst="rect">
            <a:avLst/>
          </a:prstGeom>
          <a:noFill/>
          <a:ln/>
        </p:spPr>
        <p:txBody>
          <a:bodyPr wrap="square" lIns="0" tIns="0" rIns="0" bIns="0" rtlCol="0" anchor="ctr"/>
          <a:lstStyle/>
          <a:p>
            <a:pPr indent="0" marL="0">
              <a:buNone/>
            </a:pPr>
            <a:r>
              <a:rPr lang="en-US" sz="1700" b="1" dirty="0">
                <a:solidFill>
                  <a:srgbClr val="1F2226"/>
                </a:solidFill>
                <a:latin typeface="Arial" pitchFamily="34" charset="0"/>
                <a:ea typeface="Arial" pitchFamily="34" charset="-122"/>
                <a:cs typeface="Arial" pitchFamily="34" charset="-120"/>
              </a:rPr>
              <a:t>학술적 기여</a:t>
            </a:r>
            <a:endParaRPr lang="en-US" sz="1700" dirty="0"/>
          </a:p>
        </p:txBody>
      </p:sp>
      <p:sp>
        <p:nvSpPr>
          <p:cNvPr id="20" name="Shape 18"/>
          <p:cNvSpPr/>
          <p:nvPr/>
        </p:nvSpPr>
        <p:spPr>
          <a:xfrm>
            <a:off x="1920240" y="6254496"/>
            <a:ext cx="5047488" cy="0"/>
          </a:xfrm>
          <a:prstGeom prst="line">
            <a:avLst/>
          </a:prstGeom>
          <a:noFill/>
          <a:ln w="12700">
            <a:solidFill>
              <a:srgbClr val="C9CDD3"/>
            </a:solidFill>
            <a:prstDash val="solid"/>
          </a:ln>
        </p:spPr>
      </p:sp>
      <p:sp>
        <p:nvSpPr>
          <p:cNvPr id="21" name="Text 19"/>
          <p:cNvSpPr/>
          <p:nvPr/>
        </p:nvSpPr>
        <p:spPr>
          <a:xfrm>
            <a:off x="7735824" y="2578608"/>
            <a:ext cx="932688" cy="482803"/>
          </a:xfrm>
          <a:prstGeom prst="rect">
            <a:avLst/>
          </a:prstGeom>
          <a:noFill/>
          <a:ln/>
        </p:spPr>
        <p:txBody>
          <a:bodyPr wrap="square" lIns="0" tIns="0" rIns="0" bIns="0" rtlCol="0" anchor="ctr"/>
          <a:lstStyle/>
          <a:p>
            <a:pPr indent="0" marL="0">
              <a:buNone/>
            </a:pPr>
            <a:r>
              <a:rPr lang="en-US" sz="2100" b="1" dirty="0">
                <a:solidFill>
                  <a:srgbClr val="C4C6C9"/>
                </a:solidFill>
                <a:latin typeface="Arial" pitchFamily="34" charset="0"/>
                <a:ea typeface="Arial" pitchFamily="34" charset="-122"/>
                <a:cs typeface="Arial" pitchFamily="34" charset="-120"/>
              </a:rPr>
              <a:t>05</a:t>
            </a:r>
            <a:endParaRPr lang="en-US" sz="2100" dirty="0"/>
          </a:p>
        </p:txBody>
      </p:sp>
      <p:sp>
        <p:nvSpPr>
          <p:cNvPr id="22" name="Text 20"/>
          <p:cNvSpPr/>
          <p:nvPr/>
        </p:nvSpPr>
        <p:spPr>
          <a:xfrm>
            <a:off x="8723376" y="2622499"/>
            <a:ext cx="5266944" cy="416966"/>
          </a:xfrm>
          <a:prstGeom prst="rect">
            <a:avLst/>
          </a:prstGeom>
          <a:noFill/>
          <a:ln/>
        </p:spPr>
        <p:txBody>
          <a:bodyPr wrap="square" lIns="0" tIns="0" rIns="0" bIns="0" rtlCol="0" anchor="ctr"/>
          <a:lstStyle/>
          <a:p>
            <a:pPr indent="0" marL="0">
              <a:buNone/>
            </a:pPr>
            <a:r>
              <a:rPr lang="en-US" sz="1700" b="1" dirty="0">
                <a:solidFill>
                  <a:srgbClr val="1F2226"/>
                </a:solidFill>
                <a:latin typeface="Arial" pitchFamily="34" charset="0"/>
                <a:ea typeface="Arial" pitchFamily="34" charset="-122"/>
                <a:cs typeface="Arial" pitchFamily="34" charset="-120"/>
              </a:rPr>
              <a:t>연구모델과 가설</a:t>
            </a:r>
            <a:endParaRPr lang="en-US" sz="1700" dirty="0"/>
          </a:p>
        </p:txBody>
      </p:sp>
      <p:sp>
        <p:nvSpPr>
          <p:cNvPr id="23" name="Shape 21"/>
          <p:cNvSpPr/>
          <p:nvPr/>
        </p:nvSpPr>
        <p:spPr>
          <a:xfrm>
            <a:off x="8723376" y="3127248"/>
            <a:ext cx="5047488" cy="0"/>
          </a:xfrm>
          <a:prstGeom prst="line">
            <a:avLst/>
          </a:prstGeom>
          <a:noFill/>
          <a:ln w="12700">
            <a:solidFill>
              <a:srgbClr val="C9CDD3"/>
            </a:solidFill>
            <a:prstDash val="solid"/>
          </a:ln>
        </p:spPr>
      </p:sp>
      <p:sp>
        <p:nvSpPr>
          <p:cNvPr id="24" name="Text 22"/>
          <p:cNvSpPr/>
          <p:nvPr/>
        </p:nvSpPr>
        <p:spPr>
          <a:xfrm>
            <a:off x="7735824" y="3621024"/>
            <a:ext cx="932688" cy="482803"/>
          </a:xfrm>
          <a:prstGeom prst="rect">
            <a:avLst/>
          </a:prstGeom>
          <a:noFill/>
          <a:ln/>
        </p:spPr>
        <p:txBody>
          <a:bodyPr wrap="square" lIns="0" tIns="0" rIns="0" bIns="0" rtlCol="0" anchor="ctr"/>
          <a:lstStyle/>
          <a:p>
            <a:pPr indent="0" marL="0">
              <a:buNone/>
            </a:pPr>
            <a:r>
              <a:rPr lang="en-US" sz="2100" b="1" dirty="0">
                <a:solidFill>
                  <a:srgbClr val="C4C6C9"/>
                </a:solidFill>
                <a:latin typeface="Arial" pitchFamily="34" charset="0"/>
                <a:ea typeface="Arial" pitchFamily="34" charset="-122"/>
                <a:cs typeface="Arial" pitchFamily="34" charset="-120"/>
              </a:rPr>
              <a:t>06</a:t>
            </a:r>
            <a:endParaRPr lang="en-US" sz="2100" dirty="0"/>
          </a:p>
        </p:txBody>
      </p:sp>
      <p:sp>
        <p:nvSpPr>
          <p:cNvPr id="25" name="Text 23"/>
          <p:cNvSpPr/>
          <p:nvPr/>
        </p:nvSpPr>
        <p:spPr>
          <a:xfrm>
            <a:off x="8723376" y="3664915"/>
            <a:ext cx="5266944" cy="416966"/>
          </a:xfrm>
          <a:prstGeom prst="rect">
            <a:avLst/>
          </a:prstGeom>
          <a:noFill/>
          <a:ln/>
        </p:spPr>
        <p:txBody>
          <a:bodyPr wrap="square" lIns="0" tIns="0" rIns="0" bIns="0" rtlCol="0" anchor="ctr"/>
          <a:lstStyle/>
          <a:p>
            <a:pPr indent="0" marL="0">
              <a:buNone/>
            </a:pPr>
            <a:r>
              <a:rPr lang="en-US" sz="1700" b="1" dirty="0">
                <a:solidFill>
                  <a:srgbClr val="1F2226"/>
                </a:solidFill>
                <a:latin typeface="Arial" pitchFamily="34" charset="0"/>
                <a:ea typeface="Arial" pitchFamily="34" charset="-122"/>
                <a:cs typeface="Arial" pitchFamily="34" charset="-120"/>
              </a:rPr>
              <a:t>연구방법</a:t>
            </a:r>
            <a:endParaRPr lang="en-US" sz="1700" dirty="0"/>
          </a:p>
        </p:txBody>
      </p:sp>
      <p:sp>
        <p:nvSpPr>
          <p:cNvPr id="26" name="Shape 24"/>
          <p:cNvSpPr/>
          <p:nvPr/>
        </p:nvSpPr>
        <p:spPr>
          <a:xfrm>
            <a:off x="8723376" y="4169664"/>
            <a:ext cx="5047488" cy="0"/>
          </a:xfrm>
          <a:prstGeom prst="line">
            <a:avLst/>
          </a:prstGeom>
          <a:noFill/>
          <a:ln w="12700">
            <a:solidFill>
              <a:srgbClr val="C9CDD3"/>
            </a:solidFill>
            <a:prstDash val="solid"/>
          </a:ln>
        </p:spPr>
      </p:sp>
      <p:sp>
        <p:nvSpPr>
          <p:cNvPr id="27" name="Text 25"/>
          <p:cNvSpPr/>
          <p:nvPr/>
        </p:nvSpPr>
        <p:spPr>
          <a:xfrm>
            <a:off x="7735824" y="4663440"/>
            <a:ext cx="932688" cy="482803"/>
          </a:xfrm>
          <a:prstGeom prst="rect">
            <a:avLst/>
          </a:prstGeom>
          <a:noFill/>
          <a:ln/>
        </p:spPr>
        <p:txBody>
          <a:bodyPr wrap="square" lIns="0" tIns="0" rIns="0" bIns="0" rtlCol="0" anchor="ctr"/>
          <a:lstStyle/>
          <a:p>
            <a:pPr indent="0" marL="0">
              <a:buNone/>
            </a:pPr>
            <a:r>
              <a:rPr lang="en-US" sz="2100" b="1" dirty="0">
                <a:solidFill>
                  <a:srgbClr val="C4C6C9"/>
                </a:solidFill>
                <a:latin typeface="Arial" pitchFamily="34" charset="0"/>
                <a:ea typeface="Arial" pitchFamily="34" charset="-122"/>
                <a:cs typeface="Arial" pitchFamily="34" charset="-120"/>
              </a:rPr>
              <a:t>07</a:t>
            </a:r>
            <a:endParaRPr lang="en-US" sz="2100" dirty="0"/>
          </a:p>
        </p:txBody>
      </p:sp>
      <p:sp>
        <p:nvSpPr>
          <p:cNvPr id="28" name="Text 26"/>
          <p:cNvSpPr/>
          <p:nvPr/>
        </p:nvSpPr>
        <p:spPr>
          <a:xfrm>
            <a:off x="8723376" y="4707331"/>
            <a:ext cx="5266944" cy="416966"/>
          </a:xfrm>
          <a:prstGeom prst="rect">
            <a:avLst/>
          </a:prstGeom>
          <a:noFill/>
          <a:ln/>
        </p:spPr>
        <p:txBody>
          <a:bodyPr wrap="square" lIns="0" tIns="0" rIns="0" bIns="0" rtlCol="0" anchor="ctr"/>
          <a:lstStyle/>
          <a:p>
            <a:pPr indent="0" marL="0">
              <a:buNone/>
            </a:pPr>
            <a:r>
              <a:rPr lang="en-US" sz="1700" b="1" dirty="0">
                <a:solidFill>
                  <a:srgbClr val="1F2226"/>
                </a:solidFill>
                <a:latin typeface="Arial" pitchFamily="34" charset="0"/>
                <a:ea typeface="Arial" pitchFamily="34" charset="-122"/>
                <a:cs typeface="Arial" pitchFamily="34" charset="-120"/>
              </a:rPr>
              <a:t>향후 계획과 남은 논의</a:t>
            </a:r>
            <a:endParaRPr lang="en-US" sz="1700" dirty="0"/>
          </a:p>
        </p:txBody>
      </p:sp>
      <p:sp>
        <p:nvSpPr>
          <p:cNvPr id="29" name="Shape 27"/>
          <p:cNvSpPr/>
          <p:nvPr/>
        </p:nvSpPr>
        <p:spPr>
          <a:xfrm>
            <a:off x="8723376" y="5212080"/>
            <a:ext cx="5047488" cy="0"/>
          </a:xfrm>
          <a:prstGeom prst="line">
            <a:avLst/>
          </a:prstGeom>
          <a:noFill/>
          <a:ln w="12700">
            <a:solidFill>
              <a:srgbClr val="C9CDD3"/>
            </a:solidFill>
            <a:prstDash val="solid"/>
          </a:ln>
        </p:spPr>
      </p:sp>
      <p:sp>
        <p:nvSpPr>
          <p:cNvPr id="30" name="Text 28"/>
          <p:cNvSpPr/>
          <p:nvPr/>
        </p:nvSpPr>
        <p:spPr>
          <a:xfrm>
            <a:off x="7735824" y="5760720"/>
            <a:ext cx="5925312" cy="351130"/>
          </a:xfrm>
          <a:prstGeom prst="rect">
            <a:avLst/>
          </a:prstGeom>
          <a:noFill/>
          <a:ln/>
        </p:spPr>
        <p:txBody>
          <a:bodyPr wrap="square" lIns="0" tIns="0" rIns="0" bIns="0" rtlCol="0" anchor="ctr"/>
          <a:lstStyle/>
          <a:p>
            <a:pPr indent="0" marL="0">
              <a:buNone/>
            </a:pPr>
            <a:r>
              <a:rPr lang="en-US" sz="1250" dirty="0">
                <a:solidFill>
                  <a:srgbClr val="70757C"/>
                </a:solidFill>
                <a:latin typeface="Arial" pitchFamily="34" charset="0"/>
                <a:ea typeface="Arial" pitchFamily="34" charset="-122"/>
                <a:cs typeface="Arial" pitchFamily="34" charset="-120"/>
              </a:rPr>
              <a:t>Appendix   이론적 배경 · 측정과 점검 · 분석 절차 · 한계 · 시나리오 조작 · 측정 문항 · 이론 층 선택의 근거</a:t>
            </a:r>
            <a:endParaRPr lang="en-US" sz="1250" dirty="0"/>
          </a:p>
        </p:txBody>
      </p:sp>
      <p:sp>
        <p:nvSpPr>
          <p:cNvPr id="31" name="Text 29"/>
          <p:cNvSpPr/>
          <p:nvPr/>
        </p:nvSpPr>
        <p:spPr>
          <a:xfrm>
            <a:off x="12508992" y="7626096"/>
            <a:ext cx="1448410" cy="307238"/>
          </a:xfrm>
          <a:prstGeom prst="rect">
            <a:avLst/>
          </a:prstGeom>
          <a:noFill/>
          <a:ln/>
        </p:spPr>
        <p:txBody>
          <a:bodyPr wrap="square" lIns="0" tIns="0" rIns="0" bIns="0" rtlCol="0" anchor="ctr"/>
          <a:lstStyle/>
          <a:p>
            <a:pPr algn="r" indent="0" marL="0">
              <a:buNone/>
            </a:pP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339328" y="329184"/>
            <a:ext cx="4992624" cy="285293"/>
          </a:xfrm>
          <a:prstGeom prst="rect">
            <a:avLst/>
          </a:prstGeom>
          <a:noFill/>
          <a:ln/>
        </p:spPr>
        <p:txBody>
          <a:bodyPr wrap="square" lIns="0" tIns="0" rIns="0" bIns="0" rtlCol="0" anchor="ctr"/>
          <a:lstStyle/>
          <a:p>
            <a:pPr algn="r" indent="0" marL="0">
              <a:buNone/>
            </a:pPr>
            <a:r>
              <a:rPr lang="en-US" sz="1050" dirty="0">
                <a:solidFill>
                  <a:srgbClr val="70757C"/>
                </a:solidFill>
                <a:latin typeface="Arial" pitchFamily="34" charset="0"/>
                <a:ea typeface="Arial" pitchFamily="34" charset="-122"/>
                <a:cs typeface="Arial" pitchFamily="34" charset="-120"/>
              </a:rPr>
              <a:t>2026학년도 석사학위논문</a:t>
            </a:r>
            <a:endParaRPr lang="en-US" sz="1050" dirty="0"/>
          </a:p>
        </p:txBody>
      </p:sp>
      <p:sp>
        <p:nvSpPr>
          <p:cNvPr id="3" name="Text 1"/>
          <p:cNvSpPr/>
          <p:nvPr/>
        </p:nvSpPr>
        <p:spPr>
          <a:xfrm>
            <a:off x="8339328" y="603504"/>
            <a:ext cx="4992624" cy="307238"/>
          </a:xfrm>
          <a:prstGeom prst="rect">
            <a:avLst/>
          </a:prstGeom>
          <a:noFill/>
          <a:ln/>
        </p:spPr>
        <p:txBody>
          <a:bodyPr wrap="square" lIns="0" tIns="0" rIns="0" bIns="0" rtlCol="0" anchor="ctr"/>
          <a:lstStyle/>
          <a:p>
            <a:pPr algn="r" indent="0" marL="0">
              <a:buNone/>
            </a:pPr>
            <a:r>
              <a:rPr lang="en-US" sz="1200" b="1" dirty="0">
                <a:solidFill>
                  <a:srgbClr val="1F2226"/>
                </a:solidFill>
                <a:latin typeface="Arial" pitchFamily="34" charset="0"/>
                <a:ea typeface="Arial" pitchFamily="34" charset="-122"/>
                <a:cs typeface="Arial" pitchFamily="34" charset="-120"/>
              </a:rPr>
              <a:t>프로포절 심사</a:t>
            </a:r>
            <a:endParaRPr lang="en-US" sz="1200" dirty="0"/>
          </a:p>
        </p:txBody>
      </p:sp>
      <p:sp>
        <p:nvSpPr>
          <p:cNvPr id="4" name="Shape 2"/>
          <p:cNvSpPr/>
          <p:nvPr/>
        </p:nvSpPr>
        <p:spPr>
          <a:xfrm>
            <a:off x="680314" y="1009498"/>
            <a:ext cx="13277088" cy="0"/>
          </a:xfrm>
          <a:prstGeom prst="line">
            <a:avLst/>
          </a:prstGeom>
          <a:noFill/>
          <a:ln w="12700">
            <a:solidFill>
              <a:srgbClr val="C9CDD3"/>
            </a:solidFill>
            <a:prstDash val="solid"/>
          </a:ln>
        </p:spPr>
      </p:sp>
      <p:sp>
        <p:nvSpPr>
          <p:cNvPr id="5" name="Shape 3"/>
          <p:cNvSpPr/>
          <p:nvPr/>
        </p:nvSpPr>
        <p:spPr>
          <a:xfrm>
            <a:off x="8339328" y="1009498"/>
            <a:ext cx="5618074" cy="0"/>
          </a:xfrm>
          <a:prstGeom prst="line">
            <a:avLst/>
          </a:prstGeom>
          <a:noFill/>
          <a:ln w="25400">
            <a:solidFill>
              <a:srgbClr val="8C2A32"/>
            </a:solidFill>
            <a:prstDash val="solid"/>
          </a:ln>
        </p:spPr>
      </p:sp>
      <p:sp>
        <p:nvSpPr>
          <p:cNvPr id="6" name="Shape 4"/>
          <p:cNvSpPr/>
          <p:nvPr/>
        </p:nvSpPr>
        <p:spPr>
          <a:xfrm>
            <a:off x="680314" y="1207008"/>
            <a:ext cx="899770" cy="899770"/>
          </a:xfrm>
          <a:prstGeom prst="ellipse">
            <a:avLst/>
          </a:prstGeom>
          <a:solidFill>
            <a:srgbClr val="FFFFFF">
              <a:alpha val="0"/>
            </a:srgbClr>
          </a:solidFill>
          <a:ln w="63500">
            <a:solidFill>
              <a:srgbClr val="8C2A32"/>
            </a:solidFill>
            <a:prstDash val="solid"/>
          </a:ln>
        </p:spPr>
      </p:sp>
      <p:sp>
        <p:nvSpPr>
          <p:cNvPr id="7" name="Shape 5"/>
          <p:cNvSpPr/>
          <p:nvPr/>
        </p:nvSpPr>
        <p:spPr>
          <a:xfrm>
            <a:off x="1207008" y="1119226"/>
            <a:ext cx="680314" cy="1075334"/>
          </a:xfrm>
          <a:prstGeom prst="rect">
            <a:avLst/>
          </a:prstGeom>
          <a:solidFill>
            <a:srgbClr val="FFFFFF"/>
          </a:solidFill>
          <a:ln w="12700">
            <a:solidFill>
              <a:srgbClr val="FFFFFF"/>
            </a:solidFill>
            <a:prstDash val="solid"/>
          </a:ln>
        </p:spPr>
      </p:sp>
      <p:sp>
        <p:nvSpPr>
          <p:cNvPr id="8" name="Text 6"/>
          <p:cNvSpPr/>
          <p:nvPr/>
        </p:nvSpPr>
        <p:spPr>
          <a:xfrm>
            <a:off x="1119226" y="1207008"/>
            <a:ext cx="12508992" cy="899770"/>
          </a:xfrm>
          <a:prstGeom prst="rect">
            <a:avLst/>
          </a:prstGeom>
          <a:noFill/>
          <a:ln/>
        </p:spPr>
        <p:txBody>
          <a:bodyPr wrap="square" lIns="0" tIns="0" rIns="0" bIns="0" rtlCol="0" anchor="ctr"/>
          <a:lstStyle/>
          <a:p>
            <a:pPr indent="0" marL="0">
              <a:buNone/>
            </a:pPr>
            <a:r>
              <a:rPr lang="en-US" sz="2600" b="1" dirty="0">
                <a:solidFill>
                  <a:srgbClr val="1F2226"/>
                </a:solidFill>
                <a:latin typeface="Arial" pitchFamily="34" charset="0"/>
                <a:ea typeface="Arial" pitchFamily="34" charset="-122"/>
                <a:cs typeface="Arial" pitchFamily="34" charset="-120"/>
              </a:rPr>
              <a:t>01.  연구 배경</a:t>
            </a:r>
            <a:endParaRPr lang="en-US" sz="2600" dirty="0"/>
          </a:p>
        </p:txBody>
      </p:sp>
      <p:sp>
        <p:nvSpPr>
          <p:cNvPr id="9" name="Text 7"/>
          <p:cNvSpPr/>
          <p:nvPr/>
        </p:nvSpPr>
        <p:spPr>
          <a:xfrm>
            <a:off x="822960" y="2392070"/>
            <a:ext cx="329184" cy="329184"/>
          </a:xfrm>
          <a:prstGeom prst="rect">
            <a:avLst/>
          </a:prstGeom>
          <a:noFill/>
          <a:ln/>
        </p:spPr>
        <p:txBody>
          <a:bodyPr wrap="square" lIns="0" tIns="0" rIns="0" bIns="0" rtlCol="0" anchor="ctr"/>
          <a:lstStyle/>
          <a:p>
            <a:pPr indent="0" marL="0">
              <a:buNone/>
            </a:pPr>
            <a:r>
              <a:rPr lang="en-US" sz="1100" dirty="0">
                <a:solidFill>
                  <a:srgbClr val="70757C"/>
                </a:solidFill>
                <a:latin typeface="Arial" pitchFamily="34" charset="0"/>
                <a:ea typeface="Arial" pitchFamily="34" charset="-122"/>
                <a:cs typeface="Arial" pitchFamily="34" charset="-120"/>
              </a:rPr>
              <a:t>◆</a:t>
            </a:r>
            <a:endParaRPr lang="en-US" sz="1100" dirty="0"/>
          </a:p>
        </p:txBody>
      </p:sp>
      <p:sp>
        <p:nvSpPr>
          <p:cNvPr id="10" name="Text 8"/>
          <p:cNvSpPr/>
          <p:nvPr/>
        </p:nvSpPr>
        <p:spPr>
          <a:xfrm>
            <a:off x="1207008" y="2370125"/>
            <a:ext cx="10314432" cy="373075"/>
          </a:xfrm>
          <a:prstGeom prst="rect">
            <a:avLst/>
          </a:prstGeom>
          <a:noFill/>
          <a:ln/>
        </p:spPr>
        <p:txBody>
          <a:bodyPr wrap="square" lIns="0" tIns="0" rIns="0" bIns="0" rtlCol="0" anchor="ctr"/>
          <a:lstStyle/>
          <a:p>
            <a:pPr indent="0" marL="0">
              <a:buNone/>
            </a:pPr>
            <a:r>
              <a:rPr lang="en-US" sz="1450" dirty="0">
                <a:solidFill>
                  <a:srgbClr val="1F2226"/>
                </a:solidFill>
                <a:latin typeface="Arial" pitchFamily="34" charset="0"/>
                <a:ea typeface="Arial" pitchFamily="34" charset="-122"/>
                <a:cs typeface="Arial" pitchFamily="34" charset="-120"/>
              </a:rPr>
              <a:t>생성형 AI가 지식노동의 수행 방식을 바꾸고 있다</a:t>
            </a:r>
            <a:endParaRPr lang="en-US" sz="1450" dirty="0"/>
          </a:p>
        </p:txBody>
      </p:sp>
      <p:sp>
        <p:nvSpPr>
          <p:cNvPr id="11" name="Text 9"/>
          <p:cNvSpPr/>
          <p:nvPr/>
        </p:nvSpPr>
        <p:spPr>
          <a:xfrm>
            <a:off x="1207008" y="2743200"/>
            <a:ext cx="10314432" cy="307238"/>
          </a:xfrm>
          <a:prstGeom prst="rect">
            <a:avLst/>
          </a:prstGeom>
          <a:noFill/>
          <a:ln/>
        </p:spPr>
        <p:txBody>
          <a:bodyPr wrap="square" lIns="0" tIns="0" rIns="0" bIns="0" rtlCol="0" anchor="ctr"/>
          <a:lstStyle/>
          <a:p>
            <a:pPr indent="0" marL="0">
              <a:buNone/>
            </a:pPr>
            <a:r>
              <a:rPr lang="en-US" sz="1050" dirty="0">
                <a:solidFill>
                  <a:srgbClr val="70757C"/>
                </a:solidFill>
                <a:latin typeface="Arial" pitchFamily="34" charset="0"/>
                <a:ea typeface="Arial" pitchFamily="34" charset="-122"/>
                <a:cs typeface="Arial" pitchFamily="34" charset="-120"/>
              </a:rPr>
              <a:t>(Brynjolfsson et al., 2025; Dell'Acqua et al., 2023)</a:t>
            </a:r>
            <a:endParaRPr lang="en-US" sz="1050" dirty="0"/>
          </a:p>
        </p:txBody>
      </p:sp>
      <p:sp>
        <p:nvSpPr>
          <p:cNvPr id="12" name="Text 10"/>
          <p:cNvSpPr/>
          <p:nvPr/>
        </p:nvSpPr>
        <p:spPr>
          <a:xfrm>
            <a:off x="1152144" y="3269894"/>
            <a:ext cx="329184" cy="329184"/>
          </a:xfrm>
          <a:prstGeom prst="rect">
            <a:avLst/>
          </a:prstGeom>
          <a:noFill/>
          <a:ln/>
        </p:spPr>
        <p:txBody>
          <a:bodyPr wrap="square" lIns="0" tIns="0" rIns="0" bIns="0" rtlCol="0" anchor="ctr"/>
          <a:lstStyle/>
          <a:p>
            <a:pPr indent="0" marL="0">
              <a:buNone/>
            </a:pPr>
            <a:r>
              <a:rPr lang="en-US" sz="1100" dirty="0">
                <a:solidFill>
                  <a:srgbClr val="70757C"/>
                </a:solidFill>
                <a:latin typeface="Arial" pitchFamily="34" charset="0"/>
                <a:ea typeface="Arial" pitchFamily="34" charset="-122"/>
                <a:cs typeface="Arial" pitchFamily="34" charset="-120"/>
              </a:rPr>
              <a:t>◆</a:t>
            </a:r>
            <a:endParaRPr lang="en-US" sz="1100" dirty="0"/>
          </a:p>
        </p:txBody>
      </p:sp>
      <p:sp>
        <p:nvSpPr>
          <p:cNvPr id="13" name="Text 11"/>
          <p:cNvSpPr/>
          <p:nvPr/>
        </p:nvSpPr>
        <p:spPr>
          <a:xfrm>
            <a:off x="1536192" y="3247949"/>
            <a:ext cx="9985248" cy="373075"/>
          </a:xfrm>
          <a:prstGeom prst="rect">
            <a:avLst/>
          </a:prstGeom>
          <a:noFill/>
          <a:ln/>
        </p:spPr>
        <p:txBody>
          <a:bodyPr wrap="square" lIns="0" tIns="0" rIns="0" bIns="0" rtlCol="0" anchor="ctr"/>
          <a:lstStyle/>
          <a:p>
            <a:pPr indent="0" marL="0">
              <a:buNone/>
            </a:pPr>
            <a:r>
              <a:rPr lang="en-US" sz="1450" dirty="0">
                <a:solidFill>
                  <a:srgbClr val="1F2226"/>
                </a:solidFill>
                <a:latin typeface="Arial" pitchFamily="34" charset="0"/>
                <a:ea typeface="Arial" pitchFamily="34" charset="-122"/>
                <a:cs typeface="Arial" pitchFamily="34" charset="-120"/>
              </a:rPr>
              <a:t>인간과 AI의 산출물은 사후에 분해되지 않는다 — sociomateriality(사회물질성) · imbrication(맞물림)</a:t>
            </a:r>
            <a:endParaRPr lang="en-US" sz="1450" dirty="0"/>
          </a:p>
        </p:txBody>
      </p:sp>
      <p:sp>
        <p:nvSpPr>
          <p:cNvPr id="14" name="Text 12"/>
          <p:cNvSpPr/>
          <p:nvPr/>
        </p:nvSpPr>
        <p:spPr>
          <a:xfrm>
            <a:off x="1536192" y="3621024"/>
            <a:ext cx="9985248" cy="307238"/>
          </a:xfrm>
          <a:prstGeom prst="rect">
            <a:avLst/>
          </a:prstGeom>
          <a:noFill/>
          <a:ln/>
        </p:spPr>
        <p:txBody>
          <a:bodyPr wrap="square" lIns="0" tIns="0" rIns="0" bIns="0" rtlCol="0" anchor="ctr"/>
          <a:lstStyle/>
          <a:p>
            <a:pPr indent="0" marL="0">
              <a:buNone/>
            </a:pPr>
            <a:r>
              <a:rPr lang="en-US" sz="1050" dirty="0">
                <a:solidFill>
                  <a:srgbClr val="70757C"/>
                </a:solidFill>
                <a:latin typeface="Arial" pitchFamily="34" charset="0"/>
                <a:ea typeface="Arial" pitchFamily="34" charset="-122"/>
                <a:cs typeface="Arial" pitchFamily="34" charset="-120"/>
              </a:rPr>
              <a:t>(Orlikowski, 2007; Leonardi, 2011)</a:t>
            </a:r>
            <a:endParaRPr lang="en-US" sz="1050" dirty="0"/>
          </a:p>
        </p:txBody>
      </p:sp>
      <p:sp>
        <p:nvSpPr>
          <p:cNvPr id="15" name="Text 13"/>
          <p:cNvSpPr/>
          <p:nvPr/>
        </p:nvSpPr>
        <p:spPr>
          <a:xfrm>
            <a:off x="1481328" y="4147718"/>
            <a:ext cx="329184" cy="329184"/>
          </a:xfrm>
          <a:prstGeom prst="rect">
            <a:avLst/>
          </a:prstGeom>
          <a:noFill/>
          <a:ln/>
        </p:spPr>
        <p:txBody>
          <a:bodyPr wrap="square" lIns="0" tIns="0" rIns="0" bIns="0" rtlCol="0" anchor="ctr"/>
          <a:lstStyle/>
          <a:p>
            <a:pPr indent="0" marL="0">
              <a:buNone/>
            </a:pPr>
            <a:r>
              <a:rPr lang="en-US" sz="1100" dirty="0">
                <a:solidFill>
                  <a:srgbClr val="70757C"/>
                </a:solidFill>
                <a:latin typeface="Arial" pitchFamily="34" charset="0"/>
                <a:ea typeface="Arial" pitchFamily="34" charset="-122"/>
                <a:cs typeface="Arial" pitchFamily="34" charset="-120"/>
              </a:rPr>
              <a:t>◆</a:t>
            </a:r>
            <a:endParaRPr lang="en-US" sz="1100" dirty="0"/>
          </a:p>
        </p:txBody>
      </p:sp>
      <p:sp>
        <p:nvSpPr>
          <p:cNvPr id="16" name="Text 14"/>
          <p:cNvSpPr/>
          <p:nvPr/>
        </p:nvSpPr>
        <p:spPr>
          <a:xfrm>
            <a:off x="1865376" y="4125773"/>
            <a:ext cx="9656064" cy="373075"/>
          </a:xfrm>
          <a:prstGeom prst="rect">
            <a:avLst/>
          </a:prstGeom>
          <a:noFill/>
          <a:ln/>
        </p:spPr>
        <p:txBody>
          <a:bodyPr wrap="square" lIns="0" tIns="0" rIns="0" bIns="0" rtlCol="0" anchor="ctr"/>
          <a:lstStyle/>
          <a:p>
            <a:pPr indent="0" marL="0">
              <a:buNone/>
            </a:pPr>
            <a:r>
              <a:rPr lang="en-US" sz="1450" dirty="0">
                <a:solidFill>
                  <a:srgbClr val="1F2226"/>
                </a:solidFill>
                <a:latin typeface="Arial" pitchFamily="34" charset="0"/>
                <a:ea typeface="Arial" pitchFamily="34" charset="-122"/>
                <a:cs typeface="Arial" pitchFamily="34" charset="-120"/>
              </a:rPr>
              <a:t>그 결과 「누구의 기여인가」라는 attribution(귀속) 판단이 어려워진다</a:t>
            </a:r>
            <a:endParaRPr lang="en-US" sz="1450" dirty="0"/>
          </a:p>
        </p:txBody>
      </p:sp>
      <p:sp>
        <p:nvSpPr>
          <p:cNvPr id="17" name="Text 15"/>
          <p:cNvSpPr/>
          <p:nvPr/>
        </p:nvSpPr>
        <p:spPr>
          <a:xfrm>
            <a:off x="1865376" y="4498848"/>
            <a:ext cx="9656064" cy="307238"/>
          </a:xfrm>
          <a:prstGeom prst="rect">
            <a:avLst/>
          </a:prstGeom>
          <a:noFill/>
          <a:ln/>
        </p:spPr>
        <p:txBody>
          <a:bodyPr wrap="square" lIns="0" tIns="0" rIns="0" bIns="0" rtlCol="0" anchor="ctr"/>
          <a:lstStyle/>
          <a:p>
            <a:pPr indent="0" marL="0">
              <a:buNone/>
            </a:pPr>
            <a:r>
              <a:rPr lang="en-US" sz="1050" dirty="0">
                <a:solidFill>
                  <a:srgbClr val="70757C"/>
                </a:solidFill>
                <a:latin typeface="Arial" pitchFamily="34" charset="0"/>
                <a:ea typeface="Arial" pitchFamily="34" charset="-122"/>
                <a:cs typeface="Arial" pitchFamily="34" charset="-120"/>
              </a:rPr>
              <a:t>(He et al., 2025 — Human-AI Co-Creation)</a:t>
            </a:r>
            <a:endParaRPr lang="en-US" sz="1050" dirty="0"/>
          </a:p>
        </p:txBody>
      </p:sp>
      <p:sp>
        <p:nvSpPr>
          <p:cNvPr id="18" name="Text 16"/>
          <p:cNvSpPr/>
          <p:nvPr/>
        </p:nvSpPr>
        <p:spPr>
          <a:xfrm>
            <a:off x="1810512" y="5025542"/>
            <a:ext cx="329184" cy="329184"/>
          </a:xfrm>
          <a:prstGeom prst="rect">
            <a:avLst/>
          </a:prstGeom>
          <a:noFill/>
          <a:ln/>
        </p:spPr>
        <p:txBody>
          <a:bodyPr wrap="square" lIns="0" tIns="0" rIns="0" bIns="0" rtlCol="0" anchor="ctr"/>
          <a:lstStyle/>
          <a:p>
            <a:pPr indent="0" marL="0">
              <a:buNone/>
            </a:pPr>
            <a:r>
              <a:rPr lang="en-US" sz="1100" dirty="0">
                <a:solidFill>
                  <a:srgbClr val="70757C"/>
                </a:solidFill>
                <a:latin typeface="Arial" pitchFamily="34" charset="0"/>
                <a:ea typeface="Arial" pitchFamily="34" charset="-122"/>
                <a:cs typeface="Arial" pitchFamily="34" charset="-120"/>
              </a:rPr>
              <a:t>◆</a:t>
            </a:r>
            <a:endParaRPr lang="en-US" sz="1100" dirty="0"/>
          </a:p>
        </p:txBody>
      </p:sp>
      <p:sp>
        <p:nvSpPr>
          <p:cNvPr id="19" name="Text 17"/>
          <p:cNvSpPr/>
          <p:nvPr/>
        </p:nvSpPr>
        <p:spPr>
          <a:xfrm>
            <a:off x="2194560" y="5003597"/>
            <a:ext cx="9326880" cy="373075"/>
          </a:xfrm>
          <a:prstGeom prst="rect">
            <a:avLst/>
          </a:prstGeom>
          <a:noFill/>
          <a:ln/>
        </p:spPr>
        <p:txBody>
          <a:bodyPr wrap="square" lIns="0" tIns="0" rIns="0" bIns="0" rtlCol="0" anchor="ctr"/>
          <a:lstStyle/>
          <a:p>
            <a:pPr indent="0" marL="0">
              <a:buNone/>
            </a:pPr>
            <a:r>
              <a:rPr lang="en-US" sz="1450" dirty="0">
                <a:solidFill>
                  <a:srgbClr val="1F2226"/>
                </a:solidFill>
                <a:latin typeface="Arial" pitchFamily="34" charset="0"/>
                <a:ea typeface="Arial" pitchFamily="34" charset="-122"/>
                <a:cs typeface="Arial" pitchFamily="34" charset="-120"/>
              </a:rPr>
              <a:t>성과평가는 개인 기여의 식별을 전제로 작동한다</a:t>
            </a:r>
            <a:endParaRPr lang="en-US" sz="1450" dirty="0"/>
          </a:p>
        </p:txBody>
      </p:sp>
      <p:sp>
        <p:nvSpPr>
          <p:cNvPr id="20" name="Text 18"/>
          <p:cNvSpPr/>
          <p:nvPr/>
        </p:nvSpPr>
        <p:spPr>
          <a:xfrm>
            <a:off x="2194560" y="5376672"/>
            <a:ext cx="9326880" cy="307238"/>
          </a:xfrm>
          <a:prstGeom prst="rect">
            <a:avLst/>
          </a:prstGeom>
          <a:noFill/>
          <a:ln/>
        </p:spPr>
        <p:txBody>
          <a:bodyPr wrap="square" lIns="0" tIns="0" rIns="0" bIns="0" rtlCol="0" anchor="ctr"/>
          <a:lstStyle/>
          <a:p>
            <a:pPr indent="0" marL="0">
              <a:buNone/>
            </a:pPr>
            <a:r>
              <a:rPr lang="en-US" sz="1050" dirty="0">
                <a:solidFill>
                  <a:srgbClr val="70757C"/>
                </a:solidFill>
                <a:latin typeface="Arial" pitchFamily="34" charset="0"/>
                <a:ea typeface="Arial" pitchFamily="34" charset="-122"/>
                <a:cs typeface="Arial" pitchFamily="34" charset="-120"/>
              </a:rPr>
              <a:t>(Niehoff &amp; Moorman, 1993)</a:t>
            </a:r>
            <a:endParaRPr lang="en-US" sz="1050" dirty="0"/>
          </a:p>
        </p:txBody>
      </p:sp>
      <p:sp>
        <p:nvSpPr>
          <p:cNvPr id="21" name="Text 19"/>
          <p:cNvSpPr/>
          <p:nvPr/>
        </p:nvSpPr>
        <p:spPr>
          <a:xfrm>
            <a:off x="2139696" y="5903366"/>
            <a:ext cx="329184" cy="329184"/>
          </a:xfrm>
          <a:prstGeom prst="rect">
            <a:avLst/>
          </a:prstGeom>
          <a:noFill/>
          <a:ln/>
        </p:spPr>
        <p:txBody>
          <a:bodyPr wrap="square" lIns="0" tIns="0" rIns="0" bIns="0" rtlCol="0" anchor="ctr"/>
          <a:lstStyle/>
          <a:p>
            <a:pPr indent="0" marL="0">
              <a:buNone/>
            </a:pPr>
            <a:r>
              <a:rPr lang="en-US" sz="1100" dirty="0">
                <a:solidFill>
                  <a:srgbClr val="70757C"/>
                </a:solidFill>
                <a:latin typeface="Arial" pitchFamily="34" charset="0"/>
                <a:ea typeface="Arial" pitchFamily="34" charset="-122"/>
                <a:cs typeface="Arial" pitchFamily="34" charset="-120"/>
              </a:rPr>
              <a:t>◆</a:t>
            </a:r>
            <a:endParaRPr lang="en-US" sz="1100" dirty="0"/>
          </a:p>
        </p:txBody>
      </p:sp>
      <p:sp>
        <p:nvSpPr>
          <p:cNvPr id="22" name="Text 20"/>
          <p:cNvSpPr/>
          <p:nvPr/>
        </p:nvSpPr>
        <p:spPr>
          <a:xfrm>
            <a:off x="2523744" y="5881421"/>
            <a:ext cx="8997696" cy="373075"/>
          </a:xfrm>
          <a:prstGeom prst="rect">
            <a:avLst/>
          </a:prstGeom>
          <a:noFill/>
          <a:ln/>
        </p:spPr>
        <p:txBody>
          <a:bodyPr wrap="square" lIns="0" tIns="0" rIns="0" bIns="0" rtlCol="0" anchor="ctr"/>
          <a:lstStyle/>
          <a:p>
            <a:pPr indent="0" marL="0">
              <a:buNone/>
            </a:pPr>
            <a:r>
              <a:rPr lang="en-US" sz="1450" dirty="0">
                <a:solidFill>
                  <a:srgbClr val="1F2226"/>
                </a:solidFill>
                <a:latin typeface="Arial" pitchFamily="34" charset="0"/>
                <a:ea typeface="Arial" pitchFamily="34" charset="-122"/>
                <a:cs typeface="Arial" pitchFamily="34" charset="-120"/>
              </a:rPr>
              <a:t>절차공정성은 consistency(일관성) · accuracy(정확성) 규칙의 충족으로 판단된다</a:t>
            </a:r>
            <a:endParaRPr lang="en-US" sz="1450" dirty="0"/>
          </a:p>
        </p:txBody>
      </p:sp>
      <p:sp>
        <p:nvSpPr>
          <p:cNvPr id="23" name="Text 21"/>
          <p:cNvSpPr/>
          <p:nvPr/>
        </p:nvSpPr>
        <p:spPr>
          <a:xfrm>
            <a:off x="2523744" y="6254496"/>
            <a:ext cx="8997696" cy="307238"/>
          </a:xfrm>
          <a:prstGeom prst="rect">
            <a:avLst/>
          </a:prstGeom>
          <a:noFill/>
          <a:ln/>
        </p:spPr>
        <p:txBody>
          <a:bodyPr wrap="square" lIns="0" tIns="0" rIns="0" bIns="0" rtlCol="0" anchor="ctr"/>
          <a:lstStyle/>
          <a:p>
            <a:pPr indent="0" marL="0">
              <a:buNone/>
            </a:pPr>
            <a:r>
              <a:rPr lang="en-US" sz="1050" dirty="0">
                <a:solidFill>
                  <a:srgbClr val="70757C"/>
                </a:solidFill>
                <a:latin typeface="Arial" pitchFamily="34" charset="0"/>
                <a:ea typeface="Arial" pitchFamily="34" charset="-122"/>
                <a:cs typeface="Arial" pitchFamily="34" charset="-120"/>
              </a:rPr>
              <a:t>(Leventhal, 1980; Colquitt, 2001)</a:t>
            </a:r>
            <a:endParaRPr lang="en-US" sz="1050" dirty="0"/>
          </a:p>
        </p:txBody>
      </p:sp>
      <p:sp>
        <p:nvSpPr>
          <p:cNvPr id="24" name="Text 22"/>
          <p:cNvSpPr/>
          <p:nvPr/>
        </p:nvSpPr>
        <p:spPr>
          <a:xfrm>
            <a:off x="2468880" y="6781190"/>
            <a:ext cx="329184" cy="329184"/>
          </a:xfrm>
          <a:prstGeom prst="rect">
            <a:avLst/>
          </a:prstGeom>
          <a:noFill/>
          <a:ln/>
        </p:spPr>
        <p:txBody>
          <a:bodyPr wrap="square" lIns="0" tIns="0" rIns="0" bIns="0" rtlCol="0" anchor="ctr"/>
          <a:lstStyle/>
          <a:p>
            <a:pPr indent="0" marL="0">
              <a:buNone/>
            </a:pPr>
            <a:r>
              <a:rPr lang="en-US" sz="1100" dirty="0">
                <a:solidFill>
                  <a:srgbClr val="1F2226"/>
                </a:solidFill>
                <a:latin typeface="Arial" pitchFamily="34" charset="0"/>
                <a:ea typeface="Arial" pitchFamily="34" charset="-122"/>
                <a:cs typeface="Arial" pitchFamily="34" charset="-120"/>
              </a:rPr>
              <a:t>◆</a:t>
            </a:r>
            <a:endParaRPr lang="en-US" sz="1100" dirty="0"/>
          </a:p>
        </p:txBody>
      </p:sp>
      <p:sp>
        <p:nvSpPr>
          <p:cNvPr id="25" name="Text 23"/>
          <p:cNvSpPr/>
          <p:nvPr/>
        </p:nvSpPr>
        <p:spPr>
          <a:xfrm>
            <a:off x="2852928" y="6759245"/>
            <a:ext cx="8668512" cy="373075"/>
          </a:xfrm>
          <a:prstGeom prst="rect">
            <a:avLst/>
          </a:prstGeom>
          <a:noFill/>
          <a:ln/>
        </p:spPr>
        <p:txBody>
          <a:bodyPr wrap="square" lIns="0" tIns="0" rIns="0" bIns="0" rtlCol="0" anchor="ctr"/>
          <a:lstStyle/>
          <a:p>
            <a:pPr indent="0" marL="0">
              <a:buNone/>
            </a:pPr>
            <a:r>
              <a:rPr lang="en-US" sz="1450" b="1" dirty="0">
                <a:solidFill>
                  <a:srgbClr val="1F2226"/>
                </a:solidFill>
                <a:latin typeface="Arial" pitchFamily="34" charset="0"/>
                <a:ea typeface="Arial" pitchFamily="34" charset="-122"/>
                <a:cs typeface="Arial" pitchFamily="34" charset="-120"/>
              </a:rPr>
              <a:t>그런데 기여를 식별하기 어려워지면, 그 규칙이 지켜졌는지 판단할 근거는 약해진다</a:t>
            </a:r>
            <a:endParaRPr lang="en-US" sz="1450" dirty="0"/>
          </a:p>
        </p:txBody>
      </p:sp>
      <p:sp>
        <p:nvSpPr>
          <p:cNvPr id="26" name="Text 24"/>
          <p:cNvSpPr/>
          <p:nvPr/>
        </p:nvSpPr>
        <p:spPr>
          <a:xfrm>
            <a:off x="2852928" y="7132320"/>
            <a:ext cx="8668512" cy="307238"/>
          </a:xfrm>
          <a:prstGeom prst="rect">
            <a:avLst/>
          </a:prstGeom>
          <a:noFill/>
          <a:ln/>
        </p:spPr>
        <p:txBody>
          <a:bodyPr wrap="square" lIns="0" tIns="0" rIns="0" bIns="0" rtlCol="0" anchor="ctr"/>
          <a:lstStyle/>
          <a:p>
            <a:pPr indent="0" marL="0">
              <a:buNone/>
            </a:pPr>
            <a:r>
              <a:rPr lang="en-US" sz="1050" dirty="0">
                <a:solidFill>
                  <a:srgbClr val="70757C"/>
                </a:solidFill>
                <a:latin typeface="Arial" pitchFamily="34" charset="0"/>
                <a:ea typeface="Arial" pitchFamily="34" charset="-122"/>
                <a:cs typeface="Arial" pitchFamily="34" charset="-120"/>
              </a:rPr>
              <a:t>(본 연구의 출발점)</a:t>
            </a:r>
            <a:endParaRPr lang="en-US" sz="1050" dirty="0"/>
          </a:p>
        </p:txBody>
      </p:sp>
      <p:sp>
        <p:nvSpPr>
          <p:cNvPr id="27" name="Shape 25"/>
          <p:cNvSpPr/>
          <p:nvPr/>
        </p:nvSpPr>
        <p:spPr>
          <a:xfrm>
            <a:off x="2852928" y="7132320"/>
            <a:ext cx="7022592" cy="0"/>
          </a:xfrm>
          <a:prstGeom prst="line">
            <a:avLst/>
          </a:prstGeom>
          <a:noFill/>
          <a:ln w="15875">
            <a:solidFill>
              <a:srgbClr val="1F2226"/>
            </a:solidFill>
            <a:prstDash val="solid"/>
          </a:ln>
        </p:spPr>
      </p:sp>
      <p:sp>
        <p:nvSpPr>
          <p:cNvPr id="28" name="Text 26"/>
          <p:cNvSpPr/>
          <p:nvPr/>
        </p:nvSpPr>
        <p:spPr>
          <a:xfrm>
            <a:off x="12508992" y="7626096"/>
            <a:ext cx="1448410" cy="307238"/>
          </a:xfrm>
          <a:prstGeom prst="rect">
            <a:avLst/>
          </a:prstGeom>
          <a:noFill/>
          <a:ln/>
        </p:spPr>
        <p:txBody>
          <a:bodyPr wrap="square" lIns="0" tIns="0" rIns="0" bIns="0" rtlCol="0" anchor="ctr"/>
          <a:lstStyle/>
          <a:p>
            <a:pPr algn="r" indent="0" marL="0">
              <a:buNone/>
            </a:pPr>
            <a:r>
              <a:rPr lang="en-US" sz="1000" dirty="0">
                <a:solidFill>
                  <a:srgbClr val="70757C"/>
                </a:solidFill>
                <a:latin typeface="Arial" pitchFamily="34" charset="0"/>
                <a:ea typeface="Arial" pitchFamily="34" charset="-122"/>
                <a:cs typeface="Arial" pitchFamily="34" charset="-120"/>
              </a:rPr>
              <a:t>01 / 07</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339328" y="329184"/>
            <a:ext cx="4992624" cy="285293"/>
          </a:xfrm>
          <a:prstGeom prst="rect">
            <a:avLst/>
          </a:prstGeom>
          <a:noFill/>
          <a:ln/>
        </p:spPr>
        <p:txBody>
          <a:bodyPr wrap="square" lIns="0" tIns="0" rIns="0" bIns="0" rtlCol="0" anchor="ctr"/>
          <a:lstStyle/>
          <a:p>
            <a:pPr algn="r" indent="0" marL="0">
              <a:buNone/>
            </a:pPr>
            <a:r>
              <a:rPr lang="en-US" sz="1050" dirty="0">
                <a:solidFill>
                  <a:srgbClr val="70757C"/>
                </a:solidFill>
                <a:latin typeface="Arial" pitchFamily="34" charset="0"/>
                <a:ea typeface="Arial" pitchFamily="34" charset="-122"/>
                <a:cs typeface="Arial" pitchFamily="34" charset="-120"/>
              </a:rPr>
              <a:t>2026학년도 석사학위논문</a:t>
            </a:r>
            <a:endParaRPr lang="en-US" sz="1050" dirty="0"/>
          </a:p>
        </p:txBody>
      </p:sp>
      <p:sp>
        <p:nvSpPr>
          <p:cNvPr id="3" name="Text 1"/>
          <p:cNvSpPr/>
          <p:nvPr/>
        </p:nvSpPr>
        <p:spPr>
          <a:xfrm>
            <a:off x="8339328" y="603504"/>
            <a:ext cx="4992624" cy="307238"/>
          </a:xfrm>
          <a:prstGeom prst="rect">
            <a:avLst/>
          </a:prstGeom>
          <a:noFill/>
          <a:ln/>
        </p:spPr>
        <p:txBody>
          <a:bodyPr wrap="square" lIns="0" tIns="0" rIns="0" bIns="0" rtlCol="0" anchor="ctr"/>
          <a:lstStyle/>
          <a:p>
            <a:pPr algn="r" indent="0" marL="0">
              <a:buNone/>
            </a:pPr>
            <a:r>
              <a:rPr lang="en-US" sz="1200" b="1" dirty="0">
                <a:solidFill>
                  <a:srgbClr val="1F2226"/>
                </a:solidFill>
                <a:latin typeface="Arial" pitchFamily="34" charset="0"/>
                <a:ea typeface="Arial" pitchFamily="34" charset="-122"/>
                <a:cs typeface="Arial" pitchFamily="34" charset="-120"/>
              </a:rPr>
              <a:t>프로포절 심사</a:t>
            </a:r>
            <a:endParaRPr lang="en-US" sz="1200" dirty="0"/>
          </a:p>
        </p:txBody>
      </p:sp>
      <p:sp>
        <p:nvSpPr>
          <p:cNvPr id="4" name="Shape 2"/>
          <p:cNvSpPr/>
          <p:nvPr/>
        </p:nvSpPr>
        <p:spPr>
          <a:xfrm>
            <a:off x="680314" y="1009498"/>
            <a:ext cx="13277088" cy="0"/>
          </a:xfrm>
          <a:prstGeom prst="line">
            <a:avLst/>
          </a:prstGeom>
          <a:noFill/>
          <a:ln w="12700">
            <a:solidFill>
              <a:srgbClr val="C9CDD3"/>
            </a:solidFill>
            <a:prstDash val="solid"/>
          </a:ln>
        </p:spPr>
      </p:sp>
      <p:sp>
        <p:nvSpPr>
          <p:cNvPr id="5" name="Shape 3"/>
          <p:cNvSpPr/>
          <p:nvPr/>
        </p:nvSpPr>
        <p:spPr>
          <a:xfrm>
            <a:off x="8339328" y="1009498"/>
            <a:ext cx="5618074" cy="0"/>
          </a:xfrm>
          <a:prstGeom prst="line">
            <a:avLst/>
          </a:prstGeom>
          <a:noFill/>
          <a:ln w="25400">
            <a:solidFill>
              <a:srgbClr val="8C2A32"/>
            </a:solidFill>
            <a:prstDash val="solid"/>
          </a:ln>
        </p:spPr>
      </p:sp>
      <p:sp>
        <p:nvSpPr>
          <p:cNvPr id="6" name="Shape 4"/>
          <p:cNvSpPr/>
          <p:nvPr/>
        </p:nvSpPr>
        <p:spPr>
          <a:xfrm>
            <a:off x="680314" y="1207008"/>
            <a:ext cx="899770" cy="899770"/>
          </a:xfrm>
          <a:prstGeom prst="ellipse">
            <a:avLst/>
          </a:prstGeom>
          <a:solidFill>
            <a:srgbClr val="FFFFFF">
              <a:alpha val="0"/>
            </a:srgbClr>
          </a:solidFill>
          <a:ln w="63500">
            <a:solidFill>
              <a:srgbClr val="8C2A32"/>
            </a:solidFill>
            <a:prstDash val="solid"/>
          </a:ln>
        </p:spPr>
      </p:sp>
      <p:sp>
        <p:nvSpPr>
          <p:cNvPr id="7" name="Shape 5"/>
          <p:cNvSpPr/>
          <p:nvPr/>
        </p:nvSpPr>
        <p:spPr>
          <a:xfrm>
            <a:off x="1207008" y="1119226"/>
            <a:ext cx="680314" cy="1075334"/>
          </a:xfrm>
          <a:prstGeom prst="rect">
            <a:avLst/>
          </a:prstGeom>
          <a:solidFill>
            <a:srgbClr val="FFFFFF"/>
          </a:solidFill>
          <a:ln w="12700">
            <a:solidFill>
              <a:srgbClr val="FFFFFF"/>
            </a:solidFill>
            <a:prstDash val="solid"/>
          </a:ln>
        </p:spPr>
      </p:sp>
      <p:sp>
        <p:nvSpPr>
          <p:cNvPr id="8" name="Text 6"/>
          <p:cNvSpPr/>
          <p:nvPr/>
        </p:nvSpPr>
        <p:spPr>
          <a:xfrm>
            <a:off x="1119226" y="1207008"/>
            <a:ext cx="12508992" cy="899770"/>
          </a:xfrm>
          <a:prstGeom prst="rect">
            <a:avLst/>
          </a:prstGeom>
          <a:noFill/>
          <a:ln/>
        </p:spPr>
        <p:txBody>
          <a:bodyPr wrap="square" lIns="0" tIns="0" rIns="0" bIns="0" rtlCol="0" anchor="ctr"/>
          <a:lstStyle/>
          <a:p>
            <a:pPr indent="0" marL="0">
              <a:buNone/>
            </a:pPr>
            <a:r>
              <a:rPr lang="en-US" sz="2600" b="1" dirty="0">
                <a:solidFill>
                  <a:srgbClr val="1F2226"/>
                </a:solidFill>
                <a:latin typeface="Arial" pitchFamily="34" charset="0"/>
                <a:ea typeface="Arial" pitchFamily="34" charset="-122"/>
                <a:cs typeface="Arial" pitchFamily="34" charset="-120"/>
              </a:rPr>
              <a:t>02.  문제 제기</a:t>
            </a:r>
            <a:endParaRPr lang="en-US" sz="2600" dirty="0"/>
          </a:p>
        </p:txBody>
      </p:sp>
      <p:sp>
        <p:nvSpPr>
          <p:cNvPr id="9" name="Shape 7"/>
          <p:cNvSpPr/>
          <p:nvPr/>
        </p:nvSpPr>
        <p:spPr>
          <a:xfrm>
            <a:off x="768096" y="2282342"/>
            <a:ext cx="13112496" cy="811987"/>
          </a:xfrm>
          <a:prstGeom prst="rect">
            <a:avLst/>
          </a:prstGeom>
          <a:solidFill>
            <a:srgbClr val="2A2D31"/>
          </a:solidFill>
          <a:ln/>
        </p:spPr>
      </p:sp>
      <p:sp>
        <p:nvSpPr>
          <p:cNvPr id="10" name="Text 8"/>
          <p:cNvSpPr/>
          <p:nvPr/>
        </p:nvSpPr>
        <p:spPr>
          <a:xfrm>
            <a:off x="1097280" y="2282342"/>
            <a:ext cx="12508992" cy="811987"/>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평가받는 사람은 자신의 노력이 어떤 평가로 이어질지 가늠할 수 없게 된다</a:t>
            </a:r>
            <a:endParaRPr lang="en-US" sz="1800" dirty="0"/>
          </a:p>
        </p:txBody>
      </p:sp>
      <p:sp>
        <p:nvSpPr>
          <p:cNvPr id="11" name="Text 9"/>
          <p:cNvSpPr/>
          <p:nvPr/>
        </p:nvSpPr>
        <p:spPr>
          <a:xfrm>
            <a:off x="768096" y="3291840"/>
            <a:ext cx="8778240" cy="329184"/>
          </a:xfrm>
          <a:prstGeom prst="rect">
            <a:avLst/>
          </a:prstGeom>
          <a:noFill/>
          <a:ln/>
        </p:spPr>
        <p:txBody>
          <a:bodyPr wrap="square" lIns="0" tIns="0" rIns="0" bIns="0" rtlCol="0" anchor="ctr"/>
          <a:lstStyle/>
          <a:p>
            <a:pPr algn="l" indent="0" marL="0">
              <a:buNone/>
            </a:pPr>
            <a:r>
              <a:rPr lang="en-US" sz="1300" b="1" dirty="0">
                <a:solidFill>
                  <a:srgbClr val="1F2226"/>
                </a:solidFill>
                <a:latin typeface="Arial" pitchFamily="34" charset="0"/>
                <a:ea typeface="Arial" pitchFamily="34" charset="-122"/>
                <a:cs typeface="Arial" pitchFamily="34" charset="-120"/>
              </a:rPr>
              <a:t>【 선행연구 지형도 — 세 조건을 동시에 충족하는 연구가 있는가 】</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68096" y="3555187"/>
          <a:ext cx="13112496" cy="914400"/>
        </p:xfrm>
        <a:graphic>
          <a:graphicData uri="http://schemas.openxmlformats.org/drawingml/2006/table">
            <a:tbl>
              <a:tblPr/>
              <a:tblGrid>
                <a:gridCol w="3895344"/>
                <a:gridCol w="3072384"/>
                <a:gridCol w="2852928"/>
                <a:gridCol w="3291840"/>
              </a:tblGrid>
              <a:tr h="570586">
                <a:tc>
                  <a:txBody>
                    <a:bodyPr/>
                    <a:lstStyle/>
                    <a:p>
                      <a:pPr indent="0" marL="0">
                        <a:buNone/>
                      </a:pPr>
                      <a:r>
                        <a:rPr lang="en-US" sz="1100" b="1" dirty="0">
                          <a:solidFill>
                            <a:srgbClr val="1F2226"/>
                          </a:solidFill>
                          <a:latin typeface="Arial" pitchFamily="34" charset="0"/>
                          <a:ea typeface="Arial" pitchFamily="34" charset="-122"/>
                          <a:cs typeface="Arial" pitchFamily="34" charset="-120"/>
                        </a:rPr>
                        <a:t>선행연구 갈래</a:t>
                      </a:r>
                      <a:endParaRPr lang="en-US" sz="1100" dirty="0">
                        <a:latin typeface="Arial" charset="0"/>
                        <a:ea typeface="Arial" charset="0"/>
                        <a:cs typeface="Arial" charset="0"/>
                      </a:endParaRPr>
                    </a:p>
                  </a:txBody>
                  <a:tcPr marL="76200" marR="762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F2226"/>
                          </a:solidFill>
                          <a:latin typeface="Arial" pitchFamily="34" charset="0"/>
                          <a:ea typeface="Arial" pitchFamily="34" charset="-122"/>
                          <a:cs typeface="Arial" pitchFamily="34" charset="-120"/>
                        </a:rPr>
                        <a:t>불확실성이</a:t>
                      </a:r>
                      <a:endParaRPr lang="en-US" sz="1100" dirty="0">
                        <a:latin typeface="Arial" charset="0"/>
                        <a:ea typeface="Arial" charset="0"/>
                        <a:cs typeface="Arial" charset="0"/>
                      </a:endParaRPr>
                    </a:p>
                    <a:p>
                      <a:pPr algn="ctr" indent="0" marL="0">
                        <a:buNone/>
                      </a:pPr>
                      <a:r>
                        <a:rPr lang="en-US" sz="1100" b="1" dirty="0">
                          <a:solidFill>
                            <a:srgbClr val="1F2226"/>
                          </a:solidFill>
                          <a:latin typeface="Arial" pitchFamily="34" charset="0"/>
                          <a:ea typeface="Arial" pitchFamily="34" charset="-122"/>
                          <a:cs typeface="Arial" pitchFamily="34" charset="-120"/>
                        </a:rPr>
                        <a:t>조직 안에서 발생하는가</a:t>
                      </a:r>
                      <a:endParaRPr lang="en-US" sz="1100" dirty="0">
                        <a:latin typeface="Arial" charset="0"/>
                        <a:ea typeface="Arial" charset="0"/>
                        <a:cs typeface="Arial" charset="0"/>
                      </a:endParaRPr>
                    </a:p>
                  </a:txBody>
                  <a:tcPr marL="76200" marR="762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F2226"/>
                          </a:solidFill>
                          <a:latin typeface="Arial" pitchFamily="34" charset="0"/>
                          <a:ea typeface="Arial" pitchFamily="34" charset="-122"/>
                          <a:cs typeface="Arial" pitchFamily="34" charset="-120"/>
                        </a:rPr>
                        <a:t>매개 경로를</a:t>
                      </a:r>
                      <a:endParaRPr lang="en-US" sz="1100" dirty="0">
                        <a:latin typeface="Arial" charset="0"/>
                        <a:ea typeface="Arial" charset="0"/>
                        <a:cs typeface="Arial" charset="0"/>
                      </a:endParaRPr>
                    </a:p>
                    <a:p>
                      <a:pPr algn="ctr" indent="0" marL="0">
                        <a:buNone/>
                      </a:pPr>
                      <a:r>
                        <a:rPr lang="en-US" sz="1100" b="1" dirty="0">
                          <a:solidFill>
                            <a:srgbClr val="1F2226"/>
                          </a:solidFill>
                          <a:latin typeface="Arial" pitchFamily="34" charset="0"/>
                          <a:ea typeface="Arial" pitchFamily="34" charset="-122"/>
                          <a:cs typeface="Arial" pitchFamily="34" charset="-120"/>
                        </a:rPr>
                        <a:t>검증하는가</a:t>
                      </a:r>
                      <a:endParaRPr lang="en-US" sz="1100" dirty="0">
                        <a:latin typeface="Arial" charset="0"/>
                        <a:ea typeface="Arial" charset="0"/>
                        <a:cs typeface="Arial" charset="0"/>
                      </a:endParaRPr>
                    </a:p>
                  </a:txBody>
                  <a:tcPr marL="76200" marR="762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F2226"/>
                          </a:solidFill>
                          <a:latin typeface="Arial" pitchFamily="34" charset="0"/>
                          <a:ea typeface="Arial" pitchFamily="34" charset="-122"/>
                          <a:cs typeface="Arial" pitchFamily="34" charset="-120"/>
                        </a:rPr>
                        <a:t>절차공정성 지각이</a:t>
                      </a:r>
                      <a:endParaRPr lang="en-US" sz="1100" dirty="0">
                        <a:latin typeface="Arial" charset="0"/>
                        <a:ea typeface="Arial" charset="0"/>
                        <a:cs typeface="Arial" charset="0"/>
                      </a:endParaRPr>
                    </a:p>
                    <a:p>
                      <a:pPr algn="ctr" indent="0" marL="0">
                        <a:buNone/>
                      </a:pPr>
                      <a:r>
                        <a:rPr lang="en-US" sz="1100" b="1" dirty="0">
                          <a:solidFill>
                            <a:srgbClr val="1F2226"/>
                          </a:solidFill>
                          <a:latin typeface="Arial" pitchFamily="34" charset="0"/>
                          <a:ea typeface="Arial" pitchFamily="34" charset="-122"/>
                          <a:cs typeface="Arial" pitchFamily="34" charset="-120"/>
                        </a:rPr>
                        <a:t>종속변수인가</a:t>
                      </a:r>
                      <a:endParaRPr lang="en-US" sz="1100" dirty="0">
                        <a:latin typeface="Arial" charset="0"/>
                        <a:ea typeface="Arial" charset="0"/>
                        <a:cs typeface="Arial" charset="0"/>
                      </a:endParaRPr>
                    </a:p>
                  </a:txBody>
                  <a:tcPr marL="76200" marR="762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570586">
                <a:tc>
                  <a:txBody>
                    <a:bodyPr/>
                    <a:lstStyle/>
                    <a:p>
                      <a:pPr indent="0" marL="0">
                        <a:buNone/>
                      </a:pPr>
                      <a:r>
                        <a:rPr lang="en-US" sz="1100" b="1" dirty="0">
                          <a:solidFill>
                            <a:srgbClr val="1F2226"/>
                          </a:solidFill>
                          <a:latin typeface="Arial" pitchFamily="34" charset="0"/>
                          <a:ea typeface="Arial" pitchFamily="34" charset="-122"/>
                          <a:cs typeface="Arial" pitchFamily="34" charset="-120"/>
                        </a:rPr>
                        <a:t>인간-AI 귀속 연구
</a:t>
                      </a:r>
                      <a:pPr indent="0" marL="0">
                        <a:buNone/>
                      </a:pPr>
                      <a:r>
                        <a:rPr lang="en-US" sz="950" dirty="0">
                          <a:solidFill>
                            <a:srgbClr val="70757C"/>
                          </a:solidFill>
                          <a:latin typeface="Arial" pitchFamily="34" charset="0"/>
                          <a:ea typeface="Arial" pitchFamily="34" charset="-122"/>
                          <a:cs typeface="Arial" pitchFamily="34" charset="-120"/>
                        </a:rPr>
                        <a:t>He et al. (2025) · Orlikowski (2007) · Leonardi (2011)</a:t>
                      </a:r>
                      <a:endParaRPr lang="en-US" sz="1050" dirty="0">
                        <a:latin typeface="Arial" charset="0"/>
                        <a:ea typeface="Arial" charset="0"/>
                        <a:cs typeface="Arial" charset="0"/>
                      </a:endParaRPr>
                    </a:p>
                  </a:txBody>
                  <a:tcPr marL="76200" marR="762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70757C"/>
                          </a:solidFill>
                          <a:latin typeface="Arial" pitchFamily="34" charset="0"/>
                          <a:ea typeface="Arial" pitchFamily="34" charset="-122"/>
                          <a:cs typeface="Arial" pitchFamily="34" charset="-120"/>
                        </a:rPr>
                        <a:t>○   </a:t>
                      </a:r>
                      <a:pPr algn="ctr" indent="0" marL="0">
                        <a:buNone/>
                      </a:pPr>
                      <a:r>
                        <a:rPr lang="en-US" sz="950" dirty="0">
                          <a:solidFill>
                            <a:srgbClr val="70757C"/>
                          </a:solidFill>
                          <a:latin typeface="Arial" pitchFamily="34" charset="0"/>
                          <a:ea typeface="Arial" pitchFamily="34" charset="-122"/>
                          <a:cs typeface="Arial" pitchFamily="34" charset="-120"/>
                        </a:rPr>
                        <a:t>귀속 모호성을 다룬다</a:t>
                      </a:r>
                      <a:endParaRPr lang="en-US" sz="1050" dirty="0">
                        <a:latin typeface="Arial" charset="0"/>
                        <a:ea typeface="Arial" charset="0"/>
                        <a:cs typeface="Arial" charset="0"/>
                      </a:endParaRPr>
                    </a:p>
                  </a:txBody>
                  <a:tcPr marL="76200" marR="762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F2226"/>
                          </a:solidFill>
                          <a:latin typeface="Arial" pitchFamily="34" charset="0"/>
                          <a:ea typeface="Arial" pitchFamily="34" charset="-122"/>
                          <a:cs typeface="Arial" pitchFamily="34" charset="-120"/>
                        </a:rPr>
                        <a:t>✕   </a:t>
                      </a:r>
                      <a:pPr algn="ctr" indent="0" marL="0">
                        <a:buNone/>
                      </a:pPr>
                      <a:r>
                        <a:rPr lang="en-US" sz="950" dirty="0">
                          <a:solidFill>
                            <a:srgbClr val="70757C"/>
                          </a:solidFill>
                          <a:latin typeface="Arial" pitchFamily="34" charset="0"/>
                          <a:ea typeface="Arial" pitchFamily="34" charset="-122"/>
                          <a:cs typeface="Arial" pitchFamily="34" charset="-120"/>
                        </a:rPr>
                        <a:t>배분 판단에 머문다</a:t>
                      </a:r>
                      <a:endParaRPr lang="en-US" sz="1050" dirty="0">
                        <a:latin typeface="Arial" charset="0"/>
                        <a:ea typeface="Arial" charset="0"/>
                        <a:cs typeface="Arial" charset="0"/>
                      </a:endParaRPr>
                    </a:p>
                  </a:txBody>
                  <a:tcPr marL="76200" marR="762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F2226"/>
                          </a:solidFill>
                          <a:latin typeface="Arial" pitchFamily="34" charset="0"/>
                          <a:ea typeface="Arial" pitchFamily="34" charset="-122"/>
                          <a:cs typeface="Arial" pitchFamily="34" charset="-120"/>
                        </a:rPr>
                        <a:t>✕   </a:t>
                      </a:r>
                      <a:pPr algn="ctr" indent="0" marL="0">
                        <a:buNone/>
                      </a:pPr>
                      <a:r>
                        <a:rPr lang="en-US" sz="950" dirty="0">
                          <a:solidFill>
                            <a:srgbClr val="70757C"/>
                          </a:solidFill>
                          <a:latin typeface="Arial" pitchFamily="34" charset="0"/>
                          <a:ea typeface="Arial" pitchFamily="34" charset="-122"/>
                          <a:cs typeface="Arial" pitchFamily="34" charset="-120"/>
                        </a:rPr>
                        <a:t>공정성 지각을 재지 않음</a:t>
                      </a:r>
                      <a:endParaRPr lang="en-US" sz="1050" dirty="0">
                        <a:latin typeface="Arial" charset="0"/>
                        <a:ea typeface="Arial" charset="0"/>
                        <a:cs typeface="Arial" charset="0"/>
                      </a:endParaRPr>
                    </a:p>
                  </a:txBody>
                  <a:tcPr marL="76200" marR="762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570586">
                <a:tc>
                  <a:txBody>
                    <a:bodyPr/>
                    <a:lstStyle/>
                    <a:p>
                      <a:pPr indent="0" marL="0">
                        <a:buNone/>
                      </a:pPr>
                      <a:r>
                        <a:rPr lang="en-US" sz="1100" b="1" dirty="0">
                          <a:solidFill>
                            <a:srgbClr val="1F2226"/>
                          </a:solidFill>
                          <a:latin typeface="Arial" pitchFamily="34" charset="0"/>
                          <a:ea typeface="Arial" pitchFamily="34" charset="-122"/>
                          <a:cs typeface="Arial" pitchFamily="34" charset="-120"/>
                        </a:rPr>
                        <a:t>불확실성 관리 이론 실증 5편
</a:t>
                      </a:r>
                      <a:pPr indent="0" marL="0">
                        <a:buNone/>
                      </a:pPr>
                      <a:r>
                        <a:rPr lang="en-US" sz="950" dirty="0">
                          <a:solidFill>
                            <a:srgbClr val="70757C"/>
                          </a:solidFill>
                          <a:latin typeface="Arial" pitchFamily="34" charset="0"/>
                          <a:ea typeface="Arial" pitchFamily="34" charset="-122"/>
                          <a:cs typeface="Arial" pitchFamily="34" charset="-120"/>
                        </a:rPr>
                        <a:t>van den Bos (2001) 외 — Appendix G</a:t>
                      </a:r>
                      <a:endParaRPr lang="en-US" sz="1050" dirty="0">
                        <a:latin typeface="Arial" charset="0"/>
                        <a:ea typeface="Arial" charset="0"/>
                        <a:cs typeface="Arial" charset="0"/>
                      </a:endParaRPr>
                    </a:p>
                  </a:txBody>
                  <a:tcPr marL="76200" marR="762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F2226"/>
                          </a:solidFill>
                          <a:latin typeface="Arial" pitchFamily="34" charset="0"/>
                          <a:ea typeface="Arial" pitchFamily="34" charset="-122"/>
                          <a:cs typeface="Arial" pitchFamily="34" charset="-120"/>
                        </a:rPr>
                        <a:t>✕   </a:t>
                      </a:r>
                      <a:pPr algn="ctr" indent="0" marL="0">
                        <a:buNone/>
                      </a:pPr>
                      <a:r>
                        <a:rPr lang="en-US" sz="950" dirty="0">
                          <a:solidFill>
                            <a:srgbClr val="70757C"/>
                          </a:solidFill>
                          <a:latin typeface="Arial" pitchFamily="34" charset="0"/>
                          <a:ea typeface="Arial" pitchFamily="34" charset="-122"/>
                          <a:cs typeface="Arial" pitchFamily="34" charset="-120"/>
                        </a:rPr>
                        <a:t>조작이거나 외부 상황</a:t>
                      </a:r>
                      <a:endParaRPr lang="en-US" sz="1050" dirty="0">
                        <a:latin typeface="Arial" charset="0"/>
                        <a:ea typeface="Arial" charset="0"/>
                        <a:cs typeface="Arial" charset="0"/>
                      </a:endParaRPr>
                    </a:p>
                  </a:txBody>
                  <a:tcPr marL="76200" marR="762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F2226"/>
                          </a:solidFill>
                          <a:latin typeface="Arial" pitchFamily="34" charset="0"/>
                          <a:ea typeface="Arial" pitchFamily="34" charset="-122"/>
                          <a:cs typeface="Arial" pitchFamily="34" charset="-120"/>
                        </a:rPr>
                        <a:t>✕   </a:t>
                      </a:r>
                      <a:pPr algn="ctr" indent="0" marL="0">
                        <a:buNone/>
                      </a:pPr>
                      <a:r>
                        <a:rPr lang="en-US" sz="950" dirty="0">
                          <a:solidFill>
                            <a:srgbClr val="70757C"/>
                          </a:solidFill>
                          <a:latin typeface="Arial" pitchFamily="34" charset="0"/>
                          <a:ea typeface="Arial" pitchFamily="34" charset="-122"/>
                          <a:cs typeface="Arial" pitchFamily="34" charset="-120"/>
                        </a:rPr>
                        <a:t>조절로 배치한다</a:t>
                      </a:r>
                      <a:endParaRPr lang="en-US" sz="1050" dirty="0">
                        <a:latin typeface="Arial" charset="0"/>
                        <a:ea typeface="Arial" charset="0"/>
                        <a:cs typeface="Arial" charset="0"/>
                      </a:endParaRPr>
                    </a:p>
                  </a:txBody>
                  <a:tcPr marL="76200" marR="762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70757C"/>
                          </a:solidFill>
                          <a:latin typeface="Arial" pitchFamily="34" charset="0"/>
                          <a:ea typeface="Arial" pitchFamily="34" charset="-122"/>
                          <a:cs typeface="Arial" pitchFamily="34" charset="-120"/>
                        </a:rPr>
                        <a:t>○   </a:t>
                      </a:r>
                      <a:pPr algn="ctr" indent="0" marL="0">
                        <a:buNone/>
                      </a:pPr>
                      <a:r>
                        <a:rPr lang="en-US" sz="950" dirty="0">
                          <a:solidFill>
                            <a:srgbClr val="70757C"/>
                          </a:solidFill>
                          <a:latin typeface="Arial" pitchFamily="34" charset="0"/>
                          <a:ea typeface="Arial" pitchFamily="34" charset="-122"/>
                          <a:cs typeface="Arial" pitchFamily="34" charset="-120"/>
                        </a:rPr>
                        <a:t>공정성 판단이 결과</a:t>
                      </a:r>
                      <a:endParaRPr lang="en-US" sz="1050" dirty="0">
                        <a:latin typeface="Arial" charset="0"/>
                        <a:ea typeface="Arial" charset="0"/>
                        <a:cs typeface="Arial" charset="0"/>
                      </a:endParaRPr>
                    </a:p>
                  </a:txBody>
                  <a:tcPr marL="76200" marR="762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570586">
                <a:tc>
                  <a:txBody>
                    <a:bodyPr/>
                    <a:lstStyle/>
                    <a:p>
                      <a:pPr indent="0" marL="0">
                        <a:buNone/>
                      </a:pPr>
                      <a:r>
                        <a:rPr lang="en-US" sz="1100" b="1" dirty="0">
                          <a:solidFill>
                            <a:srgbClr val="1F2226"/>
                          </a:solidFill>
                          <a:latin typeface="Arial" pitchFamily="34" charset="0"/>
                          <a:ea typeface="Arial" pitchFamily="34" charset="-122"/>
                          <a:cs typeface="Arial" pitchFamily="34" charset="-120"/>
                        </a:rPr>
                        <a:t>성과평가 공정성 연구
</a:t>
                      </a:r>
                      <a:pPr indent="0" marL="0">
                        <a:buNone/>
                      </a:pPr>
                      <a:r>
                        <a:rPr lang="en-US" sz="950" dirty="0">
                          <a:solidFill>
                            <a:srgbClr val="70757C"/>
                          </a:solidFill>
                          <a:latin typeface="Arial" pitchFamily="34" charset="0"/>
                          <a:ea typeface="Arial" pitchFamily="34" charset="-122"/>
                          <a:cs typeface="Arial" pitchFamily="34" charset="-120"/>
                        </a:rPr>
                        <a:t>Hartmann &amp; Slapničar (2012)</a:t>
                      </a:r>
                      <a:endParaRPr lang="en-US" sz="1050" dirty="0">
                        <a:latin typeface="Arial" charset="0"/>
                        <a:ea typeface="Arial" charset="0"/>
                        <a:cs typeface="Arial" charset="0"/>
                      </a:endParaRPr>
                    </a:p>
                  </a:txBody>
                  <a:tcPr marL="76200" marR="762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70757C"/>
                          </a:solidFill>
                          <a:latin typeface="Arial" pitchFamily="34" charset="0"/>
                          <a:ea typeface="Arial" pitchFamily="34" charset="-122"/>
                          <a:cs typeface="Arial" pitchFamily="34" charset="-120"/>
                        </a:rPr>
                        <a:t>△   </a:t>
                      </a:r>
                      <a:pPr algn="ctr" indent="0" marL="0">
                        <a:buNone/>
                      </a:pPr>
                      <a:r>
                        <a:rPr lang="en-US" sz="950" dirty="0">
                          <a:solidFill>
                            <a:srgbClr val="70757C"/>
                          </a:solidFill>
                          <a:latin typeface="Arial" pitchFamily="34" charset="0"/>
                          <a:ea typeface="Arial" pitchFamily="34" charset="-122"/>
                          <a:cs typeface="Arial" pitchFamily="34" charset="-120"/>
                        </a:rPr>
                        <a:t>task uncertainty · 직무의 외생 특성</a:t>
                      </a:r>
                      <a:endParaRPr lang="en-US" sz="1050" dirty="0">
                        <a:latin typeface="Arial" charset="0"/>
                        <a:ea typeface="Arial" charset="0"/>
                        <a:cs typeface="Arial" charset="0"/>
                      </a:endParaRPr>
                    </a:p>
                  </a:txBody>
                  <a:tcPr marL="76200" marR="762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F2226"/>
                          </a:solidFill>
                          <a:latin typeface="Arial" pitchFamily="34" charset="0"/>
                          <a:ea typeface="Arial" pitchFamily="34" charset="-122"/>
                          <a:cs typeface="Arial" pitchFamily="34" charset="-120"/>
                        </a:rPr>
                        <a:t>✕   </a:t>
                      </a:r>
                      <a:pPr algn="ctr" indent="0" marL="0">
                        <a:buNone/>
                      </a:pPr>
                      <a:r>
                        <a:rPr lang="en-US" sz="950" dirty="0">
                          <a:solidFill>
                            <a:srgbClr val="70757C"/>
                          </a:solidFill>
                          <a:latin typeface="Arial" pitchFamily="34" charset="0"/>
                          <a:ea typeface="Arial" pitchFamily="34" charset="-122"/>
                          <a:cs typeface="Arial" pitchFamily="34" charset="-120"/>
                        </a:rPr>
                        <a:t>매개를 검증하지 않는다</a:t>
                      </a:r>
                      <a:endParaRPr lang="en-US" sz="1050" dirty="0">
                        <a:latin typeface="Arial" charset="0"/>
                        <a:ea typeface="Arial" charset="0"/>
                        <a:cs typeface="Arial" charset="0"/>
                      </a:endParaRPr>
                    </a:p>
                  </a:txBody>
                  <a:tcPr marL="76200" marR="762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70757C"/>
                          </a:solidFill>
                          <a:latin typeface="Arial" pitchFamily="34" charset="0"/>
                          <a:ea typeface="Arial" pitchFamily="34" charset="-122"/>
                          <a:cs typeface="Arial" pitchFamily="34" charset="-120"/>
                        </a:rPr>
                        <a:t>○   </a:t>
                      </a:r>
                      <a:pPr algn="ctr" indent="0" marL="0">
                        <a:buNone/>
                      </a:pPr>
                      <a:r>
                        <a:rPr lang="en-US" sz="950" dirty="0">
                          <a:solidFill>
                            <a:srgbClr val="70757C"/>
                          </a:solidFill>
                          <a:latin typeface="Arial" pitchFamily="34" charset="0"/>
                          <a:ea typeface="Arial" pitchFamily="34" charset="-122"/>
                          <a:cs typeface="Arial" pitchFamily="34" charset="-120"/>
                        </a:rPr>
                        <a:t>절차공정성이 종속변수</a:t>
                      </a:r>
                      <a:endParaRPr lang="en-US" sz="1050" dirty="0">
                        <a:latin typeface="Arial" charset="0"/>
                        <a:ea typeface="Arial" charset="0"/>
                        <a:cs typeface="Arial" charset="0"/>
                      </a:endParaRPr>
                    </a:p>
                  </a:txBody>
                  <a:tcPr marL="76200" marR="762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570586">
                <a:tc>
                  <a:txBody>
                    <a:bodyPr/>
                    <a:lstStyle/>
                    <a:p>
                      <a:pPr indent="0" marL="0">
                        <a:buNone/>
                      </a:pPr>
                      <a:r>
                        <a:rPr lang="en-US" sz="1300" b="1" dirty="0">
                          <a:solidFill>
                            <a:srgbClr val="1F2226"/>
                          </a:solidFill>
                          <a:latin typeface="Arial" pitchFamily="34" charset="0"/>
                          <a:ea typeface="Arial" pitchFamily="34" charset="-122"/>
                          <a:cs typeface="Arial" pitchFamily="34" charset="-120"/>
                        </a:rPr>
                        <a:t>본 연구</a:t>
                      </a:r>
                      <a:endParaRPr lang="en-US" sz="1300" dirty="0">
                        <a:latin typeface="Arial" charset="0"/>
                        <a:ea typeface="Arial" charset="0"/>
                        <a:cs typeface="Arial" charset="0"/>
                      </a:endParaRPr>
                    </a:p>
                  </a:txBody>
                  <a:tcPr marL="76200" marR="762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70757C"/>
                          </a:solidFill>
                          <a:latin typeface="Arial" pitchFamily="34" charset="0"/>
                          <a:ea typeface="Arial" pitchFamily="34" charset="-122"/>
                          <a:cs typeface="Arial" pitchFamily="34" charset="-120"/>
                        </a:rPr>
                        <a:t>○   </a:t>
                      </a:r>
                      <a:pPr algn="ctr" indent="0" marL="0">
                        <a:buNone/>
                      </a:pPr>
                      <a:r>
                        <a:rPr lang="en-US" sz="950" dirty="0">
                          <a:solidFill>
                            <a:srgbClr val="70757C"/>
                          </a:solidFill>
                          <a:latin typeface="Arial" pitchFamily="34" charset="0"/>
                          <a:ea typeface="Arial" pitchFamily="34" charset="-122"/>
                          <a:cs typeface="Arial" pitchFamily="34" charset="-120"/>
                        </a:rPr>
                        <a:t>귀속 모호성이 유발한다</a:t>
                      </a:r>
                      <a:endParaRPr lang="en-US" sz="1050" dirty="0">
                        <a:latin typeface="Arial" charset="0"/>
                        <a:ea typeface="Arial" charset="0"/>
                        <a:cs typeface="Arial" charset="0"/>
                      </a:endParaRPr>
                    </a:p>
                  </a:txBody>
                  <a:tcPr marL="76200" marR="762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70757C"/>
                          </a:solidFill>
                          <a:latin typeface="Arial" pitchFamily="34" charset="0"/>
                          <a:ea typeface="Arial" pitchFamily="34" charset="-122"/>
                          <a:cs typeface="Arial" pitchFamily="34" charset="-120"/>
                        </a:rPr>
                        <a:t>○   </a:t>
                      </a:r>
                      <a:pPr algn="ctr" indent="0" marL="0">
                        <a:buNone/>
                      </a:pPr>
                      <a:r>
                        <a:rPr lang="en-US" sz="950" dirty="0">
                          <a:solidFill>
                            <a:srgbClr val="70757C"/>
                          </a:solidFill>
                          <a:latin typeface="Arial" pitchFamily="34" charset="0"/>
                          <a:ea typeface="Arial" pitchFamily="34" charset="-122"/>
                          <a:cs typeface="Arial" pitchFamily="34" charset="-120"/>
                        </a:rPr>
                        <a:t>조작 → 매개 → 결과</a:t>
                      </a:r>
                      <a:endParaRPr lang="en-US" sz="1050" dirty="0">
                        <a:latin typeface="Arial" charset="0"/>
                        <a:ea typeface="Arial" charset="0"/>
                        <a:cs typeface="Arial" charset="0"/>
                      </a:endParaRPr>
                    </a:p>
                  </a:txBody>
                  <a:tcPr marL="76200" marR="762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70757C"/>
                          </a:solidFill>
                          <a:latin typeface="Arial" pitchFamily="34" charset="0"/>
                          <a:ea typeface="Arial" pitchFamily="34" charset="-122"/>
                          <a:cs typeface="Arial" pitchFamily="34" charset="-120"/>
                        </a:rPr>
                        <a:t>○   </a:t>
                      </a:r>
                      <a:pPr algn="ctr" indent="0" marL="0">
                        <a:buNone/>
                      </a:pPr>
                      <a:r>
                        <a:rPr lang="en-US" sz="950" dirty="0">
                          <a:solidFill>
                            <a:srgbClr val="70757C"/>
                          </a:solidFill>
                          <a:latin typeface="Arial" pitchFamily="34" charset="0"/>
                          <a:ea typeface="Arial" pitchFamily="34" charset="-122"/>
                          <a:cs typeface="Arial" pitchFamily="34" charset="-120"/>
                        </a:rPr>
                        <a:t>절차공정성 지각</a:t>
                      </a:r>
                      <a:endParaRPr lang="en-US" sz="1050" dirty="0">
                        <a:latin typeface="Arial" charset="0"/>
                        <a:ea typeface="Arial" charset="0"/>
                        <a:cs typeface="Arial" charset="0"/>
                      </a:endParaRPr>
                    </a:p>
                  </a:txBody>
                  <a:tcPr marL="76200" marR="762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bl>
          </a:graphicData>
        </a:graphic>
      </p:graphicFrame>
      <p:sp>
        <p:nvSpPr>
          <p:cNvPr id="13" name="Shape 10"/>
          <p:cNvSpPr/>
          <p:nvPr/>
        </p:nvSpPr>
        <p:spPr>
          <a:xfrm>
            <a:off x="768096" y="6693408"/>
            <a:ext cx="13112496" cy="768096"/>
          </a:xfrm>
          <a:prstGeom prst="rect">
            <a:avLst/>
          </a:prstGeom>
          <a:solidFill>
            <a:srgbClr val="EDEEF0"/>
          </a:solidFill>
          <a:ln w="12700">
            <a:solidFill>
              <a:srgbClr val="DCDDE0"/>
            </a:solidFill>
            <a:prstDash val="solid"/>
          </a:ln>
        </p:spPr>
      </p:sp>
      <p:sp>
        <p:nvSpPr>
          <p:cNvPr id="14" name="Text 11"/>
          <p:cNvSpPr/>
          <p:nvPr/>
        </p:nvSpPr>
        <p:spPr>
          <a:xfrm>
            <a:off x="1009498" y="6693408"/>
            <a:ext cx="12618720" cy="768096"/>
          </a:xfrm>
          <a:prstGeom prst="rect">
            <a:avLst/>
          </a:prstGeom>
          <a:noFill/>
          <a:ln/>
        </p:spPr>
        <p:txBody>
          <a:bodyPr wrap="square" lIns="0" tIns="0" rIns="0" bIns="0" rtlCol="0" anchor="ctr"/>
          <a:lstStyle/>
          <a:p>
            <a:pPr indent="0" marL="0">
              <a:lnSpc>
                <a:spcPts val="1560"/>
              </a:lnSpc>
              <a:buNone/>
            </a:pPr>
            <a:r>
              <a:rPr lang="en-US" sz="950" b="1" dirty="0">
                <a:solidFill>
                  <a:srgbClr val="1F2226"/>
                </a:solidFill>
                <a:latin typeface="Arial" pitchFamily="34" charset="0"/>
                <a:ea typeface="Arial" pitchFamily="34" charset="-122"/>
                <a:cs typeface="Arial" pitchFamily="34" charset="-120"/>
              </a:rPr>
              <a:t>원문 확인   </a:t>
            </a:r>
            <a:pPr indent="0" marL="0">
              <a:lnSpc>
                <a:spcPts val="1560"/>
              </a:lnSpc>
              <a:buNone/>
            </a:pPr>
            <a:r>
              <a:rPr lang="en-US" sz="950" dirty="0">
                <a:solidFill>
                  <a:srgbClr val="1F2226"/>
                </a:solidFill>
                <a:latin typeface="Arial" pitchFamily="34" charset="0"/>
                <a:ea typeface="Arial" pitchFamily="34" charset="-122"/>
                <a:cs typeface="Arial" pitchFamily="34" charset="-120"/>
              </a:rPr>
              <a:t>He et al.(2025)은 </a:t>
            </a:r>
            <a:pPr indent="0" marL="0">
              <a:lnSpc>
                <a:spcPts val="1560"/>
              </a:lnSpc>
              <a:buNone/>
            </a:pPr>
            <a:r>
              <a:rPr lang="en-US" sz="950" i="1" dirty="0">
                <a:solidFill>
                  <a:srgbClr val="1F2226"/>
                </a:solidFill>
                <a:latin typeface="Arial" pitchFamily="34" charset="0"/>
                <a:ea typeface="Arial" pitchFamily="34" charset="-122"/>
                <a:cs typeface="Arial" pitchFamily="34" charset="-120"/>
              </a:rPr>
              <a:t>“the line between AI and human ownership over co-created work becomes blurrier”</a:t>
            </a:r>
            <a:pPr indent="0" marL="0">
              <a:lnSpc>
                <a:spcPts val="1560"/>
              </a:lnSpc>
              <a:buNone/>
            </a:pPr>
            <a:r>
              <a:rPr lang="en-US" sz="950" dirty="0">
                <a:solidFill>
                  <a:srgbClr val="1F2226"/>
                </a:solidFill>
                <a:latin typeface="Arial" pitchFamily="34" charset="0"/>
                <a:ea typeface="Arial" pitchFamily="34" charset="-122"/>
                <a:cs typeface="Arial" pitchFamily="34" charset="-120"/>
              </a:rPr>
              <a:t>(p.2)로 문제를 열지만, 다룬 것은 창작물의 크레딧 배분이다
</a:t>
            </a:r>
            <a:pPr indent="0" marL="0">
              <a:lnSpc>
                <a:spcPts val="1560"/>
              </a:lnSpc>
              <a:buNone/>
            </a:pPr>
            <a:r>
              <a:rPr lang="en-US" sz="950" dirty="0">
                <a:solidFill>
                  <a:srgbClr val="1F2226"/>
                </a:solidFill>
                <a:latin typeface="Arial" pitchFamily="34" charset="0"/>
                <a:ea typeface="Arial" pitchFamily="34" charset="-122"/>
                <a:cs typeface="Arial" pitchFamily="34" charset="-120"/>
              </a:rPr>
              <a:t>                 Hartmann &amp; Slapničar(2012)는 정의 효과가 </a:t>
            </a:r>
            <a:pPr indent="0" marL="0">
              <a:lnSpc>
                <a:spcPts val="1560"/>
              </a:lnSpc>
              <a:buNone/>
            </a:pPr>
            <a:r>
              <a:rPr lang="en-US" sz="950" i="1" dirty="0">
                <a:solidFill>
                  <a:srgbClr val="1F2226"/>
                </a:solidFill>
                <a:latin typeface="Arial" pitchFamily="34" charset="0"/>
                <a:ea typeface="Arial" pitchFamily="34" charset="-122"/>
                <a:cs typeface="Arial" pitchFamily="34" charset="-120"/>
              </a:rPr>
              <a:t>“conditional on … task uncertainty”</a:t>
            </a:r>
            <a:pPr indent="0" marL="0">
              <a:lnSpc>
                <a:spcPts val="1560"/>
              </a:lnSpc>
              <a:buNone/>
            </a:pPr>
            <a:r>
              <a:rPr lang="en-US" sz="950" dirty="0">
                <a:solidFill>
                  <a:srgbClr val="1F2226"/>
                </a:solidFill>
                <a:latin typeface="Arial" pitchFamily="34" charset="0"/>
                <a:ea typeface="Arial" pitchFamily="34" charset="-122"/>
                <a:cs typeface="Arial" pitchFamily="34" charset="-120"/>
              </a:rPr>
              <a:t>라고 적는다 — 조절이지 매개가 아니다</a:t>
            </a:r>
            <a:endParaRPr lang="en-US" sz="950" dirty="0"/>
          </a:p>
        </p:txBody>
      </p:sp>
      <p:sp>
        <p:nvSpPr>
          <p:cNvPr id="15" name="Shape 12"/>
          <p:cNvSpPr/>
          <p:nvPr/>
        </p:nvSpPr>
        <p:spPr>
          <a:xfrm rot="5400000">
            <a:off x="811987" y="7659014"/>
            <a:ext cx="241402" cy="208483"/>
          </a:xfrm>
          <a:prstGeom prst="triangle">
            <a:avLst/>
          </a:prstGeom>
          <a:solidFill>
            <a:srgbClr val="1F2226"/>
          </a:solidFill>
          <a:ln/>
        </p:spPr>
      </p:sp>
      <p:sp>
        <p:nvSpPr>
          <p:cNvPr id="16" name="Text 13"/>
          <p:cNvSpPr/>
          <p:nvPr/>
        </p:nvSpPr>
        <p:spPr>
          <a:xfrm>
            <a:off x="1152144" y="7571232"/>
            <a:ext cx="8778240" cy="351130"/>
          </a:xfrm>
          <a:prstGeom prst="rect">
            <a:avLst/>
          </a:prstGeom>
          <a:noFill/>
          <a:ln/>
        </p:spPr>
        <p:txBody>
          <a:bodyPr wrap="square" lIns="0" tIns="0" rIns="0" bIns="0" rtlCol="0" anchor="ctr"/>
          <a:lstStyle/>
          <a:p>
            <a:pPr indent="0" marL="0">
              <a:buNone/>
            </a:pPr>
            <a:r>
              <a:rPr lang="en-US" sz="1350" b="1" dirty="0">
                <a:solidFill>
                  <a:srgbClr val="2A2D31"/>
                </a:solidFill>
                <a:latin typeface="Arial" pitchFamily="34" charset="0"/>
                <a:ea typeface="Arial" pitchFamily="34" charset="-122"/>
                <a:cs typeface="Arial" pitchFamily="34" charset="-120"/>
              </a:rPr>
              <a:t>세 조건을 동시에 충족하는 연구는 확인되지 않는다 — 본 연구가 다루는 공백이다</a:t>
            </a:r>
            <a:endParaRPr lang="en-US" sz="1350" dirty="0"/>
          </a:p>
        </p:txBody>
      </p:sp>
      <p:sp>
        <p:nvSpPr>
          <p:cNvPr id="17" name="Text 14"/>
          <p:cNvSpPr/>
          <p:nvPr/>
        </p:nvSpPr>
        <p:spPr>
          <a:xfrm>
            <a:off x="9765792" y="7571232"/>
            <a:ext cx="2633472" cy="307238"/>
          </a:xfrm>
          <a:prstGeom prst="rect">
            <a:avLst/>
          </a:prstGeom>
          <a:noFill/>
          <a:ln/>
        </p:spPr>
        <p:txBody>
          <a:bodyPr wrap="square" lIns="0" tIns="0" rIns="0" bIns="0" rtlCol="0" anchor="ctr"/>
          <a:lstStyle/>
          <a:p>
            <a:pPr algn="r" indent="0" marL="0">
              <a:buNone/>
            </a:pPr>
            <a:r>
              <a:rPr lang="en-US" sz="1000" dirty="0">
                <a:solidFill>
                  <a:srgbClr val="70757C"/>
                </a:solidFill>
                <a:latin typeface="Arial" pitchFamily="34" charset="0"/>
                <a:ea typeface="Arial" pitchFamily="34" charset="-122"/>
                <a:cs typeface="Arial" pitchFamily="34" charset="-120"/>
              </a:rPr>
              <a:t>△ = 부분적으로 해당</a:t>
            </a:r>
            <a:endParaRPr lang="en-US" sz="1000" dirty="0"/>
          </a:p>
        </p:txBody>
      </p:sp>
      <p:sp>
        <p:nvSpPr>
          <p:cNvPr id="18" name="Text 15"/>
          <p:cNvSpPr/>
          <p:nvPr/>
        </p:nvSpPr>
        <p:spPr>
          <a:xfrm>
            <a:off x="12508992" y="7626096"/>
            <a:ext cx="1448410" cy="307238"/>
          </a:xfrm>
          <a:prstGeom prst="rect">
            <a:avLst/>
          </a:prstGeom>
          <a:noFill/>
          <a:ln/>
        </p:spPr>
        <p:txBody>
          <a:bodyPr wrap="square" lIns="0" tIns="0" rIns="0" bIns="0" rtlCol="0" anchor="ctr"/>
          <a:lstStyle/>
          <a:p>
            <a:pPr algn="r" indent="0" marL="0">
              <a:buNone/>
            </a:pPr>
            <a:r>
              <a:rPr lang="en-US" sz="1000" dirty="0">
                <a:solidFill>
                  <a:srgbClr val="70757C"/>
                </a:solidFill>
                <a:latin typeface="Arial" pitchFamily="34" charset="0"/>
                <a:ea typeface="Arial" pitchFamily="34" charset="-122"/>
                <a:cs typeface="Arial" pitchFamily="34" charset="-120"/>
              </a:rPr>
              <a:t>02 / 07</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339328" y="329184"/>
            <a:ext cx="4992624" cy="285293"/>
          </a:xfrm>
          <a:prstGeom prst="rect">
            <a:avLst/>
          </a:prstGeom>
          <a:noFill/>
          <a:ln/>
        </p:spPr>
        <p:txBody>
          <a:bodyPr wrap="square" lIns="0" tIns="0" rIns="0" bIns="0" rtlCol="0" anchor="ctr"/>
          <a:lstStyle/>
          <a:p>
            <a:pPr algn="r" indent="0" marL="0">
              <a:buNone/>
            </a:pPr>
            <a:r>
              <a:rPr lang="en-US" sz="1050" dirty="0">
                <a:solidFill>
                  <a:srgbClr val="70757C"/>
                </a:solidFill>
                <a:latin typeface="Arial" pitchFamily="34" charset="0"/>
                <a:ea typeface="Arial" pitchFamily="34" charset="-122"/>
                <a:cs typeface="Arial" pitchFamily="34" charset="-120"/>
              </a:rPr>
              <a:t>2026학년도 석사학위논문</a:t>
            </a:r>
            <a:endParaRPr lang="en-US" sz="1050" dirty="0"/>
          </a:p>
        </p:txBody>
      </p:sp>
      <p:sp>
        <p:nvSpPr>
          <p:cNvPr id="3" name="Text 1"/>
          <p:cNvSpPr/>
          <p:nvPr/>
        </p:nvSpPr>
        <p:spPr>
          <a:xfrm>
            <a:off x="8339328" y="603504"/>
            <a:ext cx="4992624" cy="307238"/>
          </a:xfrm>
          <a:prstGeom prst="rect">
            <a:avLst/>
          </a:prstGeom>
          <a:noFill/>
          <a:ln/>
        </p:spPr>
        <p:txBody>
          <a:bodyPr wrap="square" lIns="0" tIns="0" rIns="0" bIns="0" rtlCol="0" anchor="ctr"/>
          <a:lstStyle/>
          <a:p>
            <a:pPr algn="r" indent="0" marL="0">
              <a:buNone/>
            </a:pPr>
            <a:r>
              <a:rPr lang="en-US" sz="1200" b="1" dirty="0">
                <a:solidFill>
                  <a:srgbClr val="1F2226"/>
                </a:solidFill>
                <a:latin typeface="Arial" pitchFamily="34" charset="0"/>
                <a:ea typeface="Arial" pitchFamily="34" charset="-122"/>
                <a:cs typeface="Arial" pitchFamily="34" charset="-120"/>
              </a:rPr>
              <a:t>프로포절 심사</a:t>
            </a:r>
            <a:endParaRPr lang="en-US" sz="1200" dirty="0"/>
          </a:p>
        </p:txBody>
      </p:sp>
      <p:sp>
        <p:nvSpPr>
          <p:cNvPr id="4" name="Shape 2"/>
          <p:cNvSpPr/>
          <p:nvPr/>
        </p:nvSpPr>
        <p:spPr>
          <a:xfrm>
            <a:off x="680314" y="1009498"/>
            <a:ext cx="13277088" cy="0"/>
          </a:xfrm>
          <a:prstGeom prst="line">
            <a:avLst/>
          </a:prstGeom>
          <a:noFill/>
          <a:ln w="12700">
            <a:solidFill>
              <a:srgbClr val="C9CDD3"/>
            </a:solidFill>
            <a:prstDash val="solid"/>
          </a:ln>
        </p:spPr>
      </p:sp>
      <p:sp>
        <p:nvSpPr>
          <p:cNvPr id="5" name="Shape 3"/>
          <p:cNvSpPr/>
          <p:nvPr/>
        </p:nvSpPr>
        <p:spPr>
          <a:xfrm>
            <a:off x="8339328" y="1009498"/>
            <a:ext cx="5618074" cy="0"/>
          </a:xfrm>
          <a:prstGeom prst="line">
            <a:avLst/>
          </a:prstGeom>
          <a:noFill/>
          <a:ln w="25400">
            <a:solidFill>
              <a:srgbClr val="8C2A32"/>
            </a:solidFill>
            <a:prstDash val="solid"/>
          </a:ln>
        </p:spPr>
      </p:sp>
      <p:sp>
        <p:nvSpPr>
          <p:cNvPr id="6" name="Shape 4"/>
          <p:cNvSpPr/>
          <p:nvPr/>
        </p:nvSpPr>
        <p:spPr>
          <a:xfrm>
            <a:off x="680314" y="1207008"/>
            <a:ext cx="899770" cy="899770"/>
          </a:xfrm>
          <a:prstGeom prst="ellipse">
            <a:avLst/>
          </a:prstGeom>
          <a:solidFill>
            <a:srgbClr val="FFFFFF">
              <a:alpha val="0"/>
            </a:srgbClr>
          </a:solidFill>
          <a:ln w="63500">
            <a:solidFill>
              <a:srgbClr val="8C2A32"/>
            </a:solidFill>
            <a:prstDash val="solid"/>
          </a:ln>
        </p:spPr>
      </p:sp>
      <p:sp>
        <p:nvSpPr>
          <p:cNvPr id="7" name="Shape 5"/>
          <p:cNvSpPr/>
          <p:nvPr/>
        </p:nvSpPr>
        <p:spPr>
          <a:xfrm>
            <a:off x="1207008" y="1119226"/>
            <a:ext cx="680314" cy="1075334"/>
          </a:xfrm>
          <a:prstGeom prst="rect">
            <a:avLst/>
          </a:prstGeom>
          <a:solidFill>
            <a:srgbClr val="FFFFFF"/>
          </a:solidFill>
          <a:ln w="12700">
            <a:solidFill>
              <a:srgbClr val="FFFFFF"/>
            </a:solidFill>
            <a:prstDash val="solid"/>
          </a:ln>
        </p:spPr>
      </p:sp>
      <p:sp>
        <p:nvSpPr>
          <p:cNvPr id="8" name="Text 6"/>
          <p:cNvSpPr/>
          <p:nvPr/>
        </p:nvSpPr>
        <p:spPr>
          <a:xfrm>
            <a:off x="1119226" y="1207008"/>
            <a:ext cx="12508992" cy="899770"/>
          </a:xfrm>
          <a:prstGeom prst="rect">
            <a:avLst/>
          </a:prstGeom>
          <a:noFill/>
          <a:ln/>
        </p:spPr>
        <p:txBody>
          <a:bodyPr wrap="square" lIns="0" tIns="0" rIns="0" bIns="0" rtlCol="0" anchor="ctr"/>
          <a:lstStyle/>
          <a:p>
            <a:pPr indent="0" marL="0">
              <a:buNone/>
            </a:pPr>
            <a:r>
              <a:rPr lang="en-US" sz="2600" b="1" dirty="0">
                <a:solidFill>
                  <a:srgbClr val="1F2226"/>
                </a:solidFill>
                <a:latin typeface="Arial" pitchFamily="34" charset="0"/>
                <a:ea typeface="Arial" pitchFamily="34" charset="-122"/>
                <a:cs typeface="Arial" pitchFamily="34" charset="-120"/>
              </a:rPr>
              <a:t>03.  연구 목적</a:t>
            </a:r>
            <a:endParaRPr lang="en-US" sz="2600" dirty="0"/>
          </a:p>
        </p:txBody>
      </p:sp>
      <p:sp>
        <p:nvSpPr>
          <p:cNvPr id="9" name="Text 7"/>
          <p:cNvSpPr/>
          <p:nvPr/>
        </p:nvSpPr>
        <p:spPr>
          <a:xfrm>
            <a:off x="790042" y="2348179"/>
            <a:ext cx="13057632" cy="373075"/>
          </a:xfrm>
          <a:prstGeom prst="rect">
            <a:avLst/>
          </a:prstGeom>
          <a:noFill/>
          <a:ln/>
        </p:spPr>
        <p:txBody>
          <a:bodyPr wrap="square" lIns="0" tIns="0" rIns="0" bIns="0" rtlCol="0" anchor="ctr"/>
          <a:lstStyle/>
          <a:p>
            <a:pPr indent="0" marL="0">
              <a:buNone/>
            </a:pPr>
            <a:r>
              <a:rPr lang="en-US" sz="1500" b="1" dirty="0">
                <a:solidFill>
                  <a:srgbClr val="2A2D31"/>
                </a:solidFill>
                <a:latin typeface="Arial" pitchFamily="34" charset="0"/>
                <a:ea typeface="Arial" pitchFamily="34" charset="-122"/>
                <a:cs typeface="Arial" pitchFamily="34" charset="-120"/>
              </a:rPr>
              <a:t>→  귀속 모호성이 평가받는 사람의 공정성 지각에 이르는 경로를, 그 사이의 심리적 기제와 함께 규명한다</a:t>
            </a:r>
            <a:endParaRPr lang="en-US" sz="1500" dirty="0"/>
          </a:p>
        </p:txBody>
      </p:sp>
      <p:sp>
        <p:nvSpPr>
          <p:cNvPr id="10" name="Shape 8"/>
          <p:cNvSpPr/>
          <p:nvPr/>
        </p:nvSpPr>
        <p:spPr>
          <a:xfrm>
            <a:off x="768096" y="2918765"/>
            <a:ext cx="13112496" cy="943661"/>
          </a:xfrm>
          <a:prstGeom prst="rect">
            <a:avLst/>
          </a:prstGeom>
          <a:solidFill>
            <a:srgbClr val="F7F8F9"/>
          </a:solidFill>
          <a:ln w="12700">
            <a:solidFill>
              <a:srgbClr val="C9CDD3"/>
            </a:solidFill>
            <a:prstDash val="solid"/>
          </a:ln>
        </p:spPr>
      </p:sp>
      <p:sp>
        <p:nvSpPr>
          <p:cNvPr id="11" name="Text 9"/>
          <p:cNvSpPr/>
          <p:nvPr/>
        </p:nvSpPr>
        <p:spPr>
          <a:xfrm>
            <a:off x="1097280" y="2918765"/>
            <a:ext cx="1097280" cy="943661"/>
          </a:xfrm>
          <a:prstGeom prst="rect">
            <a:avLst/>
          </a:prstGeom>
          <a:noFill/>
          <a:ln/>
        </p:spPr>
        <p:txBody>
          <a:bodyPr wrap="square" lIns="0" tIns="0" rIns="0" bIns="0" rtlCol="0" anchor="ctr"/>
          <a:lstStyle/>
          <a:p>
            <a:pPr indent="0" marL="0">
              <a:buNone/>
            </a:pPr>
            <a:r>
              <a:rPr lang="en-US" sz="1450" b="1" dirty="0">
                <a:solidFill>
                  <a:srgbClr val="1F2226"/>
                </a:solidFill>
                <a:latin typeface="Arial" pitchFamily="34" charset="0"/>
                <a:ea typeface="Arial" pitchFamily="34" charset="-122"/>
                <a:cs typeface="Arial" pitchFamily="34" charset="-120"/>
              </a:rPr>
              <a:t>첫째</a:t>
            </a:r>
            <a:endParaRPr lang="en-US" sz="1450" dirty="0"/>
          </a:p>
        </p:txBody>
      </p:sp>
      <p:sp>
        <p:nvSpPr>
          <p:cNvPr id="12" name="Text 10"/>
          <p:cNvSpPr/>
          <p:nvPr/>
        </p:nvSpPr>
        <p:spPr>
          <a:xfrm>
            <a:off x="2249424" y="3072384"/>
            <a:ext cx="3621024" cy="329184"/>
          </a:xfrm>
          <a:prstGeom prst="rect">
            <a:avLst/>
          </a:prstGeom>
          <a:noFill/>
          <a:ln/>
        </p:spPr>
        <p:txBody>
          <a:bodyPr wrap="square" lIns="0" tIns="0" rIns="0" bIns="0" rtlCol="0" anchor="ctr"/>
          <a:lstStyle/>
          <a:p>
            <a:pPr indent="0" marL="0">
              <a:buNone/>
            </a:pPr>
            <a:r>
              <a:rPr lang="en-US" sz="1350" b="1" dirty="0">
                <a:solidFill>
                  <a:srgbClr val="1F2226"/>
                </a:solidFill>
                <a:latin typeface="Arial" pitchFamily="34" charset="0"/>
                <a:ea typeface="Arial" pitchFamily="34" charset="-122"/>
                <a:cs typeface="Arial" pitchFamily="34" charset="-120"/>
              </a:rPr>
              <a:t>탐색에서 확인으로</a:t>
            </a:r>
            <a:endParaRPr lang="en-US" sz="1350" dirty="0"/>
          </a:p>
        </p:txBody>
      </p:sp>
      <p:sp>
        <p:nvSpPr>
          <p:cNvPr id="13" name="Text 11"/>
          <p:cNvSpPr/>
          <p:nvPr/>
        </p:nvSpPr>
        <p:spPr>
          <a:xfrm>
            <a:off x="2249424" y="3401568"/>
            <a:ext cx="10972800" cy="351130"/>
          </a:xfrm>
          <a:prstGeom prst="rect">
            <a:avLst/>
          </a:prstGeom>
          <a:noFill/>
          <a:ln/>
        </p:spPr>
        <p:txBody>
          <a:bodyPr wrap="square" lIns="0" tIns="0" rIns="0" bIns="0" rtlCol="0" anchor="ctr"/>
          <a:lstStyle/>
          <a:p>
            <a:pPr indent="0" marL="0">
              <a:buNone/>
            </a:pPr>
            <a:r>
              <a:rPr lang="en-US" sz="1250" dirty="0">
                <a:solidFill>
                  <a:srgbClr val="70757C"/>
                </a:solidFill>
                <a:latin typeface="Arial" pitchFamily="34" charset="0"/>
                <a:ea typeface="Arial" pitchFamily="34" charset="-122"/>
                <a:cs typeface="Arial" pitchFamily="34" charset="-120"/>
              </a:rPr>
              <a:t>선행연구가 시사한 「귀속의 어려움 → 공정성 지각」 관계를 이론 기반의 확인적 가설로 정식화한다</a:t>
            </a:r>
            <a:endParaRPr lang="en-US" sz="1250" dirty="0"/>
          </a:p>
        </p:txBody>
      </p:sp>
      <p:sp>
        <p:nvSpPr>
          <p:cNvPr id="14" name="Shape 12"/>
          <p:cNvSpPr/>
          <p:nvPr/>
        </p:nvSpPr>
        <p:spPr>
          <a:xfrm>
            <a:off x="768096" y="3994099"/>
            <a:ext cx="13112496" cy="943661"/>
          </a:xfrm>
          <a:prstGeom prst="rect">
            <a:avLst/>
          </a:prstGeom>
          <a:solidFill>
            <a:srgbClr val="EDEEF0"/>
          </a:solidFill>
          <a:ln w="12700">
            <a:solidFill>
              <a:srgbClr val="E2D2D1"/>
            </a:solidFill>
            <a:prstDash val="solid"/>
          </a:ln>
        </p:spPr>
      </p:sp>
      <p:sp>
        <p:nvSpPr>
          <p:cNvPr id="15" name="Text 13"/>
          <p:cNvSpPr/>
          <p:nvPr/>
        </p:nvSpPr>
        <p:spPr>
          <a:xfrm>
            <a:off x="1097280" y="3994099"/>
            <a:ext cx="1097280" cy="943661"/>
          </a:xfrm>
          <a:prstGeom prst="rect">
            <a:avLst/>
          </a:prstGeom>
          <a:noFill/>
          <a:ln/>
        </p:spPr>
        <p:txBody>
          <a:bodyPr wrap="square" lIns="0" tIns="0" rIns="0" bIns="0" rtlCol="0" anchor="ctr"/>
          <a:lstStyle/>
          <a:p>
            <a:pPr indent="0" marL="0">
              <a:buNone/>
            </a:pPr>
            <a:r>
              <a:rPr lang="en-US" sz="1450" b="1" dirty="0">
                <a:solidFill>
                  <a:srgbClr val="1F2226"/>
                </a:solidFill>
                <a:latin typeface="Arial" pitchFamily="34" charset="0"/>
                <a:ea typeface="Arial" pitchFamily="34" charset="-122"/>
                <a:cs typeface="Arial" pitchFamily="34" charset="-120"/>
              </a:rPr>
              <a:t>둘째</a:t>
            </a:r>
            <a:endParaRPr lang="en-US" sz="1450" dirty="0"/>
          </a:p>
        </p:txBody>
      </p:sp>
      <p:sp>
        <p:nvSpPr>
          <p:cNvPr id="16" name="Text 14"/>
          <p:cNvSpPr/>
          <p:nvPr/>
        </p:nvSpPr>
        <p:spPr>
          <a:xfrm>
            <a:off x="2249424" y="4147718"/>
            <a:ext cx="3621024" cy="329184"/>
          </a:xfrm>
          <a:prstGeom prst="rect">
            <a:avLst/>
          </a:prstGeom>
          <a:noFill/>
          <a:ln/>
        </p:spPr>
        <p:txBody>
          <a:bodyPr wrap="square" lIns="0" tIns="0" rIns="0" bIns="0" rtlCol="0" anchor="ctr"/>
          <a:lstStyle/>
          <a:p>
            <a:pPr indent="0" marL="0">
              <a:buNone/>
            </a:pPr>
            <a:r>
              <a:rPr lang="en-US" sz="1350" b="1" dirty="0">
                <a:solidFill>
                  <a:srgbClr val="1F2226"/>
                </a:solidFill>
                <a:latin typeface="Arial" pitchFamily="34" charset="0"/>
                <a:ea typeface="Arial" pitchFamily="34" charset="-122"/>
                <a:cs typeface="Arial" pitchFamily="34" charset="-120"/>
              </a:rPr>
              <a:t>현상에서 기제로</a:t>
            </a:r>
            <a:endParaRPr lang="en-US" sz="1350" dirty="0"/>
          </a:p>
        </p:txBody>
      </p:sp>
      <p:sp>
        <p:nvSpPr>
          <p:cNvPr id="17" name="Text 15"/>
          <p:cNvSpPr/>
          <p:nvPr/>
        </p:nvSpPr>
        <p:spPr>
          <a:xfrm>
            <a:off x="2249424" y="4476902"/>
            <a:ext cx="10972800" cy="351130"/>
          </a:xfrm>
          <a:prstGeom prst="rect">
            <a:avLst/>
          </a:prstGeom>
          <a:noFill/>
          <a:ln/>
        </p:spPr>
        <p:txBody>
          <a:bodyPr wrap="square" lIns="0" tIns="0" rIns="0" bIns="0" rtlCol="0" anchor="ctr"/>
          <a:lstStyle/>
          <a:p>
            <a:pPr indent="0" marL="0">
              <a:buNone/>
            </a:pPr>
            <a:r>
              <a:rPr lang="en-US" sz="1250" dirty="0">
                <a:solidFill>
                  <a:srgbClr val="70757C"/>
                </a:solidFill>
                <a:latin typeface="Arial" pitchFamily="34" charset="0"/>
                <a:ea typeface="Arial" pitchFamily="34" charset="-122"/>
                <a:cs typeface="Arial" pitchFamily="34" charset="-120"/>
              </a:rPr>
              <a:t>지각된 평가 불확실성을 매개변수로 놓아, 그 관계가 어떤 경로를 거치는지 실증한다</a:t>
            </a:r>
            <a:endParaRPr lang="en-US" sz="1250" dirty="0"/>
          </a:p>
        </p:txBody>
      </p:sp>
      <p:sp>
        <p:nvSpPr>
          <p:cNvPr id="18" name="Shape 16"/>
          <p:cNvSpPr/>
          <p:nvPr/>
        </p:nvSpPr>
        <p:spPr>
          <a:xfrm>
            <a:off x="768096" y="5069434"/>
            <a:ext cx="13112496" cy="943661"/>
          </a:xfrm>
          <a:prstGeom prst="rect">
            <a:avLst/>
          </a:prstGeom>
          <a:solidFill>
            <a:srgbClr val="F7F8F9"/>
          </a:solidFill>
          <a:ln w="12700">
            <a:solidFill>
              <a:srgbClr val="C9CDD3"/>
            </a:solidFill>
            <a:prstDash val="solid"/>
          </a:ln>
        </p:spPr>
      </p:sp>
      <p:sp>
        <p:nvSpPr>
          <p:cNvPr id="19" name="Text 17"/>
          <p:cNvSpPr/>
          <p:nvPr/>
        </p:nvSpPr>
        <p:spPr>
          <a:xfrm>
            <a:off x="1097280" y="5069434"/>
            <a:ext cx="1097280" cy="943661"/>
          </a:xfrm>
          <a:prstGeom prst="rect">
            <a:avLst/>
          </a:prstGeom>
          <a:noFill/>
          <a:ln/>
        </p:spPr>
        <p:txBody>
          <a:bodyPr wrap="square" lIns="0" tIns="0" rIns="0" bIns="0" rtlCol="0" anchor="ctr"/>
          <a:lstStyle/>
          <a:p>
            <a:pPr indent="0" marL="0">
              <a:buNone/>
            </a:pPr>
            <a:r>
              <a:rPr lang="en-US" sz="1450" b="1" dirty="0">
                <a:solidFill>
                  <a:srgbClr val="1F2226"/>
                </a:solidFill>
                <a:latin typeface="Arial" pitchFamily="34" charset="0"/>
                <a:ea typeface="Arial" pitchFamily="34" charset="-122"/>
                <a:cs typeface="Arial" pitchFamily="34" charset="-120"/>
              </a:rPr>
              <a:t>셋째</a:t>
            </a:r>
            <a:endParaRPr lang="en-US" sz="1450" dirty="0"/>
          </a:p>
        </p:txBody>
      </p:sp>
      <p:sp>
        <p:nvSpPr>
          <p:cNvPr id="20" name="Text 18"/>
          <p:cNvSpPr/>
          <p:nvPr/>
        </p:nvSpPr>
        <p:spPr>
          <a:xfrm>
            <a:off x="2249424" y="5223053"/>
            <a:ext cx="3621024" cy="329184"/>
          </a:xfrm>
          <a:prstGeom prst="rect">
            <a:avLst/>
          </a:prstGeom>
          <a:noFill/>
          <a:ln/>
        </p:spPr>
        <p:txBody>
          <a:bodyPr wrap="square" lIns="0" tIns="0" rIns="0" bIns="0" rtlCol="0" anchor="ctr"/>
          <a:lstStyle/>
          <a:p>
            <a:pPr indent="0" marL="0">
              <a:buNone/>
            </a:pPr>
            <a:r>
              <a:rPr lang="en-US" sz="1350" b="1" dirty="0">
                <a:solidFill>
                  <a:srgbClr val="1F2226"/>
                </a:solidFill>
                <a:latin typeface="Arial" pitchFamily="34" charset="0"/>
                <a:ea typeface="Arial" pitchFamily="34" charset="-122"/>
                <a:cs typeface="Arial" pitchFamily="34" charset="-120"/>
              </a:rPr>
              <a:t>이론의 새 맥락 적용</a:t>
            </a:r>
            <a:endParaRPr lang="en-US" sz="1350" dirty="0"/>
          </a:p>
        </p:txBody>
      </p:sp>
      <p:sp>
        <p:nvSpPr>
          <p:cNvPr id="21" name="Text 19"/>
          <p:cNvSpPr/>
          <p:nvPr/>
        </p:nvSpPr>
        <p:spPr>
          <a:xfrm>
            <a:off x="2249424" y="5552237"/>
            <a:ext cx="10972800" cy="351130"/>
          </a:xfrm>
          <a:prstGeom prst="rect">
            <a:avLst/>
          </a:prstGeom>
          <a:noFill/>
          <a:ln/>
        </p:spPr>
        <p:txBody>
          <a:bodyPr wrap="square" lIns="0" tIns="0" rIns="0" bIns="0" rtlCol="0" anchor="ctr"/>
          <a:lstStyle/>
          <a:p>
            <a:pPr indent="0" marL="0">
              <a:buNone/>
            </a:pPr>
            <a:r>
              <a:rPr lang="en-US" sz="1250" dirty="0">
                <a:solidFill>
                  <a:srgbClr val="70757C"/>
                </a:solidFill>
                <a:latin typeface="Arial" pitchFamily="34" charset="0"/>
                <a:ea typeface="Arial" pitchFamily="34" charset="-122"/>
                <a:cs typeface="Arial" pitchFamily="34" charset="-120"/>
              </a:rPr>
              <a:t>절차공정성 구성개념을 AI 협업 성과평가 맥락에 적용하고, 절차 명확화의 완화 범위를 검정한다</a:t>
            </a:r>
            <a:endParaRPr lang="en-US" sz="1250" dirty="0"/>
          </a:p>
        </p:txBody>
      </p:sp>
      <p:sp>
        <p:nvSpPr>
          <p:cNvPr id="22" name="Text 20"/>
          <p:cNvSpPr/>
          <p:nvPr/>
        </p:nvSpPr>
        <p:spPr>
          <a:xfrm>
            <a:off x="768096" y="6309360"/>
            <a:ext cx="3511296" cy="329184"/>
          </a:xfrm>
          <a:prstGeom prst="rect">
            <a:avLst/>
          </a:prstGeom>
          <a:noFill/>
          <a:ln/>
        </p:spPr>
        <p:txBody>
          <a:bodyPr wrap="square" lIns="0" tIns="0" rIns="0" bIns="0" rtlCol="0" anchor="ctr"/>
          <a:lstStyle/>
          <a:p>
            <a:pPr algn="l" indent="0" marL="0">
              <a:buNone/>
            </a:pPr>
            <a:r>
              <a:rPr lang="en-US" sz="1300" b="1" dirty="0">
                <a:solidFill>
                  <a:srgbClr val="1F2226"/>
                </a:solidFill>
                <a:latin typeface="Arial" pitchFamily="34" charset="0"/>
                <a:ea typeface="Arial" pitchFamily="34" charset="-122"/>
                <a:cs typeface="Arial" pitchFamily="34" charset="-120"/>
              </a:rPr>
              <a:t>【 범위를 좁힌 근거 】</a:t>
            </a:r>
            <a:endParaRPr lang="en-US" sz="1300" dirty="0"/>
          </a:p>
        </p:txBody>
      </p:sp>
      <p:sp>
        <p:nvSpPr>
          <p:cNvPr id="23" name="Text 21"/>
          <p:cNvSpPr/>
          <p:nvPr/>
        </p:nvSpPr>
        <p:spPr>
          <a:xfrm>
            <a:off x="822960" y="6693408"/>
            <a:ext cx="13002768" cy="658368"/>
          </a:xfrm>
          <a:prstGeom prst="rect">
            <a:avLst/>
          </a:prstGeom>
          <a:noFill/>
          <a:ln/>
        </p:spPr>
        <p:txBody>
          <a:bodyPr wrap="square" lIns="0" tIns="0" rIns="0" bIns="0" rtlCol="0" anchor="ctr"/>
          <a:lstStyle/>
          <a:p>
            <a:pPr indent="0" marL="0">
              <a:lnSpc>
                <a:spcPts val="2040"/>
              </a:lnSpc>
              <a:buNone/>
            </a:pPr>
            <a:r>
              <a:rPr lang="en-US" sz="1150" dirty="0">
                <a:solidFill>
                  <a:srgbClr val="1F2226"/>
                </a:solidFill>
                <a:latin typeface="Arial" pitchFamily="34" charset="0"/>
                <a:ea typeface="Arial" pitchFamily="34" charset="-122"/>
                <a:cs typeface="Arial" pitchFamily="34" charset="-120"/>
              </a:rPr>
              <a:t>대상   AI를 업무 전 과정에서 활용하면서도 산출물이 개인 단위로 평가되는 IT 개발직으로 한정한다 — 협업 결합도를 조작하지 않고 통제하기 위해서다</a:t>
            </a:r>
            <a:endParaRPr lang="en-US" sz="1150" dirty="0"/>
          </a:p>
          <a:p>
            <a:pPr indent="0" marL="0">
              <a:lnSpc>
                <a:spcPts val="2040"/>
              </a:lnSpc>
              <a:buNone/>
            </a:pPr>
            <a:r>
              <a:rPr lang="en-US" sz="1150" dirty="0">
                <a:solidFill>
                  <a:srgbClr val="1F2226"/>
                </a:solidFill>
                <a:latin typeface="Arial" pitchFamily="34" charset="0"/>
                <a:ea typeface="Arial" pitchFamily="34" charset="-122"/>
                <a:cs typeface="Arial" pitchFamily="34" charset="-120"/>
              </a:rPr>
              <a:t>종속변수   절차공정성 전반이 아니라 본 연구의 이론 층이 지목하는 일관성·편향 억제 두 측면을 본다</a:t>
            </a:r>
            <a:endParaRPr lang="en-US" sz="1150" dirty="0"/>
          </a:p>
        </p:txBody>
      </p:sp>
      <p:sp>
        <p:nvSpPr>
          <p:cNvPr id="24" name="Text 22"/>
          <p:cNvSpPr/>
          <p:nvPr/>
        </p:nvSpPr>
        <p:spPr>
          <a:xfrm>
            <a:off x="12508992" y="7626096"/>
            <a:ext cx="1448410" cy="307238"/>
          </a:xfrm>
          <a:prstGeom prst="rect">
            <a:avLst/>
          </a:prstGeom>
          <a:noFill/>
          <a:ln/>
        </p:spPr>
        <p:txBody>
          <a:bodyPr wrap="square" lIns="0" tIns="0" rIns="0" bIns="0" rtlCol="0" anchor="ctr"/>
          <a:lstStyle/>
          <a:p>
            <a:pPr algn="r" indent="0" marL="0">
              <a:buNone/>
            </a:pPr>
            <a:r>
              <a:rPr lang="en-US" sz="1000" dirty="0">
                <a:solidFill>
                  <a:srgbClr val="70757C"/>
                </a:solidFill>
                <a:latin typeface="Arial" pitchFamily="34" charset="0"/>
                <a:ea typeface="Arial" pitchFamily="34" charset="-122"/>
                <a:cs typeface="Arial" pitchFamily="34" charset="-120"/>
              </a:rPr>
              <a:t>03 / 07</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339328" y="329184"/>
            <a:ext cx="4992624" cy="285293"/>
          </a:xfrm>
          <a:prstGeom prst="rect">
            <a:avLst/>
          </a:prstGeom>
          <a:noFill/>
          <a:ln/>
        </p:spPr>
        <p:txBody>
          <a:bodyPr wrap="square" lIns="0" tIns="0" rIns="0" bIns="0" rtlCol="0" anchor="ctr"/>
          <a:lstStyle/>
          <a:p>
            <a:pPr algn="r" indent="0" marL="0">
              <a:buNone/>
            </a:pPr>
            <a:r>
              <a:rPr lang="en-US" sz="1050" dirty="0">
                <a:solidFill>
                  <a:srgbClr val="70757C"/>
                </a:solidFill>
                <a:latin typeface="Arial" pitchFamily="34" charset="0"/>
                <a:ea typeface="Arial" pitchFamily="34" charset="-122"/>
                <a:cs typeface="Arial" pitchFamily="34" charset="-120"/>
              </a:rPr>
              <a:t>2026학년도 석사학위논문</a:t>
            </a:r>
            <a:endParaRPr lang="en-US" sz="1050" dirty="0"/>
          </a:p>
        </p:txBody>
      </p:sp>
      <p:sp>
        <p:nvSpPr>
          <p:cNvPr id="3" name="Text 1"/>
          <p:cNvSpPr/>
          <p:nvPr/>
        </p:nvSpPr>
        <p:spPr>
          <a:xfrm>
            <a:off x="8339328" y="603504"/>
            <a:ext cx="4992624" cy="307238"/>
          </a:xfrm>
          <a:prstGeom prst="rect">
            <a:avLst/>
          </a:prstGeom>
          <a:noFill/>
          <a:ln/>
        </p:spPr>
        <p:txBody>
          <a:bodyPr wrap="square" lIns="0" tIns="0" rIns="0" bIns="0" rtlCol="0" anchor="ctr"/>
          <a:lstStyle/>
          <a:p>
            <a:pPr algn="r" indent="0" marL="0">
              <a:buNone/>
            </a:pPr>
            <a:r>
              <a:rPr lang="en-US" sz="1200" b="1" dirty="0">
                <a:solidFill>
                  <a:srgbClr val="1F2226"/>
                </a:solidFill>
                <a:latin typeface="Arial" pitchFamily="34" charset="0"/>
                <a:ea typeface="Arial" pitchFamily="34" charset="-122"/>
                <a:cs typeface="Arial" pitchFamily="34" charset="-120"/>
              </a:rPr>
              <a:t>프로포절 심사</a:t>
            </a:r>
            <a:endParaRPr lang="en-US" sz="1200" dirty="0"/>
          </a:p>
        </p:txBody>
      </p:sp>
      <p:sp>
        <p:nvSpPr>
          <p:cNvPr id="4" name="Shape 2"/>
          <p:cNvSpPr/>
          <p:nvPr/>
        </p:nvSpPr>
        <p:spPr>
          <a:xfrm>
            <a:off x="680314" y="1009498"/>
            <a:ext cx="13277088" cy="0"/>
          </a:xfrm>
          <a:prstGeom prst="line">
            <a:avLst/>
          </a:prstGeom>
          <a:noFill/>
          <a:ln w="12700">
            <a:solidFill>
              <a:srgbClr val="C9CDD3"/>
            </a:solidFill>
            <a:prstDash val="solid"/>
          </a:ln>
        </p:spPr>
      </p:sp>
      <p:sp>
        <p:nvSpPr>
          <p:cNvPr id="5" name="Shape 3"/>
          <p:cNvSpPr/>
          <p:nvPr/>
        </p:nvSpPr>
        <p:spPr>
          <a:xfrm>
            <a:off x="8339328" y="1009498"/>
            <a:ext cx="5618074" cy="0"/>
          </a:xfrm>
          <a:prstGeom prst="line">
            <a:avLst/>
          </a:prstGeom>
          <a:noFill/>
          <a:ln w="25400">
            <a:solidFill>
              <a:srgbClr val="8C2A32"/>
            </a:solidFill>
            <a:prstDash val="solid"/>
          </a:ln>
        </p:spPr>
      </p:sp>
      <p:sp>
        <p:nvSpPr>
          <p:cNvPr id="6" name="Shape 4"/>
          <p:cNvSpPr/>
          <p:nvPr/>
        </p:nvSpPr>
        <p:spPr>
          <a:xfrm>
            <a:off x="680314" y="1207008"/>
            <a:ext cx="899770" cy="899770"/>
          </a:xfrm>
          <a:prstGeom prst="ellipse">
            <a:avLst/>
          </a:prstGeom>
          <a:solidFill>
            <a:srgbClr val="FFFFFF">
              <a:alpha val="0"/>
            </a:srgbClr>
          </a:solidFill>
          <a:ln w="63500">
            <a:solidFill>
              <a:srgbClr val="8C2A32"/>
            </a:solidFill>
            <a:prstDash val="solid"/>
          </a:ln>
        </p:spPr>
      </p:sp>
      <p:sp>
        <p:nvSpPr>
          <p:cNvPr id="7" name="Shape 5"/>
          <p:cNvSpPr/>
          <p:nvPr/>
        </p:nvSpPr>
        <p:spPr>
          <a:xfrm>
            <a:off x="1207008" y="1119226"/>
            <a:ext cx="680314" cy="1075334"/>
          </a:xfrm>
          <a:prstGeom prst="rect">
            <a:avLst/>
          </a:prstGeom>
          <a:solidFill>
            <a:srgbClr val="FFFFFF"/>
          </a:solidFill>
          <a:ln w="12700">
            <a:solidFill>
              <a:srgbClr val="FFFFFF"/>
            </a:solidFill>
            <a:prstDash val="solid"/>
          </a:ln>
        </p:spPr>
      </p:sp>
      <p:sp>
        <p:nvSpPr>
          <p:cNvPr id="8" name="Text 6"/>
          <p:cNvSpPr/>
          <p:nvPr/>
        </p:nvSpPr>
        <p:spPr>
          <a:xfrm>
            <a:off x="1119226" y="1207008"/>
            <a:ext cx="12508992" cy="899770"/>
          </a:xfrm>
          <a:prstGeom prst="rect">
            <a:avLst/>
          </a:prstGeom>
          <a:noFill/>
          <a:ln/>
        </p:spPr>
        <p:txBody>
          <a:bodyPr wrap="square" lIns="0" tIns="0" rIns="0" bIns="0" rtlCol="0" anchor="ctr"/>
          <a:lstStyle/>
          <a:p>
            <a:pPr indent="0" marL="0">
              <a:buNone/>
            </a:pPr>
            <a:r>
              <a:rPr lang="en-US" sz="2600" b="1" dirty="0">
                <a:solidFill>
                  <a:srgbClr val="1F2226"/>
                </a:solidFill>
                <a:latin typeface="Arial" pitchFamily="34" charset="0"/>
                <a:ea typeface="Arial" pitchFamily="34" charset="-122"/>
                <a:cs typeface="Arial" pitchFamily="34" charset="-120"/>
              </a:rPr>
              <a:t>04.  학술적 기여</a:t>
            </a:r>
            <a:endParaRPr lang="en-US" sz="2600" dirty="0"/>
          </a:p>
        </p:txBody>
      </p:sp>
      <p:sp>
        <p:nvSpPr>
          <p:cNvPr id="9" name="Text 7"/>
          <p:cNvSpPr/>
          <p:nvPr/>
        </p:nvSpPr>
        <p:spPr>
          <a:xfrm>
            <a:off x="768096" y="2260397"/>
            <a:ext cx="7680960" cy="329184"/>
          </a:xfrm>
          <a:prstGeom prst="rect">
            <a:avLst/>
          </a:prstGeom>
          <a:noFill/>
          <a:ln/>
        </p:spPr>
        <p:txBody>
          <a:bodyPr wrap="square" lIns="0" tIns="0" rIns="0" bIns="0" rtlCol="0" anchor="ctr"/>
          <a:lstStyle/>
          <a:p>
            <a:pPr algn="l" indent="0" marL="0">
              <a:buNone/>
            </a:pPr>
            <a:r>
              <a:rPr lang="en-US" sz="1300" b="1" dirty="0">
                <a:solidFill>
                  <a:srgbClr val="1F2226"/>
                </a:solidFill>
                <a:latin typeface="Arial" pitchFamily="34" charset="0"/>
                <a:ea typeface="Arial" pitchFamily="34" charset="-122"/>
                <a:cs typeface="Arial" pitchFamily="34" charset="-120"/>
              </a:rPr>
              <a:t>【 선행연구에서 본 연구로 — 세 가지 전환 】</a:t>
            </a:r>
            <a:endParaRPr lang="en-US" sz="1300" dirty="0"/>
          </a:p>
        </p:txBody>
      </p:sp>
      <p:sp>
        <p:nvSpPr>
          <p:cNvPr id="10" name="Shape 8"/>
          <p:cNvSpPr/>
          <p:nvPr/>
        </p:nvSpPr>
        <p:spPr>
          <a:xfrm>
            <a:off x="790042" y="2830982"/>
            <a:ext cx="395021" cy="395021"/>
          </a:xfrm>
          <a:prstGeom prst="ellipse">
            <a:avLst/>
          </a:prstGeom>
          <a:solidFill>
            <a:srgbClr val="1F2226"/>
          </a:solidFill>
          <a:ln/>
        </p:spPr>
      </p:sp>
      <p:sp>
        <p:nvSpPr>
          <p:cNvPr id="11" name="Text 9"/>
          <p:cNvSpPr/>
          <p:nvPr/>
        </p:nvSpPr>
        <p:spPr>
          <a:xfrm>
            <a:off x="790042" y="2830982"/>
            <a:ext cx="395021" cy="395021"/>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2" name="Text 10"/>
          <p:cNvSpPr/>
          <p:nvPr/>
        </p:nvSpPr>
        <p:spPr>
          <a:xfrm>
            <a:off x="768096" y="3291840"/>
            <a:ext cx="1645920" cy="307238"/>
          </a:xfrm>
          <a:prstGeom prst="rect">
            <a:avLst/>
          </a:prstGeom>
          <a:noFill/>
          <a:ln/>
        </p:spPr>
        <p:txBody>
          <a:bodyPr wrap="square" lIns="0" tIns="0" rIns="0" bIns="0" rtlCol="0" anchor="ctr"/>
          <a:lstStyle/>
          <a:p>
            <a:pPr algn="ctr" indent="0" marL="0">
              <a:buNone/>
            </a:pPr>
            <a:r>
              <a:rPr lang="en-US" sz="1150" b="1" dirty="0">
                <a:solidFill>
                  <a:srgbClr val="1F2226"/>
                </a:solidFill>
                <a:latin typeface="Arial" pitchFamily="34" charset="0"/>
                <a:ea typeface="Arial" pitchFamily="34" charset="-122"/>
                <a:cs typeface="Arial" pitchFamily="34" charset="-120"/>
              </a:rPr>
              <a:t>질문의 전환</a:t>
            </a:r>
            <a:endParaRPr lang="en-US" sz="1150" dirty="0"/>
          </a:p>
        </p:txBody>
      </p:sp>
      <p:sp>
        <p:nvSpPr>
          <p:cNvPr id="13" name="Shape 11"/>
          <p:cNvSpPr/>
          <p:nvPr/>
        </p:nvSpPr>
        <p:spPr>
          <a:xfrm>
            <a:off x="2523744" y="2677363"/>
            <a:ext cx="4773168" cy="1031443"/>
          </a:xfrm>
          <a:prstGeom prst="rect">
            <a:avLst/>
          </a:prstGeom>
          <a:solidFill>
            <a:srgbClr val="F7F8F9"/>
          </a:solidFill>
          <a:ln w="12700">
            <a:solidFill>
              <a:srgbClr val="C9CDD3"/>
            </a:solidFill>
            <a:prstDash val="solid"/>
          </a:ln>
        </p:spPr>
      </p:sp>
      <p:sp>
        <p:nvSpPr>
          <p:cNvPr id="14" name="Text 12"/>
          <p:cNvSpPr/>
          <p:nvPr/>
        </p:nvSpPr>
        <p:spPr>
          <a:xfrm>
            <a:off x="2765146" y="2787091"/>
            <a:ext cx="4279392" cy="263347"/>
          </a:xfrm>
          <a:prstGeom prst="rect">
            <a:avLst/>
          </a:prstGeom>
          <a:noFill/>
          <a:ln/>
        </p:spPr>
        <p:txBody>
          <a:bodyPr wrap="square" lIns="0" tIns="0" rIns="0" bIns="0" rtlCol="0" anchor="ctr"/>
          <a:lstStyle/>
          <a:p>
            <a:pPr indent="0" marL="0">
              <a:buNone/>
            </a:pPr>
            <a:r>
              <a:rPr lang="en-US" sz="1000" dirty="0">
                <a:solidFill>
                  <a:srgbClr val="70757C"/>
                </a:solidFill>
                <a:latin typeface="Arial" pitchFamily="34" charset="0"/>
                <a:ea typeface="Arial" pitchFamily="34" charset="-122"/>
                <a:cs typeface="Arial" pitchFamily="34" charset="-120"/>
              </a:rPr>
              <a:t>지금까지</a:t>
            </a:r>
            <a:endParaRPr lang="en-US" sz="1000" dirty="0"/>
          </a:p>
        </p:txBody>
      </p:sp>
      <p:sp>
        <p:nvSpPr>
          <p:cNvPr id="15" name="Text 13"/>
          <p:cNvSpPr/>
          <p:nvPr/>
        </p:nvSpPr>
        <p:spPr>
          <a:xfrm>
            <a:off x="2765146" y="3050438"/>
            <a:ext cx="4334256" cy="570586"/>
          </a:xfrm>
          <a:prstGeom prst="rect">
            <a:avLst/>
          </a:prstGeom>
          <a:noFill/>
          <a:ln/>
        </p:spPr>
        <p:txBody>
          <a:bodyPr wrap="square" lIns="0" tIns="0" rIns="0" bIns="0" rtlCol="0" anchor="ctr"/>
          <a:lstStyle/>
          <a:p>
            <a:pPr indent="0" marL="0">
              <a:lnSpc>
                <a:spcPts val="2040"/>
              </a:lnSpc>
              <a:buNone/>
            </a:pPr>
            <a:r>
              <a:rPr lang="en-US" sz="1250" dirty="0">
                <a:solidFill>
                  <a:srgbClr val="1F2226"/>
                </a:solidFill>
                <a:latin typeface="Arial" pitchFamily="34" charset="0"/>
                <a:ea typeface="Arial" pitchFamily="34" charset="-122"/>
                <a:cs typeface="Arial" pitchFamily="34" charset="-120"/>
              </a:rPr>
              <a:t>「AI에게 얼마의 크레딧을 줄 것인가」</a:t>
            </a:r>
            <a:endParaRPr lang="en-US" sz="1250" dirty="0"/>
          </a:p>
          <a:p>
            <a:pPr indent="0" marL="0">
              <a:lnSpc>
                <a:spcPts val="2040"/>
              </a:lnSpc>
              <a:buNone/>
            </a:pPr>
            <a:r>
              <a:rPr lang="en-US" sz="1250" dirty="0">
                <a:solidFill>
                  <a:srgbClr val="1F2226"/>
                </a:solidFill>
                <a:latin typeface="Arial" pitchFamily="34" charset="0"/>
                <a:ea typeface="Arial" pitchFamily="34" charset="-122"/>
                <a:cs typeface="Arial" pitchFamily="34" charset="-120"/>
              </a:rPr>
              <a:t>— 배분의 문제</a:t>
            </a:r>
            <a:endParaRPr lang="en-US" sz="1250" dirty="0"/>
          </a:p>
        </p:txBody>
      </p:sp>
      <p:sp>
        <p:nvSpPr>
          <p:cNvPr id="16" name="Shape 14"/>
          <p:cNvSpPr/>
          <p:nvPr/>
        </p:nvSpPr>
        <p:spPr>
          <a:xfrm rot="5400000">
            <a:off x="7527341" y="3072384"/>
            <a:ext cx="285293" cy="241402"/>
          </a:xfrm>
          <a:prstGeom prst="triangle">
            <a:avLst/>
          </a:prstGeom>
          <a:solidFill>
            <a:srgbClr val="1F2226"/>
          </a:solidFill>
          <a:ln/>
        </p:spPr>
      </p:sp>
      <p:sp>
        <p:nvSpPr>
          <p:cNvPr id="17" name="Shape 15"/>
          <p:cNvSpPr/>
          <p:nvPr/>
        </p:nvSpPr>
        <p:spPr>
          <a:xfrm>
            <a:off x="8065008" y="2677363"/>
            <a:ext cx="5793638" cy="1031443"/>
          </a:xfrm>
          <a:prstGeom prst="rect">
            <a:avLst/>
          </a:prstGeom>
          <a:solidFill>
            <a:srgbClr val="EDEEF0"/>
          </a:solidFill>
          <a:ln w="12700">
            <a:solidFill>
              <a:srgbClr val="DCDDE0"/>
            </a:solidFill>
            <a:prstDash val="solid"/>
          </a:ln>
        </p:spPr>
      </p:sp>
      <p:sp>
        <p:nvSpPr>
          <p:cNvPr id="18" name="Text 16"/>
          <p:cNvSpPr/>
          <p:nvPr/>
        </p:nvSpPr>
        <p:spPr>
          <a:xfrm>
            <a:off x="8306410" y="2787091"/>
            <a:ext cx="5376672" cy="263347"/>
          </a:xfrm>
          <a:prstGeom prst="rect">
            <a:avLst/>
          </a:prstGeom>
          <a:noFill/>
          <a:ln/>
        </p:spPr>
        <p:txBody>
          <a:bodyPr wrap="square" lIns="0" tIns="0" rIns="0" bIns="0" rtlCol="0" anchor="ctr"/>
          <a:lstStyle/>
          <a:p>
            <a:pPr indent="0" marL="0">
              <a:buNone/>
            </a:pPr>
            <a:r>
              <a:rPr lang="en-US" sz="1000" b="1" dirty="0">
                <a:solidFill>
                  <a:srgbClr val="1F2226"/>
                </a:solidFill>
                <a:latin typeface="Arial" pitchFamily="34" charset="0"/>
                <a:ea typeface="Arial" pitchFamily="34" charset="-122"/>
                <a:cs typeface="Arial" pitchFamily="34" charset="-120"/>
              </a:rPr>
              <a:t>본 연구</a:t>
            </a:r>
            <a:endParaRPr lang="en-US" sz="1000" dirty="0"/>
          </a:p>
        </p:txBody>
      </p:sp>
      <p:sp>
        <p:nvSpPr>
          <p:cNvPr id="19" name="Text 17"/>
          <p:cNvSpPr/>
          <p:nvPr/>
        </p:nvSpPr>
        <p:spPr>
          <a:xfrm>
            <a:off x="8306410" y="3050438"/>
            <a:ext cx="5354726" cy="570586"/>
          </a:xfrm>
          <a:prstGeom prst="rect">
            <a:avLst/>
          </a:prstGeom>
          <a:noFill/>
          <a:ln/>
        </p:spPr>
        <p:txBody>
          <a:bodyPr wrap="square" lIns="0" tIns="0" rIns="0" bIns="0" rtlCol="0" anchor="ctr"/>
          <a:lstStyle/>
          <a:p>
            <a:pPr indent="0" marL="0">
              <a:lnSpc>
                <a:spcPts val="2040"/>
              </a:lnSpc>
              <a:buNone/>
            </a:pPr>
            <a:r>
              <a:rPr lang="en-US" sz="1250" b="1" dirty="0">
                <a:solidFill>
                  <a:srgbClr val="1F2226"/>
                </a:solidFill>
                <a:latin typeface="Arial" pitchFamily="34" charset="0"/>
                <a:ea typeface="Arial" pitchFamily="34" charset="-122"/>
                <a:cs typeface="Arial" pitchFamily="34" charset="-120"/>
              </a:rPr>
              <a:t>「그 귀속이 어려울 때 평가받는 사람이</a:t>
            </a:r>
            <a:endParaRPr lang="en-US" sz="1250" dirty="0"/>
          </a:p>
          <a:p>
            <a:pPr indent="0" marL="0">
              <a:lnSpc>
                <a:spcPts val="2040"/>
              </a:lnSpc>
              <a:buNone/>
            </a:pPr>
            <a:r>
              <a:rPr lang="en-US" sz="1250" b="1" dirty="0">
                <a:solidFill>
                  <a:srgbClr val="1F2226"/>
                </a:solidFill>
                <a:latin typeface="Arial" pitchFamily="34" charset="0"/>
                <a:ea typeface="Arial" pitchFamily="34" charset="-122"/>
                <a:cs typeface="Arial" pitchFamily="34" charset="-120"/>
              </a:rPr>
              <a:t>제도를 어떻게 지각하는가」— 공정성의 문제</a:t>
            </a:r>
            <a:endParaRPr lang="en-US" sz="1250" dirty="0"/>
          </a:p>
        </p:txBody>
      </p:sp>
      <p:sp>
        <p:nvSpPr>
          <p:cNvPr id="20" name="Text 18"/>
          <p:cNvSpPr/>
          <p:nvPr/>
        </p:nvSpPr>
        <p:spPr>
          <a:xfrm>
            <a:off x="2523744" y="3774643"/>
            <a:ext cx="11301984" cy="307238"/>
          </a:xfrm>
          <a:prstGeom prst="rect">
            <a:avLst/>
          </a:prstGeom>
          <a:noFill/>
          <a:ln/>
        </p:spPr>
        <p:txBody>
          <a:bodyPr wrap="square" lIns="0" tIns="0" rIns="0" bIns="0" rtlCol="0" anchor="ctr"/>
          <a:lstStyle/>
          <a:p>
            <a:pPr indent="0" marL="0">
              <a:buNone/>
            </a:pPr>
            <a:r>
              <a:rPr lang="en-US" sz="1200" b="1" dirty="0">
                <a:solidFill>
                  <a:srgbClr val="2A2D31"/>
                </a:solidFill>
                <a:latin typeface="Arial" pitchFamily="34" charset="0"/>
                <a:ea typeface="Arial" pitchFamily="34" charset="-122"/>
                <a:cs typeface="Arial" pitchFamily="34" charset="-120"/>
              </a:rPr>
              <a:t>→   조직공정성이 축적한 이론과 측정 도구를 이 현상에 쓸 수 있게 된다</a:t>
            </a:r>
            <a:endParaRPr lang="en-US" sz="1200" dirty="0"/>
          </a:p>
        </p:txBody>
      </p:sp>
      <p:sp>
        <p:nvSpPr>
          <p:cNvPr id="21" name="Shape 19"/>
          <p:cNvSpPr/>
          <p:nvPr/>
        </p:nvSpPr>
        <p:spPr>
          <a:xfrm>
            <a:off x="790042" y="4454957"/>
            <a:ext cx="395021" cy="395021"/>
          </a:xfrm>
          <a:prstGeom prst="ellipse">
            <a:avLst/>
          </a:prstGeom>
          <a:solidFill>
            <a:srgbClr val="1F2226"/>
          </a:solidFill>
          <a:ln/>
        </p:spPr>
      </p:sp>
      <p:sp>
        <p:nvSpPr>
          <p:cNvPr id="22" name="Text 20"/>
          <p:cNvSpPr/>
          <p:nvPr/>
        </p:nvSpPr>
        <p:spPr>
          <a:xfrm>
            <a:off x="790042" y="4454957"/>
            <a:ext cx="395021" cy="395021"/>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3" name="Text 21"/>
          <p:cNvSpPr/>
          <p:nvPr/>
        </p:nvSpPr>
        <p:spPr>
          <a:xfrm>
            <a:off x="768096" y="4915814"/>
            <a:ext cx="1645920" cy="307238"/>
          </a:xfrm>
          <a:prstGeom prst="rect">
            <a:avLst/>
          </a:prstGeom>
          <a:noFill/>
          <a:ln/>
        </p:spPr>
        <p:txBody>
          <a:bodyPr wrap="square" lIns="0" tIns="0" rIns="0" bIns="0" rtlCol="0" anchor="ctr"/>
          <a:lstStyle/>
          <a:p>
            <a:pPr algn="ctr" indent="0" marL="0">
              <a:buNone/>
            </a:pPr>
            <a:r>
              <a:rPr lang="en-US" sz="1150" b="1" dirty="0">
                <a:solidFill>
                  <a:srgbClr val="1F2226"/>
                </a:solidFill>
                <a:latin typeface="Arial" pitchFamily="34" charset="0"/>
                <a:ea typeface="Arial" pitchFamily="34" charset="-122"/>
                <a:cs typeface="Arial" pitchFamily="34" charset="-120"/>
              </a:rPr>
              <a:t>출처의 전환</a:t>
            </a:r>
            <a:endParaRPr lang="en-US" sz="1150" dirty="0"/>
          </a:p>
        </p:txBody>
      </p:sp>
      <p:sp>
        <p:nvSpPr>
          <p:cNvPr id="24" name="Shape 22"/>
          <p:cNvSpPr/>
          <p:nvPr/>
        </p:nvSpPr>
        <p:spPr>
          <a:xfrm>
            <a:off x="2523744" y="4301338"/>
            <a:ext cx="4773168" cy="1031443"/>
          </a:xfrm>
          <a:prstGeom prst="rect">
            <a:avLst/>
          </a:prstGeom>
          <a:solidFill>
            <a:srgbClr val="F7F8F9"/>
          </a:solidFill>
          <a:ln w="12700">
            <a:solidFill>
              <a:srgbClr val="C9CDD3"/>
            </a:solidFill>
            <a:prstDash val="solid"/>
          </a:ln>
        </p:spPr>
      </p:sp>
      <p:sp>
        <p:nvSpPr>
          <p:cNvPr id="25" name="Text 23"/>
          <p:cNvSpPr/>
          <p:nvPr/>
        </p:nvSpPr>
        <p:spPr>
          <a:xfrm>
            <a:off x="2765146" y="4411066"/>
            <a:ext cx="4279392" cy="263347"/>
          </a:xfrm>
          <a:prstGeom prst="rect">
            <a:avLst/>
          </a:prstGeom>
          <a:noFill/>
          <a:ln/>
        </p:spPr>
        <p:txBody>
          <a:bodyPr wrap="square" lIns="0" tIns="0" rIns="0" bIns="0" rtlCol="0" anchor="ctr"/>
          <a:lstStyle/>
          <a:p>
            <a:pPr indent="0" marL="0">
              <a:buNone/>
            </a:pPr>
            <a:r>
              <a:rPr lang="en-US" sz="1000" dirty="0">
                <a:solidFill>
                  <a:srgbClr val="70757C"/>
                </a:solidFill>
                <a:latin typeface="Arial" pitchFamily="34" charset="0"/>
                <a:ea typeface="Arial" pitchFamily="34" charset="-122"/>
                <a:cs typeface="Arial" pitchFamily="34" charset="-120"/>
              </a:rPr>
              <a:t>지금까지</a:t>
            </a:r>
            <a:endParaRPr lang="en-US" sz="1000" dirty="0"/>
          </a:p>
        </p:txBody>
      </p:sp>
      <p:sp>
        <p:nvSpPr>
          <p:cNvPr id="26" name="Text 24"/>
          <p:cNvSpPr/>
          <p:nvPr/>
        </p:nvSpPr>
        <p:spPr>
          <a:xfrm>
            <a:off x="2765146" y="4674413"/>
            <a:ext cx="4334256" cy="570586"/>
          </a:xfrm>
          <a:prstGeom prst="rect">
            <a:avLst/>
          </a:prstGeom>
          <a:noFill/>
          <a:ln/>
        </p:spPr>
        <p:txBody>
          <a:bodyPr wrap="square" lIns="0" tIns="0" rIns="0" bIns="0" rtlCol="0" anchor="ctr"/>
          <a:lstStyle/>
          <a:p>
            <a:pPr indent="0" marL="0">
              <a:lnSpc>
                <a:spcPts val="2040"/>
              </a:lnSpc>
              <a:buNone/>
            </a:pPr>
            <a:r>
              <a:rPr lang="en-US" sz="1250" dirty="0">
                <a:solidFill>
                  <a:srgbClr val="1F2226"/>
                </a:solidFill>
                <a:latin typeface="Arial" pitchFamily="34" charset="0"/>
                <a:ea typeface="Arial" pitchFamily="34" charset="-122"/>
                <a:cs typeface="Arial" pitchFamily="34" charset="-120"/>
              </a:rPr>
              <a:t>불확실성은 주어진 조건</a:t>
            </a:r>
            <a:endParaRPr lang="en-US" sz="1250" dirty="0"/>
          </a:p>
          <a:p>
            <a:pPr indent="0" marL="0">
              <a:lnSpc>
                <a:spcPts val="2040"/>
              </a:lnSpc>
              <a:buNone/>
            </a:pPr>
            <a:r>
              <a:rPr lang="en-US" sz="1250" dirty="0">
                <a:solidFill>
                  <a:srgbClr val="1F2226"/>
                </a:solidFill>
                <a:latin typeface="Arial" pitchFamily="34" charset="0"/>
                <a:ea typeface="Arial" pitchFamily="34" charset="-122"/>
                <a:cs typeface="Arial" pitchFamily="34" charset="-120"/>
              </a:rPr>
              <a:t>— 실험 조작이거나 외부 상황</a:t>
            </a:r>
            <a:endParaRPr lang="en-US" sz="1250" dirty="0"/>
          </a:p>
        </p:txBody>
      </p:sp>
      <p:sp>
        <p:nvSpPr>
          <p:cNvPr id="27" name="Shape 25"/>
          <p:cNvSpPr/>
          <p:nvPr/>
        </p:nvSpPr>
        <p:spPr>
          <a:xfrm rot="5400000">
            <a:off x="7527341" y="4696358"/>
            <a:ext cx="285293" cy="241402"/>
          </a:xfrm>
          <a:prstGeom prst="triangle">
            <a:avLst/>
          </a:prstGeom>
          <a:solidFill>
            <a:srgbClr val="1F2226"/>
          </a:solidFill>
          <a:ln/>
        </p:spPr>
      </p:sp>
      <p:sp>
        <p:nvSpPr>
          <p:cNvPr id="28" name="Shape 26"/>
          <p:cNvSpPr/>
          <p:nvPr/>
        </p:nvSpPr>
        <p:spPr>
          <a:xfrm>
            <a:off x="8065008" y="4301338"/>
            <a:ext cx="5793638" cy="1031443"/>
          </a:xfrm>
          <a:prstGeom prst="rect">
            <a:avLst/>
          </a:prstGeom>
          <a:solidFill>
            <a:srgbClr val="EDEEF0"/>
          </a:solidFill>
          <a:ln w="12700">
            <a:solidFill>
              <a:srgbClr val="DCDDE0"/>
            </a:solidFill>
            <a:prstDash val="solid"/>
          </a:ln>
        </p:spPr>
      </p:sp>
      <p:sp>
        <p:nvSpPr>
          <p:cNvPr id="29" name="Text 27"/>
          <p:cNvSpPr/>
          <p:nvPr/>
        </p:nvSpPr>
        <p:spPr>
          <a:xfrm>
            <a:off x="8306410" y="4411066"/>
            <a:ext cx="5376672" cy="263347"/>
          </a:xfrm>
          <a:prstGeom prst="rect">
            <a:avLst/>
          </a:prstGeom>
          <a:noFill/>
          <a:ln/>
        </p:spPr>
        <p:txBody>
          <a:bodyPr wrap="square" lIns="0" tIns="0" rIns="0" bIns="0" rtlCol="0" anchor="ctr"/>
          <a:lstStyle/>
          <a:p>
            <a:pPr indent="0" marL="0">
              <a:buNone/>
            </a:pPr>
            <a:r>
              <a:rPr lang="en-US" sz="1000" b="1" dirty="0">
                <a:solidFill>
                  <a:srgbClr val="1F2226"/>
                </a:solidFill>
                <a:latin typeface="Arial" pitchFamily="34" charset="0"/>
                <a:ea typeface="Arial" pitchFamily="34" charset="-122"/>
                <a:cs typeface="Arial" pitchFamily="34" charset="-120"/>
              </a:rPr>
              <a:t>본 연구</a:t>
            </a:r>
            <a:endParaRPr lang="en-US" sz="1000" dirty="0"/>
          </a:p>
        </p:txBody>
      </p:sp>
      <p:sp>
        <p:nvSpPr>
          <p:cNvPr id="30" name="Text 28"/>
          <p:cNvSpPr/>
          <p:nvPr/>
        </p:nvSpPr>
        <p:spPr>
          <a:xfrm>
            <a:off x="8306410" y="4674413"/>
            <a:ext cx="5354726" cy="570586"/>
          </a:xfrm>
          <a:prstGeom prst="rect">
            <a:avLst/>
          </a:prstGeom>
          <a:noFill/>
          <a:ln/>
        </p:spPr>
        <p:txBody>
          <a:bodyPr wrap="square" lIns="0" tIns="0" rIns="0" bIns="0" rtlCol="0" anchor="ctr"/>
          <a:lstStyle/>
          <a:p>
            <a:pPr indent="0" marL="0">
              <a:lnSpc>
                <a:spcPts val="2040"/>
              </a:lnSpc>
              <a:buNone/>
            </a:pPr>
            <a:r>
              <a:rPr lang="en-US" sz="1250" b="1" dirty="0">
                <a:solidFill>
                  <a:srgbClr val="1F2226"/>
                </a:solidFill>
                <a:latin typeface="Arial" pitchFamily="34" charset="0"/>
                <a:ea typeface="Arial" pitchFamily="34" charset="-122"/>
                <a:cs typeface="Arial" pitchFamily="34" charset="-120"/>
              </a:rPr>
              <a:t>불확실성은 업무의 성격이 만든 결과</a:t>
            </a:r>
            <a:endParaRPr lang="en-US" sz="1250" dirty="0"/>
          </a:p>
          <a:p>
            <a:pPr indent="0" marL="0">
              <a:lnSpc>
                <a:spcPts val="2040"/>
              </a:lnSpc>
              <a:buNone/>
            </a:pPr>
            <a:r>
              <a:rPr lang="en-US" sz="1250" b="1" dirty="0">
                <a:solidFill>
                  <a:srgbClr val="1F2226"/>
                </a:solidFill>
                <a:latin typeface="Arial" pitchFamily="34" charset="0"/>
                <a:ea typeface="Arial" pitchFamily="34" charset="-122"/>
                <a:cs typeface="Arial" pitchFamily="34" charset="-120"/>
              </a:rPr>
              <a:t>— 조직 안에서 발생한다</a:t>
            </a:r>
            <a:endParaRPr lang="en-US" sz="1250" dirty="0"/>
          </a:p>
        </p:txBody>
      </p:sp>
      <p:sp>
        <p:nvSpPr>
          <p:cNvPr id="31" name="Text 29"/>
          <p:cNvSpPr/>
          <p:nvPr/>
        </p:nvSpPr>
        <p:spPr>
          <a:xfrm>
            <a:off x="2523744" y="5398618"/>
            <a:ext cx="11301984" cy="307238"/>
          </a:xfrm>
          <a:prstGeom prst="rect">
            <a:avLst/>
          </a:prstGeom>
          <a:noFill/>
          <a:ln/>
        </p:spPr>
        <p:txBody>
          <a:bodyPr wrap="square" lIns="0" tIns="0" rIns="0" bIns="0" rtlCol="0" anchor="ctr"/>
          <a:lstStyle/>
          <a:p>
            <a:pPr indent="0" marL="0">
              <a:buNone/>
            </a:pPr>
            <a:r>
              <a:rPr lang="en-US" sz="1200" b="1" dirty="0">
                <a:solidFill>
                  <a:srgbClr val="2A2D31"/>
                </a:solidFill>
                <a:latin typeface="Arial" pitchFamily="34" charset="0"/>
                <a:ea typeface="Arial" pitchFamily="34" charset="-122"/>
                <a:cs typeface="Arial" pitchFamily="34" charset="-120"/>
              </a:rPr>
              <a:t>→   AI 협업의 귀속 모호성을 불확실성의 출처로 지목한다</a:t>
            </a:r>
            <a:endParaRPr lang="en-US" sz="1200" dirty="0"/>
          </a:p>
        </p:txBody>
      </p:sp>
      <p:sp>
        <p:nvSpPr>
          <p:cNvPr id="32" name="Shape 30"/>
          <p:cNvSpPr/>
          <p:nvPr/>
        </p:nvSpPr>
        <p:spPr>
          <a:xfrm>
            <a:off x="790042" y="6078931"/>
            <a:ext cx="395021" cy="395021"/>
          </a:xfrm>
          <a:prstGeom prst="ellipse">
            <a:avLst/>
          </a:prstGeom>
          <a:solidFill>
            <a:srgbClr val="1F2226"/>
          </a:solidFill>
          <a:ln/>
        </p:spPr>
      </p:sp>
      <p:sp>
        <p:nvSpPr>
          <p:cNvPr id="33" name="Text 31"/>
          <p:cNvSpPr/>
          <p:nvPr/>
        </p:nvSpPr>
        <p:spPr>
          <a:xfrm>
            <a:off x="790042" y="6078931"/>
            <a:ext cx="395021" cy="395021"/>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34" name="Text 32"/>
          <p:cNvSpPr/>
          <p:nvPr/>
        </p:nvSpPr>
        <p:spPr>
          <a:xfrm>
            <a:off x="768096" y="6539789"/>
            <a:ext cx="1645920" cy="307238"/>
          </a:xfrm>
          <a:prstGeom prst="rect">
            <a:avLst/>
          </a:prstGeom>
          <a:noFill/>
          <a:ln/>
        </p:spPr>
        <p:txBody>
          <a:bodyPr wrap="square" lIns="0" tIns="0" rIns="0" bIns="0" rtlCol="0" anchor="ctr"/>
          <a:lstStyle/>
          <a:p>
            <a:pPr algn="ctr" indent="0" marL="0">
              <a:buNone/>
            </a:pPr>
            <a:r>
              <a:rPr lang="en-US" sz="1150" b="1" dirty="0">
                <a:solidFill>
                  <a:srgbClr val="1F2226"/>
                </a:solidFill>
                <a:latin typeface="Arial" pitchFamily="34" charset="0"/>
                <a:ea typeface="Arial" pitchFamily="34" charset="-122"/>
                <a:cs typeface="Arial" pitchFamily="34" charset="-120"/>
              </a:rPr>
              <a:t>처방의 검증</a:t>
            </a:r>
            <a:endParaRPr lang="en-US" sz="1150" dirty="0"/>
          </a:p>
        </p:txBody>
      </p:sp>
      <p:sp>
        <p:nvSpPr>
          <p:cNvPr id="35" name="Shape 33"/>
          <p:cNvSpPr/>
          <p:nvPr/>
        </p:nvSpPr>
        <p:spPr>
          <a:xfrm>
            <a:off x="2523744" y="5925312"/>
            <a:ext cx="4773168" cy="1031443"/>
          </a:xfrm>
          <a:prstGeom prst="rect">
            <a:avLst/>
          </a:prstGeom>
          <a:solidFill>
            <a:srgbClr val="F7F8F9"/>
          </a:solidFill>
          <a:ln w="12700">
            <a:solidFill>
              <a:srgbClr val="C9CDD3"/>
            </a:solidFill>
            <a:prstDash val="solid"/>
          </a:ln>
        </p:spPr>
      </p:sp>
      <p:sp>
        <p:nvSpPr>
          <p:cNvPr id="36" name="Text 34"/>
          <p:cNvSpPr/>
          <p:nvPr/>
        </p:nvSpPr>
        <p:spPr>
          <a:xfrm>
            <a:off x="2765146" y="6035040"/>
            <a:ext cx="4279392" cy="263347"/>
          </a:xfrm>
          <a:prstGeom prst="rect">
            <a:avLst/>
          </a:prstGeom>
          <a:noFill/>
          <a:ln/>
        </p:spPr>
        <p:txBody>
          <a:bodyPr wrap="square" lIns="0" tIns="0" rIns="0" bIns="0" rtlCol="0" anchor="ctr"/>
          <a:lstStyle/>
          <a:p>
            <a:pPr indent="0" marL="0">
              <a:buNone/>
            </a:pPr>
            <a:r>
              <a:rPr lang="en-US" sz="1000" dirty="0">
                <a:solidFill>
                  <a:srgbClr val="70757C"/>
                </a:solidFill>
                <a:latin typeface="Arial" pitchFamily="34" charset="0"/>
                <a:ea typeface="Arial" pitchFamily="34" charset="-122"/>
                <a:cs typeface="Arial" pitchFamily="34" charset="-120"/>
              </a:rPr>
              <a:t>지금까지</a:t>
            </a:r>
            <a:endParaRPr lang="en-US" sz="1000" dirty="0"/>
          </a:p>
        </p:txBody>
      </p:sp>
      <p:sp>
        <p:nvSpPr>
          <p:cNvPr id="37" name="Text 35"/>
          <p:cNvSpPr/>
          <p:nvPr/>
        </p:nvSpPr>
        <p:spPr>
          <a:xfrm>
            <a:off x="2765146" y="6298387"/>
            <a:ext cx="4334256" cy="570586"/>
          </a:xfrm>
          <a:prstGeom prst="rect">
            <a:avLst/>
          </a:prstGeom>
          <a:noFill/>
          <a:ln/>
        </p:spPr>
        <p:txBody>
          <a:bodyPr wrap="square" lIns="0" tIns="0" rIns="0" bIns="0" rtlCol="0" anchor="ctr"/>
          <a:lstStyle/>
          <a:p>
            <a:pPr indent="0" marL="0">
              <a:lnSpc>
                <a:spcPts val="2040"/>
              </a:lnSpc>
              <a:buNone/>
            </a:pPr>
            <a:r>
              <a:rPr lang="en-US" sz="1250" dirty="0">
                <a:solidFill>
                  <a:srgbClr val="1F2226"/>
                </a:solidFill>
                <a:latin typeface="Arial" pitchFamily="34" charset="0"/>
                <a:ea typeface="Arial" pitchFamily="34" charset="-122"/>
                <a:cs typeface="Arial" pitchFamily="34" charset="-120"/>
              </a:rPr>
              <a:t>「기준을 명확히 하면 된다」</a:t>
            </a:r>
            <a:endParaRPr lang="en-US" sz="1250" dirty="0"/>
          </a:p>
          <a:p>
            <a:pPr indent="0" marL="0">
              <a:lnSpc>
                <a:spcPts val="2040"/>
              </a:lnSpc>
              <a:buNone/>
            </a:pPr>
            <a:r>
              <a:rPr lang="en-US" sz="1250" dirty="0">
                <a:solidFill>
                  <a:srgbClr val="1F2226"/>
                </a:solidFill>
                <a:latin typeface="Arial" pitchFamily="34" charset="0"/>
                <a:ea typeface="Arial" pitchFamily="34" charset="-122"/>
                <a:cs typeface="Arial" pitchFamily="34" charset="-120"/>
              </a:rPr>
              <a:t>— 통상적 처방</a:t>
            </a:r>
            <a:endParaRPr lang="en-US" sz="1250" dirty="0"/>
          </a:p>
        </p:txBody>
      </p:sp>
      <p:sp>
        <p:nvSpPr>
          <p:cNvPr id="38" name="Shape 36"/>
          <p:cNvSpPr/>
          <p:nvPr/>
        </p:nvSpPr>
        <p:spPr>
          <a:xfrm rot="5400000">
            <a:off x="7527341" y="6320333"/>
            <a:ext cx="285293" cy="241402"/>
          </a:xfrm>
          <a:prstGeom prst="triangle">
            <a:avLst/>
          </a:prstGeom>
          <a:solidFill>
            <a:srgbClr val="1F2226"/>
          </a:solidFill>
          <a:ln/>
        </p:spPr>
      </p:sp>
      <p:sp>
        <p:nvSpPr>
          <p:cNvPr id="39" name="Shape 37"/>
          <p:cNvSpPr/>
          <p:nvPr/>
        </p:nvSpPr>
        <p:spPr>
          <a:xfrm>
            <a:off x="8065008" y="5925312"/>
            <a:ext cx="5793638" cy="1031443"/>
          </a:xfrm>
          <a:prstGeom prst="rect">
            <a:avLst/>
          </a:prstGeom>
          <a:solidFill>
            <a:srgbClr val="EDEEF0"/>
          </a:solidFill>
          <a:ln w="12700">
            <a:solidFill>
              <a:srgbClr val="DCDDE0"/>
            </a:solidFill>
            <a:prstDash val="solid"/>
          </a:ln>
        </p:spPr>
      </p:sp>
      <p:sp>
        <p:nvSpPr>
          <p:cNvPr id="40" name="Text 38"/>
          <p:cNvSpPr/>
          <p:nvPr/>
        </p:nvSpPr>
        <p:spPr>
          <a:xfrm>
            <a:off x="8306410" y="6035040"/>
            <a:ext cx="5376672" cy="263347"/>
          </a:xfrm>
          <a:prstGeom prst="rect">
            <a:avLst/>
          </a:prstGeom>
          <a:noFill/>
          <a:ln/>
        </p:spPr>
        <p:txBody>
          <a:bodyPr wrap="square" lIns="0" tIns="0" rIns="0" bIns="0" rtlCol="0" anchor="ctr"/>
          <a:lstStyle/>
          <a:p>
            <a:pPr indent="0" marL="0">
              <a:buNone/>
            </a:pPr>
            <a:r>
              <a:rPr lang="en-US" sz="1000" b="1" dirty="0">
                <a:solidFill>
                  <a:srgbClr val="1F2226"/>
                </a:solidFill>
                <a:latin typeface="Arial" pitchFamily="34" charset="0"/>
                <a:ea typeface="Arial" pitchFamily="34" charset="-122"/>
                <a:cs typeface="Arial" pitchFamily="34" charset="-120"/>
              </a:rPr>
              <a:t>본 연구</a:t>
            </a:r>
            <a:endParaRPr lang="en-US" sz="1000" dirty="0"/>
          </a:p>
        </p:txBody>
      </p:sp>
      <p:sp>
        <p:nvSpPr>
          <p:cNvPr id="41" name="Text 39"/>
          <p:cNvSpPr/>
          <p:nvPr/>
        </p:nvSpPr>
        <p:spPr>
          <a:xfrm>
            <a:off x="8306410" y="6298387"/>
            <a:ext cx="5354726" cy="570586"/>
          </a:xfrm>
          <a:prstGeom prst="rect">
            <a:avLst/>
          </a:prstGeom>
          <a:noFill/>
          <a:ln/>
        </p:spPr>
        <p:txBody>
          <a:bodyPr wrap="square" lIns="0" tIns="0" rIns="0" bIns="0" rtlCol="0" anchor="ctr"/>
          <a:lstStyle/>
          <a:p>
            <a:pPr indent="0" marL="0">
              <a:lnSpc>
                <a:spcPts val="2040"/>
              </a:lnSpc>
              <a:buNone/>
            </a:pPr>
            <a:r>
              <a:rPr lang="en-US" sz="1250" b="1" dirty="0">
                <a:solidFill>
                  <a:srgbClr val="1F2226"/>
                </a:solidFill>
                <a:latin typeface="Arial" pitchFamily="34" charset="0"/>
                <a:ea typeface="Arial" pitchFamily="34" charset="-122"/>
                <a:cs typeface="Arial" pitchFamily="34" charset="-120"/>
              </a:rPr>
              <a:t>명확히 해도 남는 부분이 있는가</a:t>
            </a:r>
            <a:endParaRPr lang="en-US" sz="1250" dirty="0"/>
          </a:p>
          <a:p>
            <a:pPr indent="0" marL="0">
              <a:lnSpc>
                <a:spcPts val="2040"/>
              </a:lnSpc>
              <a:buNone/>
            </a:pPr>
            <a:r>
              <a:rPr lang="en-US" sz="1250" b="1" dirty="0">
                <a:solidFill>
                  <a:srgbClr val="1F2226"/>
                </a:solidFill>
                <a:latin typeface="Arial" pitchFamily="34" charset="0"/>
                <a:ea typeface="Arial" pitchFamily="34" charset="-122"/>
                <a:cs typeface="Arial" pitchFamily="34" charset="-120"/>
              </a:rPr>
              <a:t>— 처방의 유효 범위</a:t>
            </a:r>
            <a:endParaRPr lang="en-US" sz="1250" dirty="0"/>
          </a:p>
        </p:txBody>
      </p:sp>
      <p:sp>
        <p:nvSpPr>
          <p:cNvPr id="42" name="Text 40"/>
          <p:cNvSpPr/>
          <p:nvPr/>
        </p:nvSpPr>
        <p:spPr>
          <a:xfrm>
            <a:off x="2523744" y="7022592"/>
            <a:ext cx="11301984" cy="307238"/>
          </a:xfrm>
          <a:prstGeom prst="rect">
            <a:avLst/>
          </a:prstGeom>
          <a:noFill/>
          <a:ln/>
        </p:spPr>
        <p:txBody>
          <a:bodyPr wrap="square" lIns="0" tIns="0" rIns="0" bIns="0" rtlCol="0" anchor="ctr"/>
          <a:lstStyle/>
          <a:p>
            <a:pPr indent="0" marL="0">
              <a:buNone/>
            </a:pPr>
            <a:r>
              <a:rPr lang="en-US" sz="1200" b="1" dirty="0">
                <a:solidFill>
                  <a:srgbClr val="2A2D31"/>
                </a:solidFill>
                <a:latin typeface="Arial" pitchFamily="34" charset="0"/>
                <a:ea typeface="Arial" pitchFamily="34" charset="-122"/>
                <a:cs typeface="Arial" pitchFamily="34" charset="-120"/>
              </a:rPr>
              <a:t>→   절차 명확화가 어디까지 완화하는지를 조절효과로 확인한다</a:t>
            </a:r>
            <a:endParaRPr lang="en-US" sz="1200" dirty="0"/>
          </a:p>
        </p:txBody>
      </p:sp>
      <p:sp>
        <p:nvSpPr>
          <p:cNvPr id="43" name="Text 41"/>
          <p:cNvSpPr/>
          <p:nvPr/>
        </p:nvSpPr>
        <p:spPr>
          <a:xfrm>
            <a:off x="12508992" y="7626096"/>
            <a:ext cx="1448410" cy="307238"/>
          </a:xfrm>
          <a:prstGeom prst="rect">
            <a:avLst/>
          </a:prstGeom>
          <a:noFill/>
          <a:ln/>
        </p:spPr>
        <p:txBody>
          <a:bodyPr wrap="square" lIns="0" tIns="0" rIns="0" bIns="0" rtlCol="0" anchor="ctr"/>
          <a:lstStyle/>
          <a:p>
            <a:pPr algn="r" indent="0" marL="0">
              <a:buNone/>
            </a:pPr>
            <a:r>
              <a:rPr lang="en-US" sz="1000" dirty="0">
                <a:solidFill>
                  <a:srgbClr val="70757C"/>
                </a:solidFill>
                <a:latin typeface="Arial" pitchFamily="34" charset="0"/>
                <a:ea typeface="Arial" pitchFamily="34" charset="-122"/>
                <a:cs typeface="Arial" pitchFamily="34" charset="-120"/>
              </a:rPr>
              <a:t>04 / 07</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339328" y="329184"/>
            <a:ext cx="4992624" cy="285293"/>
          </a:xfrm>
          <a:prstGeom prst="rect">
            <a:avLst/>
          </a:prstGeom>
          <a:noFill/>
          <a:ln/>
        </p:spPr>
        <p:txBody>
          <a:bodyPr wrap="square" lIns="0" tIns="0" rIns="0" bIns="0" rtlCol="0" anchor="ctr"/>
          <a:lstStyle/>
          <a:p>
            <a:pPr algn="r" indent="0" marL="0">
              <a:buNone/>
            </a:pPr>
            <a:r>
              <a:rPr lang="en-US" sz="1050" dirty="0">
                <a:solidFill>
                  <a:srgbClr val="70757C"/>
                </a:solidFill>
                <a:latin typeface="Arial" pitchFamily="34" charset="0"/>
                <a:ea typeface="Arial" pitchFamily="34" charset="-122"/>
                <a:cs typeface="Arial" pitchFamily="34" charset="-120"/>
              </a:rPr>
              <a:t>2026학년도 석사학위논문</a:t>
            </a:r>
            <a:endParaRPr lang="en-US" sz="1050" dirty="0"/>
          </a:p>
        </p:txBody>
      </p:sp>
      <p:sp>
        <p:nvSpPr>
          <p:cNvPr id="3" name="Text 1"/>
          <p:cNvSpPr/>
          <p:nvPr/>
        </p:nvSpPr>
        <p:spPr>
          <a:xfrm>
            <a:off x="8339328" y="603504"/>
            <a:ext cx="4992624" cy="307238"/>
          </a:xfrm>
          <a:prstGeom prst="rect">
            <a:avLst/>
          </a:prstGeom>
          <a:noFill/>
          <a:ln/>
        </p:spPr>
        <p:txBody>
          <a:bodyPr wrap="square" lIns="0" tIns="0" rIns="0" bIns="0" rtlCol="0" anchor="ctr"/>
          <a:lstStyle/>
          <a:p>
            <a:pPr algn="r" indent="0" marL="0">
              <a:buNone/>
            </a:pPr>
            <a:r>
              <a:rPr lang="en-US" sz="1200" b="1" dirty="0">
                <a:solidFill>
                  <a:srgbClr val="1F2226"/>
                </a:solidFill>
                <a:latin typeface="Arial" pitchFamily="34" charset="0"/>
                <a:ea typeface="Arial" pitchFamily="34" charset="-122"/>
                <a:cs typeface="Arial" pitchFamily="34" charset="-120"/>
              </a:rPr>
              <a:t>프로포절 심사</a:t>
            </a:r>
            <a:endParaRPr lang="en-US" sz="1200" dirty="0"/>
          </a:p>
        </p:txBody>
      </p:sp>
      <p:sp>
        <p:nvSpPr>
          <p:cNvPr id="4" name="Shape 2"/>
          <p:cNvSpPr/>
          <p:nvPr/>
        </p:nvSpPr>
        <p:spPr>
          <a:xfrm>
            <a:off x="680314" y="1009498"/>
            <a:ext cx="13277088" cy="0"/>
          </a:xfrm>
          <a:prstGeom prst="line">
            <a:avLst/>
          </a:prstGeom>
          <a:noFill/>
          <a:ln w="12700">
            <a:solidFill>
              <a:srgbClr val="C9CDD3"/>
            </a:solidFill>
            <a:prstDash val="solid"/>
          </a:ln>
        </p:spPr>
      </p:sp>
      <p:sp>
        <p:nvSpPr>
          <p:cNvPr id="5" name="Shape 3"/>
          <p:cNvSpPr/>
          <p:nvPr/>
        </p:nvSpPr>
        <p:spPr>
          <a:xfrm>
            <a:off x="8339328" y="1009498"/>
            <a:ext cx="5618074" cy="0"/>
          </a:xfrm>
          <a:prstGeom prst="line">
            <a:avLst/>
          </a:prstGeom>
          <a:noFill/>
          <a:ln w="25400">
            <a:solidFill>
              <a:srgbClr val="8C2A32"/>
            </a:solidFill>
            <a:prstDash val="solid"/>
          </a:ln>
        </p:spPr>
      </p:sp>
      <p:sp>
        <p:nvSpPr>
          <p:cNvPr id="6" name="Shape 4"/>
          <p:cNvSpPr/>
          <p:nvPr/>
        </p:nvSpPr>
        <p:spPr>
          <a:xfrm>
            <a:off x="680314" y="1207008"/>
            <a:ext cx="899770" cy="899770"/>
          </a:xfrm>
          <a:prstGeom prst="ellipse">
            <a:avLst/>
          </a:prstGeom>
          <a:solidFill>
            <a:srgbClr val="FFFFFF">
              <a:alpha val="0"/>
            </a:srgbClr>
          </a:solidFill>
          <a:ln w="63500">
            <a:solidFill>
              <a:srgbClr val="8C2A32"/>
            </a:solidFill>
            <a:prstDash val="solid"/>
          </a:ln>
        </p:spPr>
      </p:sp>
      <p:sp>
        <p:nvSpPr>
          <p:cNvPr id="7" name="Shape 5"/>
          <p:cNvSpPr/>
          <p:nvPr/>
        </p:nvSpPr>
        <p:spPr>
          <a:xfrm>
            <a:off x="1207008" y="1119226"/>
            <a:ext cx="680314" cy="1075334"/>
          </a:xfrm>
          <a:prstGeom prst="rect">
            <a:avLst/>
          </a:prstGeom>
          <a:solidFill>
            <a:srgbClr val="FFFFFF"/>
          </a:solidFill>
          <a:ln w="12700">
            <a:solidFill>
              <a:srgbClr val="FFFFFF"/>
            </a:solidFill>
            <a:prstDash val="solid"/>
          </a:ln>
        </p:spPr>
      </p:sp>
      <p:sp>
        <p:nvSpPr>
          <p:cNvPr id="8" name="Text 6"/>
          <p:cNvSpPr/>
          <p:nvPr/>
        </p:nvSpPr>
        <p:spPr>
          <a:xfrm>
            <a:off x="1119226" y="1207008"/>
            <a:ext cx="12508992" cy="899770"/>
          </a:xfrm>
          <a:prstGeom prst="rect">
            <a:avLst/>
          </a:prstGeom>
          <a:noFill/>
          <a:ln/>
        </p:spPr>
        <p:txBody>
          <a:bodyPr wrap="square" lIns="0" tIns="0" rIns="0" bIns="0" rtlCol="0" anchor="ctr"/>
          <a:lstStyle/>
          <a:p>
            <a:pPr indent="0" marL="0">
              <a:buNone/>
            </a:pPr>
            <a:r>
              <a:rPr lang="en-US" sz="2600" b="1" dirty="0">
                <a:solidFill>
                  <a:srgbClr val="1F2226"/>
                </a:solidFill>
                <a:latin typeface="Arial" pitchFamily="34" charset="0"/>
                <a:ea typeface="Arial" pitchFamily="34" charset="-122"/>
                <a:cs typeface="Arial" pitchFamily="34" charset="-120"/>
              </a:rPr>
              <a:t>05.  연구 모델 및 가설</a:t>
            </a:r>
            <a:endParaRPr lang="en-US" sz="2600" dirty="0"/>
          </a:p>
        </p:txBody>
      </p:sp>
      <p:sp>
        <p:nvSpPr>
          <p:cNvPr id="9" name="Shape 7"/>
          <p:cNvSpPr/>
          <p:nvPr/>
        </p:nvSpPr>
        <p:spPr>
          <a:xfrm>
            <a:off x="768096" y="2282342"/>
            <a:ext cx="13112496" cy="614477"/>
          </a:xfrm>
          <a:prstGeom prst="rect">
            <a:avLst/>
          </a:prstGeom>
          <a:solidFill>
            <a:srgbClr val="EDEEF0"/>
          </a:solidFill>
          <a:ln w="12700">
            <a:solidFill>
              <a:srgbClr val="DCDDE0"/>
            </a:solidFill>
            <a:prstDash val="solid"/>
          </a:ln>
        </p:spPr>
      </p:sp>
      <p:sp>
        <p:nvSpPr>
          <p:cNvPr id="10" name="Text 8"/>
          <p:cNvSpPr/>
          <p:nvPr/>
        </p:nvSpPr>
        <p:spPr>
          <a:xfrm>
            <a:off x="1042416" y="2282342"/>
            <a:ext cx="12508992" cy="614477"/>
          </a:xfrm>
          <a:prstGeom prst="rect">
            <a:avLst/>
          </a:prstGeom>
          <a:noFill/>
          <a:ln/>
        </p:spPr>
        <p:txBody>
          <a:bodyPr wrap="square" lIns="0" tIns="0" rIns="0" bIns="0" rtlCol="0" anchor="ctr"/>
          <a:lstStyle/>
          <a:p>
            <a:pPr indent="0" marL="0">
              <a:buNone/>
            </a:pPr>
            <a:r>
              <a:rPr lang="en-US" sz="1450" b="1" dirty="0">
                <a:solidFill>
                  <a:srgbClr val="2A2D31"/>
                </a:solidFill>
                <a:latin typeface="Arial" pitchFamily="34" charset="0"/>
                <a:ea typeface="Arial" pitchFamily="34" charset="-122"/>
                <a:cs typeface="Arial" pitchFamily="34" charset="-120"/>
              </a:rPr>
              <a:t>기여를 가릴 수 없으면 평가를 예측할 수 없고,  예측할 수 없는 평가는 일관되고 정확하다고 판단할 근거를 잃는다</a:t>
            </a:r>
            <a:endParaRPr lang="en-US" sz="1450" dirty="0"/>
          </a:p>
        </p:txBody>
      </p:sp>
      <p:sp>
        <p:nvSpPr>
          <p:cNvPr id="11" name="Text 9"/>
          <p:cNvSpPr/>
          <p:nvPr/>
        </p:nvSpPr>
        <p:spPr>
          <a:xfrm>
            <a:off x="768096" y="2984602"/>
            <a:ext cx="13112496" cy="307238"/>
          </a:xfrm>
          <a:prstGeom prst="rect">
            <a:avLst/>
          </a:prstGeom>
          <a:noFill/>
          <a:ln/>
        </p:spPr>
        <p:txBody>
          <a:bodyPr wrap="square" lIns="0" tIns="0" rIns="0" bIns="0" rtlCol="0" anchor="ctr"/>
          <a:lstStyle/>
          <a:p>
            <a:pPr indent="0" marL="0">
              <a:buNone/>
            </a:pPr>
            <a:r>
              <a:rPr lang="en-US" sz="1050" b="1" dirty="0">
                <a:solidFill>
                  <a:srgbClr val="1F2226"/>
                </a:solidFill>
                <a:latin typeface="Arial" pitchFamily="34" charset="0"/>
                <a:ea typeface="Arial" pitchFamily="34" charset="-122"/>
                <a:cs typeface="Arial" pitchFamily="34" charset="-120"/>
              </a:rPr>
              <a:t>상위 이론  </a:t>
            </a:r>
            <a:pPr indent="0" marL="0">
              <a:buNone/>
            </a:pPr>
            <a:r>
              <a:rPr lang="en-US" sz="1050" dirty="0">
                <a:solidFill>
                  <a:srgbClr val="70757C"/>
                </a:solidFill>
                <a:latin typeface="Arial" pitchFamily="34" charset="0"/>
                <a:ea typeface="Arial" pitchFamily="34" charset="-122"/>
                <a:cs typeface="Arial" pitchFamily="34" charset="-120"/>
              </a:rPr>
              <a:t>조직공정성 (Leventhal 1980 · Colquitt 2001) — 무엇을 보고 공정하다고 판단하는가</a:t>
            </a:r>
            <a:pPr indent="0" marL="0">
              <a:buNone/>
            </a:pPr>
            <a:r>
              <a:rPr lang="en-US" sz="1050" b="1" dirty="0">
                <a:solidFill>
                  <a:srgbClr val="1F2226"/>
                </a:solidFill>
                <a:latin typeface="Arial" pitchFamily="34" charset="0"/>
                <a:ea typeface="Arial" pitchFamily="34" charset="-122"/>
                <a:cs typeface="Arial" pitchFamily="34" charset="-120"/>
              </a:rPr>
              <a:t>        발생 기제  </a:t>
            </a:r>
            <a:pPr indent="0" marL="0">
              <a:buNone/>
            </a:pPr>
            <a:r>
              <a:rPr lang="en-US" sz="1050" dirty="0">
                <a:solidFill>
                  <a:srgbClr val="70757C"/>
                </a:solidFill>
                <a:latin typeface="Arial" pitchFamily="34" charset="0"/>
                <a:ea typeface="Arial" pitchFamily="34" charset="-122"/>
                <a:cs typeface="Arial" pitchFamily="34" charset="-120"/>
              </a:rPr>
              <a:t>귀인이론 기대원리 (Weiner 1985) — 왜 예측할 수 없게 되는가</a:t>
            </a:r>
            <a:endParaRPr lang="en-US" sz="1050" dirty="0"/>
          </a:p>
        </p:txBody>
      </p:sp>
      <p:sp>
        <p:nvSpPr>
          <p:cNvPr id="12" name="Text 10"/>
          <p:cNvSpPr/>
          <p:nvPr/>
        </p:nvSpPr>
        <p:spPr>
          <a:xfrm>
            <a:off x="768096" y="3313786"/>
            <a:ext cx="3511296" cy="329184"/>
          </a:xfrm>
          <a:prstGeom prst="rect">
            <a:avLst/>
          </a:prstGeom>
          <a:noFill/>
          <a:ln/>
        </p:spPr>
        <p:txBody>
          <a:bodyPr wrap="square" lIns="0" tIns="0" rIns="0" bIns="0" rtlCol="0" anchor="ctr"/>
          <a:lstStyle/>
          <a:p>
            <a:pPr algn="l" indent="0" marL="0">
              <a:buNone/>
            </a:pPr>
            <a:r>
              <a:rPr lang="en-US" sz="1300" b="1" dirty="0">
                <a:solidFill>
                  <a:srgbClr val="1F2226"/>
                </a:solidFill>
                <a:latin typeface="Arial" pitchFamily="34" charset="0"/>
                <a:ea typeface="Arial" pitchFamily="34" charset="-122"/>
                <a:cs typeface="Arial" pitchFamily="34" charset="-120"/>
              </a:rPr>
              <a:t>【 연구 모형 】</a:t>
            </a:r>
            <a:endParaRPr lang="en-US" sz="1300" dirty="0"/>
          </a:p>
        </p:txBody>
      </p:sp>
      <p:sp>
        <p:nvSpPr>
          <p:cNvPr id="13" name="Shape 11"/>
          <p:cNvSpPr/>
          <p:nvPr/>
        </p:nvSpPr>
        <p:spPr>
          <a:xfrm>
            <a:off x="1426464" y="4367174"/>
            <a:ext cx="2743200" cy="965606"/>
          </a:xfrm>
          <a:prstGeom prst="rect">
            <a:avLst/>
          </a:prstGeom>
          <a:solidFill>
            <a:srgbClr val="FFFFFF"/>
          </a:solidFill>
          <a:ln w="15875">
            <a:solidFill>
              <a:srgbClr val="1F2226"/>
            </a:solidFill>
            <a:prstDash val="solid"/>
          </a:ln>
        </p:spPr>
      </p:sp>
      <p:sp>
        <p:nvSpPr>
          <p:cNvPr id="14" name="Text 12"/>
          <p:cNvSpPr/>
          <p:nvPr/>
        </p:nvSpPr>
        <p:spPr>
          <a:xfrm>
            <a:off x="1426464" y="4367174"/>
            <a:ext cx="2743200" cy="965606"/>
          </a:xfrm>
          <a:prstGeom prst="rect">
            <a:avLst/>
          </a:prstGeom>
          <a:noFill/>
          <a:ln/>
        </p:spPr>
        <p:txBody>
          <a:bodyPr wrap="square" lIns="0" tIns="0" rIns="0" bIns="0" rtlCol="0" anchor="ctr"/>
          <a:lstStyle/>
          <a:p>
            <a:pPr algn="ctr" indent="0" marL="0">
              <a:lnSpc>
                <a:spcPts val="2280"/>
              </a:lnSpc>
              <a:buNone/>
            </a:pPr>
            <a:r>
              <a:rPr lang="en-US" sz="1400" b="1" dirty="0">
                <a:solidFill>
                  <a:srgbClr val="1F2226"/>
                </a:solidFill>
                <a:latin typeface="Arial" pitchFamily="34" charset="0"/>
                <a:ea typeface="Arial" pitchFamily="34" charset="-122"/>
                <a:cs typeface="Arial" pitchFamily="34" charset="-120"/>
              </a:rPr>
              <a:t>성과 기여</a:t>
            </a:r>
            <a:endParaRPr lang="en-US" sz="1400" dirty="0"/>
          </a:p>
          <a:p>
            <a:pPr algn="ctr" indent="0" marL="0">
              <a:lnSpc>
                <a:spcPts val="2280"/>
              </a:lnSpc>
              <a:buNone/>
            </a:pPr>
            <a:r>
              <a:rPr lang="en-US" sz="1400" b="1" dirty="0">
                <a:solidFill>
                  <a:srgbClr val="1F2226"/>
                </a:solidFill>
                <a:latin typeface="Arial" pitchFamily="34" charset="0"/>
                <a:ea typeface="Arial" pitchFamily="34" charset="-122"/>
                <a:cs typeface="Arial" pitchFamily="34" charset="-120"/>
              </a:rPr>
              <a:t>귀속 모호성</a:t>
            </a:r>
            <a:endParaRPr lang="en-US" sz="1400" dirty="0"/>
          </a:p>
        </p:txBody>
      </p:sp>
      <p:sp>
        <p:nvSpPr>
          <p:cNvPr id="15" name="Text 13"/>
          <p:cNvSpPr/>
          <p:nvPr/>
        </p:nvSpPr>
        <p:spPr>
          <a:xfrm>
            <a:off x="1426464" y="5376672"/>
            <a:ext cx="2743200" cy="263347"/>
          </a:xfrm>
          <a:prstGeom prst="rect">
            <a:avLst/>
          </a:prstGeom>
          <a:noFill/>
          <a:ln/>
        </p:spPr>
        <p:txBody>
          <a:bodyPr wrap="square" lIns="0" tIns="0" rIns="0" bIns="0" rtlCol="0" anchor="ctr"/>
          <a:lstStyle/>
          <a:p>
            <a:pPr algn="ctr" indent="0" marL="0">
              <a:buNone/>
            </a:pPr>
            <a:r>
              <a:rPr lang="en-US" sz="950" dirty="0">
                <a:solidFill>
                  <a:srgbClr val="70757C"/>
                </a:solidFill>
                <a:latin typeface="Arial" pitchFamily="34" charset="0"/>
                <a:ea typeface="Arial" pitchFamily="34" charset="-122"/>
                <a:cs typeface="Arial" pitchFamily="34" charset="-120"/>
              </a:rPr>
              <a:t>IV · 조작 · 무작위 배정</a:t>
            </a:r>
            <a:endParaRPr lang="en-US" sz="950" dirty="0"/>
          </a:p>
        </p:txBody>
      </p:sp>
      <p:sp>
        <p:nvSpPr>
          <p:cNvPr id="16" name="Shape 14"/>
          <p:cNvSpPr/>
          <p:nvPr/>
        </p:nvSpPr>
        <p:spPr>
          <a:xfrm>
            <a:off x="5815584" y="4367174"/>
            <a:ext cx="2743200" cy="965606"/>
          </a:xfrm>
          <a:prstGeom prst="rect">
            <a:avLst/>
          </a:prstGeom>
          <a:solidFill>
            <a:srgbClr val="FFFFFF"/>
          </a:solidFill>
          <a:ln w="15875">
            <a:solidFill>
              <a:srgbClr val="1F2226"/>
            </a:solidFill>
            <a:prstDash val="solid"/>
          </a:ln>
        </p:spPr>
      </p:sp>
      <p:sp>
        <p:nvSpPr>
          <p:cNvPr id="17" name="Text 15"/>
          <p:cNvSpPr/>
          <p:nvPr/>
        </p:nvSpPr>
        <p:spPr>
          <a:xfrm>
            <a:off x="5815584" y="4367174"/>
            <a:ext cx="2743200" cy="965606"/>
          </a:xfrm>
          <a:prstGeom prst="rect">
            <a:avLst/>
          </a:prstGeom>
          <a:noFill/>
          <a:ln/>
        </p:spPr>
        <p:txBody>
          <a:bodyPr wrap="square" lIns="0" tIns="0" rIns="0" bIns="0" rtlCol="0" anchor="ctr"/>
          <a:lstStyle/>
          <a:p>
            <a:pPr algn="ctr" indent="0" marL="0">
              <a:lnSpc>
                <a:spcPts val="2280"/>
              </a:lnSpc>
              <a:buNone/>
            </a:pPr>
            <a:r>
              <a:rPr lang="en-US" sz="1400" b="1" dirty="0">
                <a:solidFill>
                  <a:srgbClr val="1F2226"/>
                </a:solidFill>
                <a:latin typeface="Arial" pitchFamily="34" charset="0"/>
                <a:ea typeface="Arial" pitchFamily="34" charset="-122"/>
                <a:cs typeface="Arial" pitchFamily="34" charset="-120"/>
              </a:rPr>
              <a:t>지각된</a:t>
            </a:r>
            <a:endParaRPr lang="en-US" sz="1400" dirty="0"/>
          </a:p>
          <a:p>
            <a:pPr algn="ctr" indent="0" marL="0">
              <a:lnSpc>
                <a:spcPts val="2280"/>
              </a:lnSpc>
              <a:buNone/>
            </a:pPr>
            <a:r>
              <a:rPr lang="en-US" sz="1400" b="1" dirty="0">
                <a:solidFill>
                  <a:srgbClr val="1F2226"/>
                </a:solidFill>
                <a:latin typeface="Arial" pitchFamily="34" charset="0"/>
                <a:ea typeface="Arial" pitchFamily="34" charset="-122"/>
                <a:cs typeface="Arial" pitchFamily="34" charset="-120"/>
              </a:rPr>
              <a:t>평가 불확실성</a:t>
            </a:r>
            <a:endParaRPr lang="en-US" sz="1400" dirty="0"/>
          </a:p>
        </p:txBody>
      </p:sp>
      <p:sp>
        <p:nvSpPr>
          <p:cNvPr id="18" name="Text 16"/>
          <p:cNvSpPr/>
          <p:nvPr/>
        </p:nvSpPr>
        <p:spPr>
          <a:xfrm>
            <a:off x="5815584" y="5376672"/>
            <a:ext cx="2743200" cy="263347"/>
          </a:xfrm>
          <a:prstGeom prst="rect">
            <a:avLst/>
          </a:prstGeom>
          <a:noFill/>
          <a:ln/>
        </p:spPr>
        <p:txBody>
          <a:bodyPr wrap="square" lIns="0" tIns="0" rIns="0" bIns="0" rtlCol="0" anchor="ctr"/>
          <a:lstStyle/>
          <a:p>
            <a:pPr algn="ctr" indent="0" marL="0">
              <a:buNone/>
            </a:pPr>
            <a:r>
              <a:rPr lang="en-US" sz="950" dirty="0">
                <a:solidFill>
                  <a:srgbClr val="70757C"/>
                </a:solidFill>
                <a:latin typeface="Arial" pitchFamily="34" charset="0"/>
                <a:ea typeface="Arial" pitchFamily="34" charset="-122"/>
                <a:cs typeface="Arial" pitchFamily="34" charset="-120"/>
              </a:rPr>
              <a:t>MV · 측정</a:t>
            </a:r>
            <a:endParaRPr lang="en-US" sz="950" dirty="0"/>
          </a:p>
        </p:txBody>
      </p:sp>
      <p:sp>
        <p:nvSpPr>
          <p:cNvPr id="19" name="Shape 17"/>
          <p:cNvSpPr/>
          <p:nvPr/>
        </p:nvSpPr>
        <p:spPr>
          <a:xfrm>
            <a:off x="10204704" y="4367174"/>
            <a:ext cx="2743200" cy="965606"/>
          </a:xfrm>
          <a:prstGeom prst="rect">
            <a:avLst/>
          </a:prstGeom>
          <a:solidFill>
            <a:srgbClr val="FFFFFF"/>
          </a:solidFill>
          <a:ln w="15875">
            <a:solidFill>
              <a:srgbClr val="1F2226"/>
            </a:solidFill>
            <a:prstDash val="solid"/>
          </a:ln>
        </p:spPr>
      </p:sp>
      <p:sp>
        <p:nvSpPr>
          <p:cNvPr id="20" name="Text 18"/>
          <p:cNvSpPr/>
          <p:nvPr/>
        </p:nvSpPr>
        <p:spPr>
          <a:xfrm>
            <a:off x="10204704" y="4367174"/>
            <a:ext cx="2743200" cy="965606"/>
          </a:xfrm>
          <a:prstGeom prst="rect">
            <a:avLst/>
          </a:prstGeom>
          <a:noFill/>
          <a:ln/>
        </p:spPr>
        <p:txBody>
          <a:bodyPr wrap="square" lIns="0" tIns="0" rIns="0" bIns="0" rtlCol="0" anchor="ctr"/>
          <a:lstStyle/>
          <a:p>
            <a:pPr algn="ctr" indent="0" marL="0">
              <a:lnSpc>
                <a:spcPts val="2280"/>
              </a:lnSpc>
              <a:buNone/>
            </a:pPr>
            <a:r>
              <a:rPr lang="en-US" sz="1400" b="1" dirty="0">
                <a:solidFill>
                  <a:srgbClr val="1F2226"/>
                </a:solidFill>
                <a:latin typeface="Arial" pitchFamily="34" charset="0"/>
                <a:ea typeface="Arial" pitchFamily="34" charset="-122"/>
                <a:cs typeface="Arial" pitchFamily="34" charset="-120"/>
              </a:rPr>
              <a:t>절차공정성</a:t>
            </a:r>
            <a:endParaRPr lang="en-US" sz="1400" dirty="0"/>
          </a:p>
          <a:p>
            <a:pPr algn="ctr" indent="0" marL="0">
              <a:lnSpc>
                <a:spcPts val="2280"/>
              </a:lnSpc>
              <a:buNone/>
            </a:pPr>
            <a:r>
              <a:rPr lang="en-US" sz="1400" b="1" dirty="0">
                <a:solidFill>
                  <a:srgbClr val="1F2226"/>
                </a:solidFill>
                <a:latin typeface="Arial" pitchFamily="34" charset="0"/>
                <a:ea typeface="Arial" pitchFamily="34" charset="-122"/>
                <a:cs typeface="Arial" pitchFamily="34" charset="-120"/>
              </a:rPr>
              <a:t>지각</a:t>
            </a:r>
            <a:endParaRPr lang="en-US" sz="1400" dirty="0"/>
          </a:p>
        </p:txBody>
      </p:sp>
      <p:sp>
        <p:nvSpPr>
          <p:cNvPr id="21" name="Text 19"/>
          <p:cNvSpPr/>
          <p:nvPr/>
        </p:nvSpPr>
        <p:spPr>
          <a:xfrm>
            <a:off x="10204704" y="5376672"/>
            <a:ext cx="2743200" cy="263347"/>
          </a:xfrm>
          <a:prstGeom prst="rect">
            <a:avLst/>
          </a:prstGeom>
          <a:noFill/>
          <a:ln/>
        </p:spPr>
        <p:txBody>
          <a:bodyPr wrap="square" lIns="0" tIns="0" rIns="0" bIns="0" rtlCol="0" anchor="ctr"/>
          <a:lstStyle/>
          <a:p>
            <a:pPr algn="ctr" indent="0" marL="0">
              <a:buNone/>
            </a:pPr>
            <a:r>
              <a:rPr lang="en-US" sz="950" dirty="0">
                <a:solidFill>
                  <a:srgbClr val="70757C"/>
                </a:solidFill>
                <a:latin typeface="Arial" pitchFamily="34" charset="0"/>
                <a:ea typeface="Arial" pitchFamily="34" charset="-122"/>
                <a:cs typeface="Arial" pitchFamily="34" charset="-120"/>
              </a:rPr>
              <a:t>DV · 측정</a:t>
            </a:r>
            <a:endParaRPr lang="en-US" sz="950" dirty="0"/>
          </a:p>
        </p:txBody>
      </p:sp>
      <p:sp>
        <p:nvSpPr>
          <p:cNvPr id="22" name="Shape 20"/>
          <p:cNvSpPr/>
          <p:nvPr/>
        </p:nvSpPr>
        <p:spPr>
          <a:xfrm>
            <a:off x="4301338" y="4849978"/>
            <a:ext cx="1382573" cy="0"/>
          </a:xfrm>
          <a:prstGeom prst="line">
            <a:avLst/>
          </a:prstGeom>
          <a:noFill/>
          <a:ln w="19050">
            <a:solidFill>
              <a:srgbClr val="1F2226"/>
            </a:solidFill>
            <a:prstDash val="solid"/>
            <a:tailEnd type="triangle"/>
          </a:ln>
        </p:spPr>
      </p:sp>
      <p:sp>
        <p:nvSpPr>
          <p:cNvPr id="23" name="Text 21"/>
          <p:cNvSpPr/>
          <p:nvPr/>
        </p:nvSpPr>
        <p:spPr>
          <a:xfrm>
            <a:off x="4992624" y="4411066"/>
            <a:ext cx="1382573" cy="307238"/>
          </a:xfrm>
          <a:prstGeom prst="rect">
            <a:avLst/>
          </a:prstGeom>
          <a:noFill/>
          <a:ln/>
        </p:spPr>
        <p:txBody>
          <a:bodyPr wrap="square" lIns="0" tIns="0" rIns="0" bIns="0" rtlCol="0" anchor="ctr"/>
          <a:lstStyle/>
          <a:p>
            <a:pPr algn="l" indent="0" marL="0">
              <a:buNone/>
            </a:pPr>
            <a:r>
              <a:rPr lang="en-US" sz="1150" b="1" dirty="0">
                <a:solidFill>
                  <a:srgbClr val="1F2226"/>
                </a:solidFill>
                <a:latin typeface="Arial" pitchFamily="34" charset="0"/>
                <a:ea typeface="Arial" pitchFamily="34" charset="-122"/>
                <a:cs typeface="Arial" pitchFamily="34" charset="-120"/>
              </a:rPr>
              <a:t>H1</a:t>
            </a:r>
            <a:endParaRPr lang="en-US" sz="1150" dirty="0"/>
          </a:p>
        </p:txBody>
      </p:sp>
      <p:sp>
        <p:nvSpPr>
          <p:cNvPr id="24" name="Shape 22"/>
          <p:cNvSpPr/>
          <p:nvPr/>
        </p:nvSpPr>
        <p:spPr>
          <a:xfrm>
            <a:off x="8690458" y="4849978"/>
            <a:ext cx="1382573" cy="0"/>
          </a:xfrm>
          <a:prstGeom prst="line">
            <a:avLst/>
          </a:prstGeom>
          <a:noFill/>
          <a:ln w="19050">
            <a:solidFill>
              <a:srgbClr val="1F2226"/>
            </a:solidFill>
            <a:prstDash val="solid"/>
            <a:tailEnd type="triangle"/>
          </a:ln>
        </p:spPr>
      </p:sp>
      <p:sp>
        <p:nvSpPr>
          <p:cNvPr id="25" name="Text 23"/>
          <p:cNvSpPr/>
          <p:nvPr/>
        </p:nvSpPr>
        <p:spPr>
          <a:xfrm>
            <a:off x="8690458" y="4411066"/>
            <a:ext cx="1382573" cy="307238"/>
          </a:xfrm>
          <a:prstGeom prst="rect">
            <a:avLst/>
          </a:prstGeom>
          <a:noFill/>
          <a:ln/>
        </p:spPr>
        <p:txBody>
          <a:bodyPr wrap="square" lIns="0" tIns="0" rIns="0" bIns="0" rtlCol="0" anchor="ctr"/>
          <a:lstStyle/>
          <a:p>
            <a:pPr algn="ctr" indent="0" marL="0">
              <a:buNone/>
            </a:pPr>
            <a:r>
              <a:rPr lang="en-US" sz="1150" b="1" dirty="0">
                <a:solidFill>
                  <a:srgbClr val="1F2226"/>
                </a:solidFill>
                <a:latin typeface="Arial" pitchFamily="34" charset="0"/>
                <a:ea typeface="Arial" pitchFamily="34" charset="-122"/>
                <a:cs typeface="Arial" pitchFamily="34" charset="-120"/>
              </a:rPr>
              <a:t>H2</a:t>
            </a:r>
            <a:endParaRPr lang="en-US" sz="1150" dirty="0"/>
          </a:p>
        </p:txBody>
      </p:sp>
      <p:sp>
        <p:nvSpPr>
          <p:cNvPr id="26" name="Shape 24"/>
          <p:cNvSpPr/>
          <p:nvPr/>
        </p:nvSpPr>
        <p:spPr>
          <a:xfrm>
            <a:off x="3621024" y="3511296"/>
            <a:ext cx="2743200" cy="482803"/>
          </a:xfrm>
          <a:prstGeom prst="rect">
            <a:avLst/>
          </a:prstGeom>
          <a:solidFill>
            <a:srgbClr val="FFFFFF"/>
          </a:solidFill>
          <a:ln w="19050">
            <a:solidFill>
              <a:srgbClr val="1F2226"/>
            </a:solidFill>
            <a:prstDash val="solid"/>
          </a:ln>
        </p:spPr>
      </p:sp>
      <p:sp>
        <p:nvSpPr>
          <p:cNvPr id="27" name="Text 25"/>
          <p:cNvSpPr/>
          <p:nvPr/>
        </p:nvSpPr>
        <p:spPr>
          <a:xfrm>
            <a:off x="3621024" y="3511296"/>
            <a:ext cx="2743200" cy="482803"/>
          </a:xfrm>
          <a:prstGeom prst="rect">
            <a:avLst/>
          </a:prstGeom>
          <a:noFill/>
          <a:ln/>
        </p:spPr>
        <p:txBody>
          <a:bodyPr wrap="square" lIns="0" tIns="0" rIns="0" bIns="0" rtlCol="0" anchor="ctr"/>
          <a:lstStyle/>
          <a:p>
            <a:pPr algn="ctr" indent="0" marL="0">
              <a:buNone/>
            </a:pPr>
            <a:r>
              <a:rPr lang="en-US" sz="1050" b="1" dirty="0">
                <a:solidFill>
                  <a:srgbClr val="1F2226"/>
                </a:solidFill>
                <a:latin typeface="Arial" pitchFamily="34" charset="0"/>
                <a:ea typeface="Arial" pitchFamily="34" charset="-122"/>
                <a:cs typeface="Arial" pitchFamily="34" charset="-120"/>
              </a:rPr>
              <a:t>평가 절차 명확성  MOD</a:t>
            </a:r>
            <a:endParaRPr lang="en-US" sz="1050" dirty="0"/>
          </a:p>
        </p:txBody>
      </p:sp>
      <p:sp>
        <p:nvSpPr>
          <p:cNvPr id="28" name="Shape 26"/>
          <p:cNvSpPr/>
          <p:nvPr/>
        </p:nvSpPr>
        <p:spPr>
          <a:xfrm>
            <a:off x="4992624" y="3994099"/>
            <a:ext cx="0" cy="855878"/>
          </a:xfrm>
          <a:prstGeom prst="line">
            <a:avLst/>
          </a:prstGeom>
          <a:noFill/>
          <a:ln w="22225">
            <a:solidFill>
              <a:srgbClr val="1F2226"/>
            </a:solidFill>
            <a:prstDash val="solid"/>
            <a:tailEnd type="triangle"/>
          </a:ln>
        </p:spPr>
      </p:sp>
      <p:sp>
        <p:nvSpPr>
          <p:cNvPr id="29" name="Text 27"/>
          <p:cNvSpPr/>
          <p:nvPr/>
        </p:nvSpPr>
        <p:spPr>
          <a:xfrm>
            <a:off x="4301338" y="4235501"/>
            <a:ext cx="603504" cy="285293"/>
          </a:xfrm>
          <a:prstGeom prst="rect">
            <a:avLst/>
          </a:prstGeom>
          <a:noFill/>
          <a:ln/>
        </p:spPr>
        <p:txBody>
          <a:bodyPr wrap="square" lIns="0" tIns="0" rIns="0" bIns="0" rtlCol="0" anchor="ctr"/>
          <a:lstStyle/>
          <a:p>
            <a:pPr algn="r" indent="0" marL="0">
              <a:buNone/>
            </a:pPr>
            <a:r>
              <a:rPr lang="en-US" sz="1150" b="1" dirty="0">
                <a:solidFill>
                  <a:srgbClr val="1F2226"/>
                </a:solidFill>
                <a:latin typeface="Arial" pitchFamily="34" charset="0"/>
                <a:ea typeface="Arial" pitchFamily="34" charset="-122"/>
                <a:cs typeface="Arial" pitchFamily="34" charset="-120"/>
              </a:rPr>
              <a:t>H4</a:t>
            </a:r>
            <a:endParaRPr lang="en-US" sz="1150" dirty="0"/>
          </a:p>
        </p:txBody>
      </p:sp>
      <p:sp>
        <p:nvSpPr>
          <p:cNvPr id="30" name="Text 28"/>
          <p:cNvSpPr/>
          <p:nvPr/>
        </p:nvSpPr>
        <p:spPr>
          <a:xfrm>
            <a:off x="6528816" y="3599078"/>
            <a:ext cx="2194560" cy="263347"/>
          </a:xfrm>
          <a:prstGeom prst="rect">
            <a:avLst/>
          </a:prstGeom>
          <a:noFill/>
          <a:ln/>
        </p:spPr>
        <p:txBody>
          <a:bodyPr wrap="square" lIns="0" tIns="0" rIns="0" bIns="0" rtlCol="0" anchor="ctr"/>
          <a:lstStyle/>
          <a:p>
            <a:pPr indent="0" marL="0">
              <a:buNone/>
            </a:pPr>
            <a:r>
              <a:rPr lang="en-US" sz="950" dirty="0">
                <a:solidFill>
                  <a:srgbClr val="70757C"/>
                </a:solidFill>
                <a:latin typeface="Arial" pitchFamily="34" charset="0"/>
                <a:ea typeface="Arial" pitchFamily="34" charset="-122"/>
                <a:cs typeface="Arial" pitchFamily="34" charset="-120"/>
              </a:rPr>
              <a:t>PROCESS Model 7</a:t>
            </a:r>
            <a:endParaRPr lang="en-US" sz="950" dirty="0"/>
          </a:p>
        </p:txBody>
      </p:sp>
      <p:sp>
        <p:nvSpPr>
          <p:cNvPr id="31" name="Shape 29"/>
          <p:cNvSpPr/>
          <p:nvPr/>
        </p:nvSpPr>
        <p:spPr>
          <a:xfrm>
            <a:off x="2798064" y="5749747"/>
            <a:ext cx="9052560" cy="0"/>
          </a:xfrm>
          <a:prstGeom prst="line">
            <a:avLst/>
          </a:prstGeom>
          <a:noFill/>
          <a:ln w="12700">
            <a:solidFill>
              <a:srgbClr val="70757C"/>
            </a:solidFill>
            <a:prstDash val="sysDot"/>
          </a:ln>
        </p:spPr>
      </p:sp>
      <p:sp>
        <p:nvSpPr>
          <p:cNvPr id="32" name="Text 30"/>
          <p:cNvSpPr/>
          <p:nvPr/>
        </p:nvSpPr>
        <p:spPr>
          <a:xfrm>
            <a:off x="5376672" y="5793638"/>
            <a:ext cx="3950208" cy="285293"/>
          </a:xfrm>
          <a:prstGeom prst="rect">
            <a:avLst/>
          </a:prstGeom>
          <a:noFill/>
          <a:ln/>
        </p:spPr>
        <p:txBody>
          <a:bodyPr wrap="square" lIns="0" tIns="0" rIns="0" bIns="0" rtlCol="0" anchor="ctr"/>
          <a:lstStyle/>
          <a:p>
            <a:pPr algn="ctr" indent="0" marL="0">
              <a:buNone/>
            </a:pPr>
            <a:r>
              <a:rPr lang="en-US" sz="1050" dirty="0">
                <a:solidFill>
                  <a:srgbClr val="70757C"/>
                </a:solidFill>
                <a:latin typeface="Arial" pitchFamily="34" charset="0"/>
                <a:ea typeface="Arial" pitchFamily="34" charset="-122"/>
                <a:cs typeface="Arial" pitchFamily="34" charset="-120"/>
              </a:rPr>
              <a:t>H3  매개 (간접효과)</a:t>
            </a:r>
            <a:endParaRPr lang="en-US" sz="1050" dirty="0"/>
          </a:p>
        </p:txBody>
      </p:sp>
      <p:sp>
        <p:nvSpPr>
          <p:cNvPr id="33" name="Text 31"/>
          <p:cNvSpPr/>
          <p:nvPr/>
        </p:nvSpPr>
        <p:spPr>
          <a:xfrm>
            <a:off x="768096" y="6100877"/>
            <a:ext cx="3511296" cy="329184"/>
          </a:xfrm>
          <a:prstGeom prst="rect">
            <a:avLst/>
          </a:prstGeom>
          <a:noFill/>
          <a:ln/>
        </p:spPr>
        <p:txBody>
          <a:bodyPr wrap="square" lIns="0" tIns="0" rIns="0" bIns="0" rtlCol="0" anchor="ctr"/>
          <a:lstStyle/>
          <a:p>
            <a:pPr algn="l" indent="0" marL="0">
              <a:buNone/>
            </a:pPr>
            <a:r>
              <a:rPr lang="en-US" sz="1300" b="1" dirty="0">
                <a:solidFill>
                  <a:srgbClr val="1F2226"/>
                </a:solidFill>
                <a:latin typeface="Arial" pitchFamily="34" charset="0"/>
                <a:ea typeface="Arial" pitchFamily="34" charset="-122"/>
                <a:cs typeface="Arial" pitchFamily="34" charset="-120"/>
              </a:rPr>
              <a:t>【 연구 가설 】</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68096" y="6320333"/>
          <a:ext cx="13112496" cy="914400"/>
        </p:xfrm>
        <a:graphic>
          <a:graphicData uri="http://schemas.openxmlformats.org/drawingml/2006/table">
            <a:tbl>
              <a:tblPr/>
              <a:tblGrid>
                <a:gridCol w="790042"/>
                <a:gridCol w="7626096"/>
                <a:gridCol w="4696358"/>
              </a:tblGrid>
              <a:tr h="296266">
                <a:tc>
                  <a:txBody>
                    <a:bodyPr/>
                    <a:lstStyle/>
                    <a:p>
                      <a:pPr indent="0" marL="0">
                        <a:buNone/>
                      </a:pPr>
                      <a:r>
                        <a:rPr lang="en-US" sz="1200" b="1" dirty="0">
                          <a:solidFill>
                            <a:srgbClr val="1F2226"/>
                          </a:solidFill>
                          <a:latin typeface="Arial" pitchFamily="34" charset="0"/>
                          <a:ea typeface="Arial" pitchFamily="34" charset="-122"/>
                          <a:cs typeface="Arial" pitchFamily="34" charset="-120"/>
                        </a:rPr>
                        <a:t>H1</a:t>
                      </a:r>
                      <a:endParaRPr lang="en-US" sz="120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200" dirty="0">
                          <a:solidFill>
                            <a:srgbClr val="1F2226"/>
                          </a:solidFill>
                          <a:latin typeface="Arial" pitchFamily="34" charset="0"/>
                          <a:ea typeface="Arial" pitchFamily="34" charset="-122"/>
                          <a:cs typeface="Arial" pitchFamily="34" charset="-120"/>
                        </a:rPr>
                        <a:t>귀속 모호성이 높을수록 지각된 평가 불확실성이 높아질 것이다</a:t>
                      </a:r>
                      <a:endParaRPr lang="en-US" sz="120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200" dirty="0">
                          <a:solidFill>
                            <a:srgbClr val="1F2226"/>
                          </a:solidFill>
                          <a:latin typeface="Arial" pitchFamily="34" charset="0"/>
                          <a:ea typeface="Arial" pitchFamily="34" charset="-122"/>
                          <a:cs typeface="Arial" pitchFamily="34" charset="-120"/>
                        </a:rPr>
                        <a:t>expectancy principle (Weiner, 1985, p.549)</a:t>
                      </a:r>
                      <a:endParaRPr lang="en-US" sz="120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296266">
                <a:tc>
                  <a:txBody>
                    <a:bodyPr/>
                    <a:lstStyle/>
                    <a:p>
                      <a:pPr indent="0" marL="0">
                        <a:buNone/>
                      </a:pPr>
                      <a:r>
                        <a:rPr lang="en-US" sz="1200" b="1" dirty="0">
                          <a:solidFill>
                            <a:srgbClr val="1F2226"/>
                          </a:solidFill>
                          <a:latin typeface="Arial" pitchFamily="34" charset="0"/>
                          <a:ea typeface="Arial" pitchFamily="34" charset="-122"/>
                          <a:cs typeface="Arial" pitchFamily="34" charset="-120"/>
                        </a:rPr>
                        <a:t>H2</a:t>
                      </a:r>
                      <a:endParaRPr lang="en-US" sz="120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200" dirty="0">
                          <a:solidFill>
                            <a:srgbClr val="1F2226"/>
                          </a:solidFill>
                          <a:latin typeface="Arial" pitchFamily="34" charset="0"/>
                          <a:ea typeface="Arial" pitchFamily="34" charset="-122"/>
                          <a:cs typeface="Arial" pitchFamily="34" charset="-120"/>
                        </a:rPr>
                        <a:t>지각된 평가 불확실성이 높을수록 절차공정성 지각이 낮아질 것이다</a:t>
                      </a:r>
                      <a:endParaRPr lang="en-US" sz="120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200" dirty="0">
                          <a:solidFill>
                            <a:srgbClr val="1F2226"/>
                          </a:solidFill>
                          <a:latin typeface="Arial" pitchFamily="34" charset="0"/>
                          <a:ea typeface="Arial" pitchFamily="34" charset="-122"/>
                          <a:cs typeface="Arial" pitchFamily="34" charset="-120"/>
                        </a:rPr>
                        <a:t>procedural rules — consistency · accuracy (Leventhal, 1980)</a:t>
                      </a:r>
                      <a:endParaRPr lang="en-US" sz="120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296266">
                <a:tc>
                  <a:txBody>
                    <a:bodyPr/>
                    <a:lstStyle/>
                    <a:p>
                      <a:pPr indent="0" marL="0">
                        <a:buNone/>
                      </a:pPr>
                      <a:r>
                        <a:rPr lang="en-US" sz="1200" b="1" dirty="0">
                          <a:solidFill>
                            <a:srgbClr val="1F2226"/>
                          </a:solidFill>
                          <a:latin typeface="Arial" pitchFamily="34" charset="0"/>
                          <a:ea typeface="Arial" pitchFamily="34" charset="-122"/>
                          <a:cs typeface="Arial" pitchFamily="34" charset="-120"/>
                        </a:rPr>
                        <a:t>H3</a:t>
                      </a:r>
                      <a:endParaRPr lang="en-US" sz="120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200" dirty="0">
                          <a:solidFill>
                            <a:srgbClr val="1F2226"/>
                          </a:solidFill>
                          <a:latin typeface="Arial" pitchFamily="34" charset="0"/>
                          <a:ea typeface="Arial" pitchFamily="34" charset="-122"/>
                          <a:cs typeface="Arial" pitchFamily="34" charset="-120"/>
                        </a:rPr>
                        <a:t>귀속 모호성의 영향은 평가 불확실성에 의해 매개될 것이다</a:t>
                      </a:r>
                      <a:endParaRPr lang="en-US" sz="120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200" dirty="0">
                          <a:solidFill>
                            <a:srgbClr val="1F2226"/>
                          </a:solidFill>
                          <a:latin typeface="Arial" pitchFamily="34" charset="0"/>
                          <a:ea typeface="Arial" pitchFamily="34" charset="-122"/>
                          <a:cs typeface="Arial" pitchFamily="34" charset="-120"/>
                        </a:rPr>
                        <a:t>H1 + H2 연쇄</a:t>
                      </a:r>
                      <a:endParaRPr lang="en-US" sz="120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296266">
                <a:tc>
                  <a:txBody>
                    <a:bodyPr/>
                    <a:lstStyle/>
                    <a:p>
                      <a:pPr indent="0" marL="0">
                        <a:buNone/>
                      </a:pPr>
                      <a:r>
                        <a:rPr lang="en-US" sz="1200" b="1" dirty="0">
                          <a:solidFill>
                            <a:srgbClr val="1F2226"/>
                          </a:solidFill>
                          <a:latin typeface="Arial" pitchFamily="34" charset="0"/>
                          <a:ea typeface="Arial" pitchFamily="34" charset="-122"/>
                          <a:cs typeface="Arial" pitchFamily="34" charset="-120"/>
                        </a:rPr>
                        <a:t>H4</a:t>
                      </a:r>
                      <a:endParaRPr lang="en-US" sz="120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200" dirty="0">
                          <a:solidFill>
                            <a:srgbClr val="1F2226"/>
                          </a:solidFill>
                          <a:latin typeface="Arial" pitchFamily="34" charset="0"/>
                          <a:ea typeface="Arial" pitchFamily="34" charset="-122"/>
                          <a:cs typeface="Arial" pitchFamily="34" charset="-120"/>
                        </a:rPr>
                        <a:t>평가 절차 명확성이 높을수록 귀속 모호성이 평가 불확실성을 높이는 관계가 완화될 것이다</a:t>
                      </a:r>
                      <a:endParaRPr lang="en-US" sz="120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200" dirty="0">
                          <a:solidFill>
                            <a:srgbClr val="1F2226"/>
                          </a:solidFill>
                          <a:latin typeface="Arial" pitchFamily="34" charset="0"/>
                          <a:ea typeface="Arial" pitchFamily="34" charset="-122"/>
                          <a:cs typeface="Arial" pitchFamily="34" charset="-120"/>
                        </a:rPr>
                        <a:t>완화 근거 — Erdogan(2002) 등  ·  Model 7</a:t>
                      </a:r>
                      <a:endParaRPr lang="en-US" sz="120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bl>
          </a:graphicData>
        </a:graphic>
      </p:graphicFrame>
      <p:sp>
        <p:nvSpPr>
          <p:cNvPr id="35" name="Text 32"/>
          <p:cNvSpPr/>
          <p:nvPr/>
        </p:nvSpPr>
        <p:spPr>
          <a:xfrm>
            <a:off x="768096" y="7593178"/>
            <a:ext cx="11521440" cy="285293"/>
          </a:xfrm>
          <a:prstGeom prst="rect">
            <a:avLst/>
          </a:prstGeom>
          <a:noFill/>
          <a:ln/>
        </p:spPr>
        <p:txBody>
          <a:bodyPr wrap="square" lIns="0" tIns="0" rIns="0" bIns="0" rtlCol="0" anchor="ctr"/>
          <a:lstStyle/>
          <a:p>
            <a:pPr indent="0" marL="0">
              <a:buNone/>
            </a:pPr>
            <a:r>
              <a:rPr lang="en-US" sz="1050" dirty="0">
                <a:solidFill>
                  <a:srgbClr val="70757C"/>
                </a:solidFill>
                <a:latin typeface="Arial" pitchFamily="34" charset="0"/>
                <a:ea typeface="Arial" pitchFamily="34" charset="-122"/>
                <a:cs typeface="Arial" pitchFamily="34" charset="-120"/>
              </a:rPr>
              <a:t>조절변수를 측정으로 둘 것인가 시나리오에서 조작할 것인가는 사전 검정력 분석 결과에 따라 조정할 계획이다</a:t>
            </a:r>
            <a:endParaRPr lang="en-US" sz="1050" dirty="0"/>
          </a:p>
        </p:txBody>
      </p:sp>
      <p:sp>
        <p:nvSpPr>
          <p:cNvPr id="36" name="Text 33"/>
          <p:cNvSpPr/>
          <p:nvPr/>
        </p:nvSpPr>
        <p:spPr>
          <a:xfrm>
            <a:off x="12508992" y="7626096"/>
            <a:ext cx="1448410" cy="307238"/>
          </a:xfrm>
          <a:prstGeom prst="rect">
            <a:avLst/>
          </a:prstGeom>
          <a:noFill/>
          <a:ln/>
        </p:spPr>
        <p:txBody>
          <a:bodyPr wrap="square" lIns="0" tIns="0" rIns="0" bIns="0" rtlCol="0" anchor="ctr"/>
          <a:lstStyle/>
          <a:p>
            <a:pPr algn="r" indent="0" marL="0">
              <a:buNone/>
            </a:pPr>
            <a:r>
              <a:rPr lang="en-US" sz="1000" dirty="0">
                <a:solidFill>
                  <a:srgbClr val="70757C"/>
                </a:solidFill>
                <a:latin typeface="Arial" pitchFamily="34" charset="0"/>
                <a:ea typeface="Arial" pitchFamily="34" charset="-122"/>
                <a:cs typeface="Arial" pitchFamily="34" charset="-120"/>
              </a:rPr>
              <a:t>05 / 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339328" y="329184"/>
            <a:ext cx="4992624" cy="285293"/>
          </a:xfrm>
          <a:prstGeom prst="rect">
            <a:avLst/>
          </a:prstGeom>
          <a:noFill/>
          <a:ln/>
        </p:spPr>
        <p:txBody>
          <a:bodyPr wrap="square" lIns="0" tIns="0" rIns="0" bIns="0" rtlCol="0" anchor="ctr"/>
          <a:lstStyle/>
          <a:p>
            <a:pPr algn="r" indent="0" marL="0">
              <a:buNone/>
            </a:pPr>
            <a:r>
              <a:rPr lang="en-US" sz="1050" dirty="0">
                <a:solidFill>
                  <a:srgbClr val="70757C"/>
                </a:solidFill>
                <a:latin typeface="Arial" pitchFamily="34" charset="0"/>
                <a:ea typeface="Arial" pitchFamily="34" charset="-122"/>
                <a:cs typeface="Arial" pitchFamily="34" charset="-120"/>
              </a:rPr>
              <a:t>2026학년도 석사학위논문</a:t>
            </a:r>
            <a:endParaRPr lang="en-US" sz="1050" dirty="0"/>
          </a:p>
        </p:txBody>
      </p:sp>
      <p:sp>
        <p:nvSpPr>
          <p:cNvPr id="3" name="Text 1"/>
          <p:cNvSpPr/>
          <p:nvPr/>
        </p:nvSpPr>
        <p:spPr>
          <a:xfrm>
            <a:off x="8339328" y="603504"/>
            <a:ext cx="4992624" cy="307238"/>
          </a:xfrm>
          <a:prstGeom prst="rect">
            <a:avLst/>
          </a:prstGeom>
          <a:noFill/>
          <a:ln/>
        </p:spPr>
        <p:txBody>
          <a:bodyPr wrap="square" lIns="0" tIns="0" rIns="0" bIns="0" rtlCol="0" anchor="ctr"/>
          <a:lstStyle/>
          <a:p>
            <a:pPr algn="r" indent="0" marL="0">
              <a:buNone/>
            </a:pPr>
            <a:r>
              <a:rPr lang="en-US" sz="1200" b="1" dirty="0">
                <a:solidFill>
                  <a:srgbClr val="1F2226"/>
                </a:solidFill>
                <a:latin typeface="Arial" pitchFamily="34" charset="0"/>
                <a:ea typeface="Arial" pitchFamily="34" charset="-122"/>
                <a:cs typeface="Arial" pitchFamily="34" charset="-120"/>
              </a:rPr>
              <a:t>프로포절 심사</a:t>
            </a:r>
            <a:endParaRPr lang="en-US" sz="1200" dirty="0"/>
          </a:p>
        </p:txBody>
      </p:sp>
      <p:sp>
        <p:nvSpPr>
          <p:cNvPr id="4" name="Shape 2"/>
          <p:cNvSpPr/>
          <p:nvPr/>
        </p:nvSpPr>
        <p:spPr>
          <a:xfrm>
            <a:off x="680314" y="1009498"/>
            <a:ext cx="13277088" cy="0"/>
          </a:xfrm>
          <a:prstGeom prst="line">
            <a:avLst/>
          </a:prstGeom>
          <a:noFill/>
          <a:ln w="12700">
            <a:solidFill>
              <a:srgbClr val="C9CDD3"/>
            </a:solidFill>
            <a:prstDash val="solid"/>
          </a:ln>
        </p:spPr>
      </p:sp>
      <p:sp>
        <p:nvSpPr>
          <p:cNvPr id="5" name="Shape 3"/>
          <p:cNvSpPr/>
          <p:nvPr/>
        </p:nvSpPr>
        <p:spPr>
          <a:xfrm>
            <a:off x="8339328" y="1009498"/>
            <a:ext cx="5618074" cy="0"/>
          </a:xfrm>
          <a:prstGeom prst="line">
            <a:avLst/>
          </a:prstGeom>
          <a:noFill/>
          <a:ln w="25400">
            <a:solidFill>
              <a:srgbClr val="8C2A32"/>
            </a:solidFill>
            <a:prstDash val="solid"/>
          </a:ln>
        </p:spPr>
      </p:sp>
      <p:sp>
        <p:nvSpPr>
          <p:cNvPr id="6" name="Shape 4"/>
          <p:cNvSpPr/>
          <p:nvPr/>
        </p:nvSpPr>
        <p:spPr>
          <a:xfrm>
            <a:off x="680314" y="1207008"/>
            <a:ext cx="899770" cy="899770"/>
          </a:xfrm>
          <a:prstGeom prst="ellipse">
            <a:avLst/>
          </a:prstGeom>
          <a:solidFill>
            <a:srgbClr val="FFFFFF">
              <a:alpha val="0"/>
            </a:srgbClr>
          </a:solidFill>
          <a:ln w="63500">
            <a:solidFill>
              <a:srgbClr val="8C2A32"/>
            </a:solidFill>
            <a:prstDash val="solid"/>
          </a:ln>
        </p:spPr>
      </p:sp>
      <p:sp>
        <p:nvSpPr>
          <p:cNvPr id="7" name="Shape 5"/>
          <p:cNvSpPr/>
          <p:nvPr/>
        </p:nvSpPr>
        <p:spPr>
          <a:xfrm>
            <a:off x="1207008" y="1119226"/>
            <a:ext cx="680314" cy="1075334"/>
          </a:xfrm>
          <a:prstGeom prst="rect">
            <a:avLst/>
          </a:prstGeom>
          <a:solidFill>
            <a:srgbClr val="FFFFFF"/>
          </a:solidFill>
          <a:ln w="12700">
            <a:solidFill>
              <a:srgbClr val="FFFFFF"/>
            </a:solidFill>
            <a:prstDash val="solid"/>
          </a:ln>
        </p:spPr>
      </p:sp>
      <p:sp>
        <p:nvSpPr>
          <p:cNvPr id="8" name="Text 6"/>
          <p:cNvSpPr/>
          <p:nvPr/>
        </p:nvSpPr>
        <p:spPr>
          <a:xfrm>
            <a:off x="1119226" y="1207008"/>
            <a:ext cx="12508992" cy="899770"/>
          </a:xfrm>
          <a:prstGeom prst="rect">
            <a:avLst/>
          </a:prstGeom>
          <a:noFill/>
          <a:ln/>
        </p:spPr>
        <p:txBody>
          <a:bodyPr wrap="square" lIns="0" tIns="0" rIns="0" bIns="0" rtlCol="0" anchor="ctr"/>
          <a:lstStyle/>
          <a:p>
            <a:pPr indent="0" marL="0">
              <a:buNone/>
            </a:pPr>
            <a:r>
              <a:rPr lang="en-US" sz="2600" b="1" dirty="0">
                <a:solidFill>
                  <a:srgbClr val="1F2226"/>
                </a:solidFill>
                <a:latin typeface="Arial" pitchFamily="34" charset="0"/>
                <a:ea typeface="Arial" pitchFamily="34" charset="-122"/>
                <a:cs typeface="Arial" pitchFamily="34" charset="-120"/>
              </a:rPr>
              <a:t>06.  연구 방법</a:t>
            </a:r>
            <a:endParaRPr lang="en-US" sz="2600" dirty="0"/>
          </a:p>
        </p:txBody>
      </p:sp>
      <p:sp>
        <p:nvSpPr>
          <p:cNvPr id="9" name="Text 7"/>
          <p:cNvSpPr/>
          <p:nvPr/>
        </p:nvSpPr>
        <p:spPr>
          <a:xfrm>
            <a:off x="768096" y="2304288"/>
            <a:ext cx="13112496" cy="329184"/>
          </a:xfrm>
          <a:prstGeom prst="rect">
            <a:avLst/>
          </a:prstGeom>
          <a:noFill/>
          <a:ln/>
        </p:spPr>
        <p:txBody>
          <a:bodyPr wrap="square" lIns="0" tIns="0" rIns="0" bIns="0" rtlCol="0" anchor="ctr"/>
          <a:lstStyle/>
          <a:p>
            <a:pPr algn="l" indent="0" marL="0">
              <a:buNone/>
            </a:pPr>
            <a:r>
              <a:rPr lang="en-US" sz="1300" b="1" dirty="0">
                <a:solidFill>
                  <a:srgbClr val="1F2226"/>
                </a:solidFill>
                <a:latin typeface="Arial" pitchFamily="34" charset="0"/>
                <a:ea typeface="Arial" pitchFamily="34" charset="-122"/>
                <a:cs typeface="Arial" pitchFamily="34" charset="-120"/>
              </a:rPr>
              <a:t>【 설계 및 측정 】</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68096" y="2699309"/>
          <a:ext cx="13112496" cy="914400"/>
        </p:xfrm>
        <a:graphic>
          <a:graphicData uri="http://schemas.openxmlformats.org/drawingml/2006/table">
            <a:tbl>
              <a:tblPr/>
              <a:tblGrid>
                <a:gridCol w="3291840"/>
                <a:gridCol w="6441034"/>
                <a:gridCol w="3379622"/>
              </a:tblGrid>
              <a:tr h="504749">
                <a:tc>
                  <a:txBody>
                    <a:bodyPr/>
                    <a:lstStyle/>
                    <a:p>
                      <a:pPr indent="0" marL="0">
                        <a:buNone/>
                      </a:pPr>
                      <a:r>
                        <a:rPr lang="en-US" sz="1150" b="1" dirty="0">
                          <a:solidFill>
                            <a:srgbClr val="1F2226"/>
                          </a:solidFill>
                          <a:latin typeface="Arial" pitchFamily="34" charset="0"/>
                          <a:ea typeface="Arial" pitchFamily="34" charset="-122"/>
                          <a:cs typeface="Arial" pitchFamily="34" charset="-120"/>
                        </a:rPr>
                        <a:t>구분</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b="1" dirty="0">
                          <a:solidFill>
                            <a:srgbClr val="1F2226"/>
                          </a:solidFill>
                          <a:latin typeface="Arial" pitchFamily="34" charset="0"/>
                          <a:ea typeface="Arial" pitchFamily="34" charset="-122"/>
                          <a:cs typeface="Arial" pitchFamily="34" charset="-120"/>
                        </a:rPr>
                        <a:t>내용</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b="1" dirty="0">
                          <a:solidFill>
                            <a:srgbClr val="1F2226"/>
                          </a:solidFill>
                          <a:latin typeface="Arial" pitchFamily="34" charset="0"/>
                          <a:ea typeface="Arial" pitchFamily="34" charset="-122"/>
                          <a:cs typeface="Arial" pitchFamily="34" charset="-120"/>
                        </a:rPr>
                        <a:t>비고</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504749">
                <a:tc>
                  <a:txBody>
                    <a:bodyPr/>
                    <a:lstStyle/>
                    <a:p>
                      <a:pPr indent="0" marL="0">
                        <a:buNone/>
                      </a:pPr>
                      <a:r>
                        <a:rPr lang="en-US" sz="1150" dirty="0">
                          <a:solidFill>
                            <a:srgbClr val="1F2226"/>
                          </a:solidFill>
                          <a:latin typeface="Arial" pitchFamily="34" charset="0"/>
                          <a:ea typeface="Arial" pitchFamily="34" charset="-122"/>
                          <a:cs typeface="Arial" pitchFamily="34" charset="-120"/>
                        </a:rPr>
                        <a:t>설계</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시나리오 실험 · 2조건 무작위 배정 · 응답자는 한 조건만 열람</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가상 조직 앵커 고정</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504749">
                <a:tc>
                  <a:txBody>
                    <a:bodyPr/>
                    <a:lstStyle/>
                    <a:p>
                      <a:pPr indent="0" marL="0">
                        <a:buNone/>
                      </a:pPr>
                      <a:r>
                        <a:rPr lang="en-US" sz="1150" dirty="0">
                          <a:solidFill>
                            <a:srgbClr val="1F2226"/>
                          </a:solidFill>
                          <a:latin typeface="Arial" pitchFamily="34" charset="0"/>
                          <a:ea typeface="Arial" pitchFamily="34" charset="-122"/>
                          <a:cs typeface="Arial" pitchFamily="34" charset="-120"/>
                        </a:rPr>
                        <a:t>IV  성과 기여 귀속 모호성</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조작 — 조작 축은 「기여를 식별할 수 있는가」</a:t>
                      </a:r>
                      <a:endParaRPr lang="en-US" sz="1150" dirty="0">
                        <a:latin typeface="Arial" charset="0"/>
                        <a:ea typeface="Arial" charset="0"/>
                        <a:cs typeface="Arial" charset="0"/>
                      </a:endParaRPr>
                    </a:p>
                    <a:p>
                      <a:pPr indent="0" marL="0">
                        <a:buNone/>
                      </a:pPr>
                      <a:r>
                        <a:rPr lang="en-US" sz="1150" dirty="0">
                          <a:solidFill>
                            <a:srgbClr val="1F2226"/>
                          </a:solidFill>
                          <a:latin typeface="Arial" pitchFamily="34" charset="0"/>
                          <a:ea typeface="Arial" pitchFamily="34" charset="-122"/>
                          <a:cs typeface="Arial" pitchFamily="34" charset="-120"/>
                        </a:rPr>
                        <a:t>산출물·품질은 동일, AI 산출물 처리 방식만 상이</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manipulation check 4문항</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504749">
                <a:tc>
                  <a:txBody>
                    <a:bodyPr/>
                    <a:lstStyle/>
                    <a:p>
                      <a:pPr indent="0" marL="0">
                        <a:buNone/>
                      </a:pPr>
                      <a:r>
                        <a:rPr lang="en-US" sz="1150" dirty="0">
                          <a:solidFill>
                            <a:srgbClr val="1F2226"/>
                          </a:solidFill>
                          <a:latin typeface="Arial" pitchFamily="34" charset="0"/>
                          <a:ea typeface="Arial" pitchFamily="34" charset="-122"/>
                          <a:cs typeface="Arial" pitchFamily="34" charset="-120"/>
                        </a:rPr>
                        <a:t>MV  지각된 평가 불확실성</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측정 4문항</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Rizzo(1970) role ambiguity 정의 ⑴ 복원</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504749">
                <a:tc>
                  <a:txBody>
                    <a:bodyPr/>
                    <a:lstStyle/>
                    <a:p>
                      <a:pPr indent="0" marL="0">
                        <a:buNone/>
                      </a:pPr>
                      <a:r>
                        <a:rPr lang="en-US" sz="1150" dirty="0">
                          <a:solidFill>
                            <a:srgbClr val="1F2226"/>
                          </a:solidFill>
                          <a:latin typeface="Arial" pitchFamily="34" charset="0"/>
                          <a:ea typeface="Arial" pitchFamily="34" charset="-122"/>
                          <a:cs typeface="Arial" pitchFamily="34" charset="-120"/>
                        </a:rPr>
                        <a:t>DV  절차공정성 지각</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측정 3문항 — 일관성 1 + 편향 억제 2</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N&amp;M(1993) formal procedures</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504749">
                <a:tc>
                  <a:txBody>
                    <a:bodyPr/>
                    <a:lstStyle/>
                    <a:p>
                      <a:pPr indent="0" marL="0">
                        <a:buNone/>
                      </a:pPr>
                      <a:r>
                        <a:rPr lang="en-US" sz="1150" dirty="0">
                          <a:solidFill>
                            <a:srgbClr val="1F2226"/>
                          </a:solidFill>
                          <a:latin typeface="Arial" pitchFamily="34" charset="0"/>
                          <a:ea typeface="Arial" pitchFamily="34" charset="-122"/>
                          <a:cs typeface="Arial" pitchFamily="34" charset="-120"/>
                        </a:rPr>
                        <a:t>MOD  평가 절차 명확성</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측정 4문항 — a경로(IV→MV) 조절</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문항 재설계 · 조작화 검토 중</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504749">
                <a:tc>
                  <a:txBody>
                    <a:bodyPr/>
                    <a:lstStyle/>
                    <a:p>
                      <a:pPr indent="0" marL="0">
                        <a:buNone/>
                      </a:pPr>
                      <a:r>
                        <a:rPr lang="en-US" sz="1150" dirty="0">
                          <a:solidFill>
                            <a:srgbClr val="1F2226"/>
                          </a:solidFill>
                          <a:latin typeface="Arial" pitchFamily="34" charset="0"/>
                          <a:ea typeface="Arial" pitchFamily="34" charset="-122"/>
                          <a:cs typeface="Arial" pitchFamily="34" charset="-120"/>
                        </a:rPr>
                        <a:t>통제</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AI 리터러시 · AI 사용 경험 · 경력 · 직급</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504749">
                <a:tc>
                  <a:txBody>
                    <a:bodyPr/>
                    <a:lstStyle/>
                    <a:p>
                      <a:pPr indent="0" marL="0">
                        <a:buNone/>
                      </a:pPr>
                      <a:r>
                        <a:rPr lang="en-US" sz="1150" dirty="0">
                          <a:solidFill>
                            <a:srgbClr val="1F2226"/>
                          </a:solidFill>
                          <a:latin typeface="Arial" pitchFamily="34" charset="0"/>
                          <a:ea typeface="Arial" pitchFamily="34" charset="-122"/>
                          <a:cs typeface="Arial" pitchFamily="34" charset="-120"/>
                        </a:rPr>
                        <a:t>표본</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IT 개발직 약 250명 · 7점 리커트</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협업 결합도는 샘플링으로 통제</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504749">
                <a:tc>
                  <a:txBody>
                    <a:bodyPr/>
                    <a:lstStyle/>
                    <a:p>
                      <a:pPr indent="0" marL="0">
                        <a:buNone/>
                      </a:pPr>
                      <a:r>
                        <a:rPr lang="en-US" sz="1150" dirty="0">
                          <a:solidFill>
                            <a:srgbClr val="1F2226"/>
                          </a:solidFill>
                          <a:latin typeface="Arial" pitchFamily="34" charset="0"/>
                          <a:ea typeface="Arial" pitchFamily="34" charset="-122"/>
                          <a:cs typeface="Arial" pitchFamily="34" charset="-120"/>
                        </a:rPr>
                        <a:t>분석</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조작 점검 → 신뢰도·타당도 → 매개(부트스트래핑) → 조절된 매개</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PROCESS Model 7 · 상세는 Appendix C</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bl>
          </a:graphicData>
        </a:graphic>
      </p:graphicFrame>
      <p:sp>
        <p:nvSpPr>
          <p:cNvPr id="11" name="Text 8"/>
          <p:cNvSpPr/>
          <p:nvPr/>
        </p:nvSpPr>
        <p:spPr>
          <a:xfrm>
            <a:off x="12508992" y="7626096"/>
            <a:ext cx="1448410" cy="307238"/>
          </a:xfrm>
          <a:prstGeom prst="rect">
            <a:avLst/>
          </a:prstGeom>
          <a:noFill/>
          <a:ln/>
        </p:spPr>
        <p:txBody>
          <a:bodyPr wrap="square" lIns="0" tIns="0" rIns="0" bIns="0" rtlCol="0" anchor="ctr"/>
          <a:lstStyle/>
          <a:p>
            <a:pPr algn="r" indent="0" marL="0">
              <a:buNone/>
            </a:pPr>
            <a:r>
              <a:rPr lang="en-US" sz="1000" dirty="0">
                <a:solidFill>
                  <a:srgbClr val="70757C"/>
                </a:solidFill>
                <a:latin typeface="Arial" pitchFamily="34" charset="0"/>
                <a:ea typeface="Arial" pitchFamily="34" charset="-122"/>
                <a:cs typeface="Arial" pitchFamily="34" charset="-120"/>
              </a:rPr>
              <a:t>06 / 07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339328" y="329184"/>
            <a:ext cx="4992624" cy="285293"/>
          </a:xfrm>
          <a:prstGeom prst="rect">
            <a:avLst/>
          </a:prstGeom>
          <a:noFill/>
          <a:ln/>
        </p:spPr>
        <p:txBody>
          <a:bodyPr wrap="square" lIns="0" tIns="0" rIns="0" bIns="0" rtlCol="0" anchor="ctr"/>
          <a:lstStyle/>
          <a:p>
            <a:pPr algn="r" indent="0" marL="0">
              <a:buNone/>
            </a:pPr>
            <a:r>
              <a:rPr lang="en-US" sz="1050" dirty="0">
                <a:solidFill>
                  <a:srgbClr val="70757C"/>
                </a:solidFill>
                <a:latin typeface="Arial" pitchFamily="34" charset="0"/>
                <a:ea typeface="Arial" pitchFamily="34" charset="-122"/>
                <a:cs typeface="Arial" pitchFamily="34" charset="-120"/>
              </a:rPr>
              <a:t>2026학년도 석사학위논문</a:t>
            </a:r>
            <a:endParaRPr lang="en-US" sz="1050" dirty="0"/>
          </a:p>
        </p:txBody>
      </p:sp>
      <p:sp>
        <p:nvSpPr>
          <p:cNvPr id="3" name="Text 1"/>
          <p:cNvSpPr/>
          <p:nvPr/>
        </p:nvSpPr>
        <p:spPr>
          <a:xfrm>
            <a:off x="8339328" y="603504"/>
            <a:ext cx="4992624" cy="307238"/>
          </a:xfrm>
          <a:prstGeom prst="rect">
            <a:avLst/>
          </a:prstGeom>
          <a:noFill/>
          <a:ln/>
        </p:spPr>
        <p:txBody>
          <a:bodyPr wrap="square" lIns="0" tIns="0" rIns="0" bIns="0" rtlCol="0" anchor="ctr"/>
          <a:lstStyle/>
          <a:p>
            <a:pPr algn="r" indent="0" marL="0">
              <a:buNone/>
            </a:pPr>
            <a:r>
              <a:rPr lang="en-US" sz="1200" b="1" dirty="0">
                <a:solidFill>
                  <a:srgbClr val="1F2226"/>
                </a:solidFill>
                <a:latin typeface="Arial" pitchFamily="34" charset="0"/>
                <a:ea typeface="Arial" pitchFamily="34" charset="-122"/>
                <a:cs typeface="Arial" pitchFamily="34" charset="-120"/>
              </a:rPr>
              <a:t>프로포절 심사</a:t>
            </a:r>
            <a:endParaRPr lang="en-US" sz="1200" dirty="0"/>
          </a:p>
        </p:txBody>
      </p:sp>
      <p:sp>
        <p:nvSpPr>
          <p:cNvPr id="4" name="Shape 2"/>
          <p:cNvSpPr/>
          <p:nvPr/>
        </p:nvSpPr>
        <p:spPr>
          <a:xfrm>
            <a:off x="680314" y="1009498"/>
            <a:ext cx="13277088" cy="0"/>
          </a:xfrm>
          <a:prstGeom prst="line">
            <a:avLst/>
          </a:prstGeom>
          <a:noFill/>
          <a:ln w="12700">
            <a:solidFill>
              <a:srgbClr val="C9CDD3"/>
            </a:solidFill>
            <a:prstDash val="solid"/>
          </a:ln>
        </p:spPr>
      </p:sp>
      <p:sp>
        <p:nvSpPr>
          <p:cNvPr id="5" name="Shape 3"/>
          <p:cNvSpPr/>
          <p:nvPr/>
        </p:nvSpPr>
        <p:spPr>
          <a:xfrm>
            <a:off x="8339328" y="1009498"/>
            <a:ext cx="5618074" cy="0"/>
          </a:xfrm>
          <a:prstGeom prst="line">
            <a:avLst/>
          </a:prstGeom>
          <a:noFill/>
          <a:ln w="25400">
            <a:solidFill>
              <a:srgbClr val="8C2A32"/>
            </a:solidFill>
            <a:prstDash val="solid"/>
          </a:ln>
        </p:spPr>
      </p:sp>
      <p:sp>
        <p:nvSpPr>
          <p:cNvPr id="6" name="Shape 4"/>
          <p:cNvSpPr/>
          <p:nvPr/>
        </p:nvSpPr>
        <p:spPr>
          <a:xfrm>
            <a:off x="680314" y="1207008"/>
            <a:ext cx="899770" cy="899770"/>
          </a:xfrm>
          <a:prstGeom prst="ellipse">
            <a:avLst/>
          </a:prstGeom>
          <a:solidFill>
            <a:srgbClr val="FFFFFF">
              <a:alpha val="0"/>
            </a:srgbClr>
          </a:solidFill>
          <a:ln w="63500">
            <a:solidFill>
              <a:srgbClr val="8C2A32"/>
            </a:solidFill>
            <a:prstDash val="solid"/>
          </a:ln>
        </p:spPr>
      </p:sp>
      <p:sp>
        <p:nvSpPr>
          <p:cNvPr id="7" name="Shape 5"/>
          <p:cNvSpPr/>
          <p:nvPr/>
        </p:nvSpPr>
        <p:spPr>
          <a:xfrm>
            <a:off x="1207008" y="1119226"/>
            <a:ext cx="680314" cy="1075334"/>
          </a:xfrm>
          <a:prstGeom prst="rect">
            <a:avLst/>
          </a:prstGeom>
          <a:solidFill>
            <a:srgbClr val="FFFFFF"/>
          </a:solidFill>
          <a:ln w="12700">
            <a:solidFill>
              <a:srgbClr val="FFFFFF"/>
            </a:solidFill>
            <a:prstDash val="solid"/>
          </a:ln>
        </p:spPr>
      </p:sp>
      <p:sp>
        <p:nvSpPr>
          <p:cNvPr id="8" name="Text 6"/>
          <p:cNvSpPr/>
          <p:nvPr/>
        </p:nvSpPr>
        <p:spPr>
          <a:xfrm>
            <a:off x="1119226" y="1207008"/>
            <a:ext cx="12508992" cy="899770"/>
          </a:xfrm>
          <a:prstGeom prst="rect">
            <a:avLst/>
          </a:prstGeom>
          <a:noFill/>
          <a:ln/>
        </p:spPr>
        <p:txBody>
          <a:bodyPr wrap="square" lIns="0" tIns="0" rIns="0" bIns="0" rtlCol="0" anchor="ctr"/>
          <a:lstStyle/>
          <a:p>
            <a:pPr indent="0" marL="0">
              <a:buNone/>
            </a:pPr>
            <a:r>
              <a:rPr lang="en-US" sz="2600" b="1" dirty="0">
                <a:solidFill>
                  <a:srgbClr val="1F2226"/>
                </a:solidFill>
                <a:latin typeface="Arial" pitchFamily="34" charset="0"/>
                <a:ea typeface="Arial" pitchFamily="34" charset="-122"/>
                <a:cs typeface="Arial" pitchFamily="34" charset="-120"/>
              </a:rPr>
              <a:t>07.  향후 계획 및 남은 논의</a:t>
            </a:r>
            <a:endParaRPr lang="en-US" sz="2600" dirty="0"/>
          </a:p>
        </p:txBody>
      </p:sp>
      <p:sp>
        <p:nvSpPr>
          <p:cNvPr id="9" name="Text 7"/>
          <p:cNvSpPr/>
          <p:nvPr/>
        </p:nvSpPr>
        <p:spPr>
          <a:xfrm>
            <a:off x="768096" y="2304288"/>
            <a:ext cx="13112496" cy="329184"/>
          </a:xfrm>
          <a:prstGeom prst="rect">
            <a:avLst/>
          </a:prstGeom>
          <a:noFill/>
          <a:ln/>
        </p:spPr>
        <p:txBody>
          <a:bodyPr wrap="square" lIns="0" tIns="0" rIns="0" bIns="0" rtlCol="0" anchor="ctr"/>
          <a:lstStyle/>
          <a:p>
            <a:pPr algn="l" indent="0" marL="0">
              <a:buNone/>
            </a:pPr>
            <a:r>
              <a:rPr lang="en-US" sz="1300" b="1" dirty="0">
                <a:solidFill>
                  <a:srgbClr val="1F2226"/>
                </a:solidFill>
                <a:latin typeface="Arial" pitchFamily="34" charset="0"/>
                <a:ea typeface="Arial" pitchFamily="34" charset="-122"/>
                <a:cs typeface="Arial" pitchFamily="34" charset="-120"/>
              </a:rPr>
              <a:t>【 연구 Timeline 】</a:t>
            </a:r>
            <a:endParaRPr lang="en-US" sz="1300" dirty="0"/>
          </a:p>
        </p:txBody>
      </p:sp>
      <p:sp>
        <p:nvSpPr>
          <p:cNvPr id="10" name="Shape 8"/>
          <p:cNvSpPr/>
          <p:nvPr/>
        </p:nvSpPr>
        <p:spPr>
          <a:xfrm>
            <a:off x="768096" y="2721254"/>
            <a:ext cx="3028493" cy="877824"/>
          </a:xfrm>
          <a:prstGeom prst="rect">
            <a:avLst/>
          </a:prstGeom>
          <a:solidFill>
            <a:srgbClr val="EDEEF0"/>
          </a:solidFill>
          <a:ln w="12700">
            <a:solidFill>
              <a:srgbClr val="E2D2D1"/>
            </a:solidFill>
            <a:prstDash val="solid"/>
          </a:ln>
        </p:spPr>
      </p:sp>
      <p:sp>
        <p:nvSpPr>
          <p:cNvPr id="11" name="Text 9"/>
          <p:cNvSpPr/>
          <p:nvPr/>
        </p:nvSpPr>
        <p:spPr>
          <a:xfrm>
            <a:off x="987552" y="2830982"/>
            <a:ext cx="2589581" cy="307238"/>
          </a:xfrm>
          <a:prstGeom prst="rect">
            <a:avLst/>
          </a:prstGeom>
          <a:noFill/>
          <a:ln/>
        </p:spPr>
        <p:txBody>
          <a:bodyPr wrap="square" lIns="0" tIns="0" rIns="0" bIns="0" rtlCol="0" anchor="ctr"/>
          <a:lstStyle/>
          <a:p>
            <a:pPr indent="0" marL="0">
              <a:buNone/>
            </a:pPr>
            <a:r>
              <a:rPr lang="en-US" sz="1350" b="1" dirty="0">
                <a:solidFill>
                  <a:srgbClr val="1F2226"/>
                </a:solidFill>
                <a:latin typeface="Arial" pitchFamily="34" charset="0"/>
                <a:ea typeface="Arial" pitchFamily="34" charset="-122"/>
                <a:cs typeface="Arial" pitchFamily="34" charset="-120"/>
              </a:rPr>
              <a:t>9월</a:t>
            </a:r>
            <a:endParaRPr lang="en-US" sz="1350" dirty="0"/>
          </a:p>
        </p:txBody>
      </p:sp>
      <p:sp>
        <p:nvSpPr>
          <p:cNvPr id="12" name="Text 10"/>
          <p:cNvSpPr/>
          <p:nvPr/>
        </p:nvSpPr>
        <p:spPr>
          <a:xfrm>
            <a:off x="987552" y="3138221"/>
            <a:ext cx="2589581" cy="373075"/>
          </a:xfrm>
          <a:prstGeom prst="rect">
            <a:avLst/>
          </a:prstGeom>
          <a:noFill/>
          <a:ln/>
        </p:spPr>
        <p:txBody>
          <a:bodyPr wrap="square" lIns="0" tIns="0" rIns="0" bIns="0" rtlCol="0" anchor="ctr"/>
          <a:lstStyle/>
          <a:p>
            <a:pPr indent="0" marL="0">
              <a:lnSpc>
                <a:spcPts val="1680"/>
              </a:lnSpc>
              <a:buNone/>
            </a:pPr>
            <a:r>
              <a:rPr lang="en-US" sz="1100" dirty="0">
                <a:solidFill>
                  <a:srgbClr val="1F2226"/>
                </a:solidFill>
                <a:latin typeface="Arial" pitchFamily="34" charset="0"/>
                <a:ea typeface="Arial" pitchFamily="34" charset="-122"/>
                <a:cs typeface="Arial" pitchFamily="34" charset="-120"/>
              </a:rPr>
              <a:t>문항 확정 · 사전검사 · 본조사</a:t>
            </a:r>
            <a:endParaRPr lang="en-US" sz="1100" dirty="0"/>
          </a:p>
        </p:txBody>
      </p:sp>
      <p:sp>
        <p:nvSpPr>
          <p:cNvPr id="13" name="Shape 11"/>
          <p:cNvSpPr/>
          <p:nvPr/>
        </p:nvSpPr>
        <p:spPr>
          <a:xfrm>
            <a:off x="3840480" y="3160166"/>
            <a:ext cx="197510" cy="0"/>
          </a:xfrm>
          <a:prstGeom prst="line">
            <a:avLst/>
          </a:prstGeom>
          <a:noFill/>
          <a:ln w="19050">
            <a:solidFill>
              <a:srgbClr val="70757C"/>
            </a:solidFill>
            <a:prstDash val="solid"/>
            <a:tailEnd type="triangle"/>
          </a:ln>
        </p:spPr>
      </p:sp>
      <p:sp>
        <p:nvSpPr>
          <p:cNvPr id="14" name="Shape 12"/>
          <p:cNvSpPr/>
          <p:nvPr/>
        </p:nvSpPr>
        <p:spPr>
          <a:xfrm>
            <a:off x="4081882" y="2721254"/>
            <a:ext cx="3028493" cy="877824"/>
          </a:xfrm>
          <a:prstGeom prst="rect">
            <a:avLst/>
          </a:prstGeom>
          <a:solidFill>
            <a:srgbClr val="F7F8F9"/>
          </a:solidFill>
          <a:ln w="12700">
            <a:solidFill>
              <a:srgbClr val="C9CDD3"/>
            </a:solidFill>
            <a:prstDash val="solid"/>
          </a:ln>
        </p:spPr>
      </p:sp>
      <p:sp>
        <p:nvSpPr>
          <p:cNvPr id="15" name="Text 13"/>
          <p:cNvSpPr/>
          <p:nvPr/>
        </p:nvSpPr>
        <p:spPr>
          <a:xfrm>
            <a:off x="4301338" y="2830982"/>
            <a:ext cx="2589581" cy="307238"/>
          </a:xfrm>
          <a:prstGeom prst="rect">
            <a:avLst/>
          </a:prstGeom>
          <a:noFill/>
          <a:ln/>
        </p:spPr>
        <p:txBody>
          <a:bodyPr wrap="square" lIns="0" tIns="0" rIns="0" bIns="0" rtlCol="0" anchor="ctr"/>
          <a:lstStyle/>
          <a:p>
            <a:pPr indent="0" marL="0">
              <a:buNone/>
            </a:pPr>
            <a:r>
              <a:rPr lang="en-US" sz="1350" b="1" dirty="0">
                <a:solidFill>
                  <a:srgbClr val="1F2226"/>
                </a:solidFill>
                <a:latin typeface="Arial" pitchFamily="34" charset="0"/>
                <a:ea typeface="Arial" pitchFamily="34" charset="-122"/>
                <a:cs typeface="Arial" pitchFamily="34" charset="-120"/>
              </a:rPr>
              <a:t>10월</a:t>
            </a:r>
            <a:endParaRPr lang="en-US" sz="1350" dirty="0"/>
          </a:p>
        </p:txBody>
      </p:sp>
      <p:sp>
        <p:nvSpPr>
          <p:cNvPr id="16" name="Text 14"/>
          <p:cNvSpPr/>
          <p:nvPr/>
        </p:nvSpPr>
        <p:spPr>
          <a:xfrm>
            <a:off x="4301338" y="3138221"/>
            <a:ext cx="2589581" cy="373075"/>
          </a:xfrm>
          <a:prstGeom prst="rect">
            <a:avLst/>
          </a:prstGeom>
          <a:noFill/>
          <a:ln/>
        </p:spPr>
        <p:txBody>
          <a:bodyPr wrap="square" lIns="0" tIns="0" rIns="0" bIns="0" rtlCol="0" anchor="ctr"/>
          <a:lstStyle/>
          <a:p>
            <a:pPr indent="0" marL="0">
              <a:lnSpc>
                <a:spcPts val="1680"/>
              </a:lnSpc>
              <a:buNone/>
            </a:pPr>
            <a:r>
              <a:rPr lang="en-US" sz="1100" dirty="0">
                <a:solidFill>
                  <a:srgbClr val="1F2226"/>
                </a:solidFill>
                <a:latin typeface="Arial" pitchFamily="34" charset="0"/>
                <a:ea typeface="Arial" pitchFamily="34" charset="-122"/>
                <a:cs typeface="Arial" pitchFamily="34" charset="-120"/>
              </a:rPr>
              <a:t>분석 및 결과 작성</a:t>
            </a:r>
            <a:endParaRPr lang="en-US" sz="1100" dirty="0"/>
          </a:p>
        </p:txBody>
      </p:sp>
      <p:sp>
        <p:nvSpPr>
          <p:cNvPr id="17" name="Shape 15"/>
          <p:cNvSpPr/>
          <p:nvPr/>
        </p:nvSpPr>
        <p:spPr>
          <a:xfrm>
            <a:off x="7154266" y="3160166"/>
            <a:ext cx="197510" cy="0"/>
          </a:xfrm>
          <a:prstGeom prst="line">
            <a:avLst/>
          </a:prstGeom>
          <a:noFill/>
          <a:ln w="19050">
            <a:solidFill>
              <a:srgbClr val="70757C"/>
            </a:solidFill>
            <a:prstDash val="solid"/>
            <a:tailEnd type="triangle"/>
          </a:ln>
        </p:spPr>
      </p:sp>
      <p:sp>
        <p:nvSpPr>
          <p:cNvPr id="18" name="Shape 16"/>
          <p:cNvSpPr/>
          <p:nvPr/>
        </p:nvSpPr>
        <p:spPr>
          <a:xfrm>
            <a:off x="7395667" y="2721254"/>
            <a:ext cx="3028493" cy="877824"/>
          </a:xfrm>
          <a:prstGeom prst="rect">
            <a:avLst/>
          </a:prstGeom>
          <a:solidFill>
            <a:srgbClr val="F7F8F9"/>
          </a:solidFill>
          <a:ln w="12700">
            <a:solidFill>
              <a:srgbClr val="C9CDD3"/>
            </a:solidFill>
            <a:prstDash val="solid"/>
          </a:ln>
        </p:spPr>
      </p:sp>
      <p:sp>
        <p:nvSpPr>
          <p:cNvPr id="19" name="Text 17"/>
          <p:cNvSpPr/>
          <p:nvPr/>
        </p:nvSpPr>
        <p:spPr>
          <a:xfrm>
            <a:off x="7615123" y="2830982"/>
            <a:ext cx="2589581" cy="307238"/>
          </a:xfrm>
          <a:prstGeom prst="rect">
            <a:avLst/>
          </a:prstGeom>
          <a:noFill/>
          <a:ln/>
        </p:spPr>
        <p:txBody>
          <a:bodyPr wrap="square" lIns="0" tIns="0" rIns="0" bIns="0" rtlCol="0" anchor="ctr"/>
          <a:lstStyle/>
          <a:p>
            <a:pPr indent="0" marL="0">
              <a:buNone/>
            </a:pPr>
            <a:r>
              <a:rPr lang="en-US" sz="1350" b="1" dirty="0">
                <a:solidFill>
                  <a:srgbClr val="1F2226"/>
                </a:solidFill>
                <a:latin typeface="Arial" pitchFamily="34" charset="0"/>
                <a:ea typeface="Arial" pitchFamily="34" charset="-122"/>
                <a:cs typeface="Arial" pitchFamily="34" charset="-120"/>
              </a:rPr>
              <a:t>11월</a:t>
            </a:r>
            <a:endParaRPr lang="en-US" sz="1350" dirty="0"/>
          </a:p>
        </p:txBody>
      </p:sp>
      <p:sp>
        <p:nvSpPr>
          <p:cNvPr id="20" name="Text 18"/>
          <p:cNvSpPr/>
          <p:nvPr/>
        </p:nvSpPr>
        <p:spPr>
          <a:xfrm>
            <a:off x="7615123" y="3138221"/>
            <a:ext cx="2589581" cy="373075"/>
          </a:xfrm>
          <a:prstGeom prst="rect">
            <a:avLst/>
          </a:prstGeom>
          <a:noFill/>
          <a:ln/>
        </p:spPr>
        <p:txBody>
          <a:bodyPr wrap="square" lIns="0" tIns="0" rIns="0" bIns="0" rtlCol="0" anchor="ctr"/>
          <a:lstStyle/>
          <a:p>
            <a:pPr indent="0" marL="0">
              <a:lnSpc>
                <a:spcPts val="1680"/>
              </a:lnSpc>
              <a:buNone/>
            </a:pPr>
            <a:r>
              <a:rPr lang="en-US" sz="1100" dirty="0">
                <a:solidFill>
                  <a:srgbClr val="1F2226"/>
                </a:solidFill>
                <a:latin typeface="Arial" pitchFamily="34" charset="0"/>
                <a:ea typeface="Arial" pitchFamily="34" charset="-122"/>
                <a:cs typeface="Arial" pitchFamily="34" charset="-120"/>
              </a:rPr>
              <a:t>공헌 · 시사점 · 한계</a:t>
            </a:r>
            <a:endParaRPr lang="en-US" sz="1100" dirty="0"/>
          </a:p>
        </p:txBody>
      </p:sp>
      <p:sp>
        <p:nvSpPr>
          <p:cNvPr id="21" name="Shape 19"/>
          <p:cNvSpPr/>
          <p:nvPr/>
        </p:nvSpPr>
        <p:spPr>
          <a:xfrm>
            <a:off x="10468051" y="3160166"/>
            <a:ext cx="197510" cy="0"/>
          </a:xfrm>
          <a:prstGeom prst="line">
            <a:avLst/>
          </a:prstGeom>
          <a:noFill/>
          <a:ln w="19050">
            <a:solidFill>
              <a:srgbClr val="70757C"/>
            </a:solidFill>
            <a:prstDash val="solid"/>
            <a:tailEnd type="triangle"/>
          </a:ln>
        </p:spPr>
      </p:sp>
      <p:sp>
        <p:nvSpPr>
          <p:cNvPr id="22" name="Shape 20"/>
          <p:cNvSpPr/>
          <p:nvPr/>
        </p:nvSpPr>
        <p:spPr>
          <a:xfrm>
            <a:off x="10709453" y="2721254"/>
            <a:ext cx="3028493" cy="877824"/>
          </a:xfrm>
          <a:prstGeom prst="rect">
            <a:avLst/>
          </a:prstGeom>
          <a:solidFill>
            <a:srgbClr val="F7F8F9"/>
          </a:solidFill>
          <a:ln w="12700">
            <a:solidFill>
              <a:srgbClr val="C9CDD3"/>
            </a:solidFill>
            <a:prstDash val="solid"/>
          </a:ln>
        </p:spPr>
      </p:sp>
      <p:sp>
        <p:nvSpPr>
          <p:cNvPr id="23" name="Text 21"/>
          <p:cNvSpPr/>
          <p:nvPr/>
        </p:nvSpPr>
        <p:spPr>
          <a:xfrm>
            <a:off x="10928909" y="2830982"/>
            <a:ext cx="2589581" cy="307238"/>
          </a:xfrm>
          <a:prstGeom prst="rect">
            <a:avLst/>
          </a:prstGeom>
          <a:noFill/>
          <a:ln/>
        </p:spPr>
        <p:txBody>
          <a:bodyPr wrap="square" lIns="0" tIns="0" rIns="0" bIns="0" rtlCol="0" anchor="ctr"/>
          <a:lstStyle/>
          <a:p>
            <a:pPr indent="0" marL="0">
              <a:buNone/>
            </a:pPr>
            <a:r>
              <a:rPr lang="en-US" sz="1350" b="1" dirty="0">
                <a:solidFill>
                  <a:srgbClr val="1F2226"/>
                </a:solidFill>
                <a:latin typeface="Arial" pitchFamily="34" charset="0"/>
                <a:ea typeface="Arial" pitchFamily="34" charset="-122"/>
                <a:cs typeface="Arial" pitchFamily="34" charset="-120"/>
              </a:rPr>
              <a:t>12월</a:t>
            </a:r>
            <a:endParaRPr lang="en-US" sz="1350" dirty="0"/>
          </a:p>
        </p:txBody>
      </p:sp>
      <p:sp>
        <p:nvSpPr>
          <p:cNvPr id="24" name="Text 22"/>
          <p:cNvSpPr/>
          <p:nvPr/>
        </p:nvSpPr>
        <p:spPr>
          <a:xfrm>
            <a:off x="10928909" y="3138221"/>
            <a:ext cx="2589581" cy="373075"/>
          </a:xfrm>
          <a:prstGeom prst="rect">
            <a:avLst/>
          </a:prstGeom>
          <a:noFill/>
          <a:ln/>
        </p:spPr>
        <p:txBody>
          <a:bodyPr wrap="square" lIns="0" tIns="0" rIns="0" bIns="0" rtlCol="0" anchor="ctr"/>
          <a:lstStyle/>
          <a:p>
            <a:pPr indent="0" marL="0">
              <a:lnSpc>
                <a:spcPts val="1680"/>
              </a:lnSpc>
              <a:buNone/>
            </a:pPr>
            <a:r>
              <a:rPr lang="en-US" sz="1100" dirty="0">
                <a:solidFill>
                  <a:srgbClr val="1F2226"/>
                </a:solidFill>
                <a:latin typeface="Arial" pitchFamily="34" charset="0"/>
                <a:ea typeface="Arial" pitchFamily="34" charset="-122"/>
                <a:cs typeface="Arial" pitchFamily="34" charset="-120"/>
              </a:rPr>
              <a:t>파이널 디펜스</a:t>
            </a:r>
            <a:endParaRPr lang="en-US" sz="1100" dirty="0"/>
          </a:p>
        </p:txBody>
      </p:sp>
      <p:sp>
        <p:nvSpPr>
          <p:cNvPr id="25" name="Text 23"/>
          <p:cNvSpPr/>
          <p:nvPr/>
        </p:nvSpPr>
        <p:spPr>
          <a:xfrm>
            <a:off x="768096" y="3906317"/>
            <a:ext cx="13112496" cy="329184"/>
          </a:xfrm>
          <a:prstGeom prst="rect">
            <a:avLst/>
          </a:prstGeom>
          <a:noFill/>
          <a:ln/>
        </p:spPr>
        <p:txBody>
          <a:bodyPr wrap="square" lIns="0" tIns="0" rIns="0" bIns="0" rtlCol="0" anchor="ctr"/>
          <a:lstStyle/>
          <a:p>
            <a:pPr algn="l" indent="0" marL="0">
              <a:buNone/>
            </a:pPr>
            <a:r>
              <a:rPr lang="en-US" sz="1300" b="1" dirty="0">
                <a:solidFill>
                  <a:srgbClr val="1F2226"/>
                </a:solidFill>
                <a:latin typeface="Arial" pitchFamily="34" charset="0"/>
                <a:ea typeface="Arial" pitchFamily="34" charset="-122"/>
                <a:cs typeface="Arial" pitchFamily="34" charset="-120"/>
              </a:rPr>
              <a:t>【 남은 논의 — 지도를 구하고자 하는 것 】</a:t>
            </a:r>
            <a:endParaRPr lang="en-US" sz="1300" dirty="0"/>
          </a:p>
        </p:txBody>
      </p:sp>
      <p:sp>
        <p:nvSpPr>
          <p:cNvPr id="26" name="Shape 24"/>
          <p:cNvSpPr/>
          <p:nvPr/>
        </p:nvSpPr>
        <p:spPr>
          <a:xfrm>
            <a:off x="768096" y="4345229"/>
            <a:ext cx="13112496" cy="965606"/>
          </a:xfrm>
          <a:prstGeom prst="rect">
            <a:avLst/>
          </a:prstGeom>
          <a:solidFill>
            <a:srgbClr val="EDEEF0"/>
          </a:solidFill>
          <a:ln w="12700">
            <a:solidFill>
              <a:srgbClr val="DCDDE0"/>
            </a:solidFill>
            <a:prstDash val="solid"/>
          </a:ln>
        </p:spPr>
      </p:sp>
      <p:sp>
        <p:nvSpPr>
          <p:cNvPr id="27" name="Text 25"/>
          <p:cNvSpPr/>
          <p:nvPr/>
        </p:nvSpPr>
        <p:spPr>
          <a:xfrm>
            <a:off x="1097280" y="4345229"/>
            <a:ext cx="438912" cy="965606"/>
          </a:xfrm>
          <a:prstGeom prst="rect">
            <a:avLst/>
          </a:prstGeom>
          <a:noFill/>
          <a:ln/>
        </p:spPr>
        <p:txBody>
          <a:bodyPr wrap="square" lIns="0" tIns="0" rIns="0" bIns="0" rtlCol="0" anchor="ctr"/>
          <a:lstStyle/>
          <a:p>
            <a:pPr indent="0" marL="0">
              <a:buNone/>
            </a:pPr>
            <a:r>
              <a:rPr lang="en-US" sz="1500" b="1" dirty="0">
                <a:solidFill>
                  <a:srgbClr val="1F2226"/>
                </a:solidFill>
                <a:latin typeface="Arial" pitchFamily="34" charset="0"/>
                <a:ea typeface="Arial" pitchFamily="34" charset="-122"/>
                <a:cs typeface="Arial" pitchFamily="34" charset="-120"/>
              </a:rPr>
              <a:t>①</a:t>
            </a:r>
            <a:endParaRPr lang="en-US" sz="1500" dirty="0"/>
          </a:p>
        </p:txBody>
      </p:sp>
      <p:sp>
        <p:nvSpPr>
          <p:cNvPr id="28" name="Text 26"/>
          <p:cNvSpPr/>
          <p:nvPr/>
        </p:nvSpPr>
        <p:spPr>
          <a:xfrm>
            <a:off x="1591056" y="4345229"/>
            <a:ext cx="3840480" cy="965606"/>
          </a:xfrm>
          <a:prstGeom prst="rect">
            <a:avLst/>
          </a:prstGeom>
          <a:noFill/>
          <a:ln/>
        </p:spPr>
        <p:txBody>
          <a:bodyPr wrap="square" lIns="0" tIns="0" rIns="0" bIns="0" rtlCol="0" anchor="ctr"/>
          <a:lstStyle/>
          <a:p>
            <a:pPr indent="0" marL="0">
              <a:buNone/>
            </a:pPr>
            <a:r>
              <a:rPr lang="en-US" sz="1350" b="1" dirty="0">
                <a:solidFill>
                  <a:srgbClr val="1F2226"/>
                </a:solidFill>
                <a:latin typeface="Arial" pitchFamily="34" charset="0"/>
                <a:ea typeface="Arial" pitchFamily="34" charset="-122"/>
                <a:cs typeface="Arial" pitchFamily="34" charset="-120"/>
              </a:rPr>
              <a:t>조절변수의 조작화</a:t>
            </a:r>
            <a:endParaRPr lang="en-US" sz="1350" dirty="0"/>
          </a:p>
        </p:txBody>
      </p:sp>
      <p:sp>
        <p:nvSpPr>
          <p:cNvPr id="29" name="Text 27"/>
          <p:cNvSpPr/>
          <p:nvPr/>
        </p:nvSpPr>
        <p:spPr>
          <a:xfrm>
            <a:off x="5541264" y="4345229"/>
            <a:ext cx="8010144" cy="965606"/>
          </a:xfrm>
          <a:prstGeom prst="rect">
            <a:avLst/>
          </a:prstGeom>
          <a:noFill/>
          <a:ln/>
        </p:spPr>
        <p:txBody>
          <a:bodyPr wrap="square" lIns="0" tIns="0" rIns="0" bIns="0" rtlCol="0" anchor="ctr"/>
          <a:lstStyle/>
          <a:p>
            <a:pPr indent="0" marL="0">
              <a:buNone/>
            </a:pPr>
            <a:r>
              <a:rPr lang="en-US" sz="1200" dirty="0">
                <a:solidFill>
                  <a:srgbClr val="70757C"/>
                </a:solidFill>
                <a:latin typeface="Arial" pitchFamily="34" charset="0"/>
                <a:ea typeface="Arial" pitchFamily="34" charset="-122"/>
                <a:cs typeface="Arial" pitchFamily="34" charset="-120"/>
              </a:rPr>
              <a:t>측정으로 둘 것인가, 시나리오에서 조작할 것인가.  사전 검정력 분석을 판정 기준으로 두고 있다</a:t>
            </a:r>
            <a:endParaRPr lang="en-US" sz="1200" dirty="0"/>
          </a:p>
        </p:txBody>
      </p:sp>
      <p:sp>
        <p:nvSpPr>
          <p:cNvPr id="30" name="Shape 28"/>
          <p:cNvSpPr/>
          <p:nvPr/>
        </p:nvSpPr>
        <p:spPr>
          <a:xfrm>
            <a:off x="768096" y="5442509"/>
            <a:ext cx="13112496" cy="965606"/>
          </a:xfrm>
          <a:prstGeom prst="rect">
            <a:avLst/>
          </a:prstGeom>
          <a:solidFill>
            <a:srgbClr val="EDEEF0"/>
          </a:solidFill>
          <a:ln w="12700">
            <a:solidFill>
              <a:srgbClr val="DCDDE0"/>
            </a:solidFill>
            <a:prstDash val="solid"/>
          </a:ln>
        </p:spPr>
      </p:sp>
      <p:sp>
        <p:nvSpPr>
          <p:cNvPr id="31" name="Text 29"/>
          <p:cNvSpPr/>
          <p:nvPr/>
        </p:nvSpPr>
        <p:spPr>
          <a:xfrm>
            <a:off x="1097280" y="5442509"/>
            <a:ext cx="438912" cy="965606"/>
          </a:xfrm>
          <a:prstGeom prst="rect">
            <a:avLst/>
          </a:prstGeom>
          <a:noFill/>
          <a:ln/>
        </p:spPr>
        <p:txBody>
          <a:bodyPr wrap="square" lIns="0" tIns="0" rIns="0" bIns="0" rtlCol="0" anchor="ctr"/>
          <a:lstStyle/>
          <a:p>
            <a:pPr indent="0" marL="0">
              <a:buNone/>
            </a:pPr>
            <a:r>
              <a:rPr lang="en-US" sz="1500" b="1" dirty="0">
                <a:solidFill>
                  <a:srgbClr val="1F2226"/>
                </a:solidFill>
                <a:latin typeface="Arial" pitchFamily="34" charset="0"/>
                <a:ea typeface="Arial" pitchFamily="34" charset="-122"/>
                <a:cs typeface="Arial" pitchFamily="34" charset="-120"/>
              </a:rPr>
              <a:t>②</a:t>
            </a:r>
            <a:endParaRPr lang="en-US" sz="1500" dirty="0"/>
          </a:p>
        </p:txBody>
      </p:sp>
      <p:sp>
        <p:nvSpPr>
          <p:cNvPr id="32" name="Text 30"/>
          <p:cNvSpPr/>
          <p:nvPr/>
        </p:nvSpPr>
        <p:spPr>
          <a:xfrm>
            <a:off x="1591056" y="5442509"/>
            <a:ext cx="3840480" cy="965606"/>
          </a:xfrm>
          <a:prstGeom prst="rect">
            <a:avLst/>
          </a:prstGeom>
          <a:noFill/>
          <a:ln/>
        </p:spPr>
        <p:txBody>
          <a:bodyPr wrap="square" lIns="0" tIns="0" rIns="0" bIns="0" rtlCol="0" anchor="ctr"/>
          <a:lstStyle/>
          <a:p>
            <a:pPr indent="0" marL="0">
              <a:buNone/>
            </a:pPr>
            <a:r>
              <a:rPr lang="en-US" sz="1350" b="1" dirty="0">
                <a:solidFill>
                  <a:srgbClr val="1F2226"/>
                </a:solidFill>
                <a:latin typeface="Arial" pitchFamily="34" charset="0"/>
                <a:ea typeface="Arial" pitchFamily="34" charset="-122"/>
                <a:cs typeface="Arial" pitchFamily="34" charset="-120"/>
              </a:rPr>
              <a:t>가상 시나리오의 구성 타당도</a:t>
            </a:r>
            <a:endParaRPr lang="en-US" sz="1350" dirty="0"/>
          </a:p>
        </p:txBody>
      </p:sp>
      <p:sp>
        <p:nvSpPr>
          <p:cNvPr id="33" name="Text 31"/>
          <p:cNvSpPr/>
          <p:nvPr/>
        </p:nvSpPr>
        <p:spPr>
          <a:xfrm>
            <a:off x="5541264" y="5442509"/>
            <a:ext cx="8010144" cy="965606"/>
          </a:xfrm>
          <a:prstGeom prst="rect">
            <a:avLst/>
          </a:prstGeom>
          <a:noFill/>
          <a:ln/>
        </p:spPr>
        <p:txBody>
          <a:bodyPr wrap="square" lIns="0" tIns="0" rIns="0" bIns="0" rtlCol="0" anchor="ctr"/>
          <a:lstStyle/>
          <a:p>
            <a:pPr indent="0" marL="0">
              <a:buNone/>
            </a:pPr>
            <a:r>
              <a:rPr lang="en-US" sz="1200" dirty="0">
                <a:solidFill>
                  <a:srgbClr val="70757C"/>
                </a:solidFill>
                <a:latin typeface="Arial" pitchFamily="34" charset="0"/>
                <a:ea typeface="Arial" pitchFamily="34" charset="-122"/>
                <a:cs typeface="Arial" pitchFamily="34" charset="-120"/>
              </a:rPr>
              <a:t>겪지 않은 절차에 대한 공정성 지각을 재는 것이 구성 타당도 측면에서 성립하는가</a:t>
            </a:r>
            <a:endParaRPr lang="en-US" sz="1200" dirty="0"/>
          </a:p>
        </p:txBody>
      </p:sp>
      <p:sp>
        <p:nvSpPr>
          <p:cNvPr id="34" name="Shape 32"/>
          <p:cNvSpPr/>
          <p:nvPr/>
        </p:nvSpPr>
        <p:spPr>
          <a:xfrm>
            <a:off x="768096" y="6539789"/>
            <a:ext cx="13112496" cy="965606"/>
          </a:xfrm>
          <a:prstGeom prst="rect">
            <a:avLst/>
          </a:prstGeom>
          <a:solidFill>
            <a:srgbClr val="EDEEF0"/>
          </a:solidFill>
          <a:ln w="12700">
            <a:solidFill>
              <a:srgbClr val="DCDDE0"/>
            </a:solidFill>
            <a:prstDash val="solid"/>
          </a:ln>
        </p:spPr>
      </p:sp>
      <p:sp>
        <p:nvSpPr>
          <p:cNvPr id="35" name="Text 33"/>
          <p:cNvSpPr/>
          <p:nvPr/>
        </p:nvSpPr>
        <p:spPr>
          <a:xfrm>
            <a:off x="1097280" y="6539789"/>
            <a:ext cx="438912" cy="965606"/>
          </a:xfrm>
          <a:prstGeom prst="rect">
            <a:avLst/>
          </a:prstGeom>
          <a:noFill/>
          <a:ln/>
        </p:spPr>
        <p:txBody>
          <a:bodyPr wrap="square" lIns="0" tIns="0" rIns="0" bIns="0" rtlCol="0" anchor="ctr"/>
          <a:lstStyle/>
          <a:p>
            <a:pPr indent="0" marL="0">
              <a:buNone/>
            </a:pPr>
            <a:r>
              <a:rPr lang="en-US" sz="1500" b="1" dirty="0">
                <a:solidFill>
                  <a:srgbClr val="1F2226"/>
                </a:solidFill>
                <a:latin typeface="Arial" pitchFamily="34" charset="0"/>
                <a:ea typeface="Arial" pitchFamily="34" charset="-122"/>
                <a:cs typeface="Arial" pitchFamily="34" charset="-120"/>
              </a:rPr>
              <a:t>③</a:t>
            </a:r>
            <a:endParaRPr lang="en-US" sz="1500" dirty="0"/>
          </a:p>
        </p:txBody>
      </p:sp>
      <p:sp>
        <p:nvSpPr>
          <p:cNvPr id="36" name="Text 34"/>
          <p:cNvSpPr/>
          <p:nvPr/>
        </p:nvSpPr>
        <p:spPr>
          <a:xfrm>
            <a:off x="1591056" y="6539789"/>
            <a:ext cx="3840480" cy="965606"/>
          </a:xfrm>
          <a:prstGeom prst="rect">
            <a:avLst/>
          </a:prstGeom>
          <a:noFill/>
          <a:ln/>
        </p:spPr>
        <p:txBody>
          <a:bodyPr wrap="square" lIns="0" tIns="0" rIns="0" bIns="0" rtlCol="0" anchor="ctr"/>
          <a:lstStyle/>
          <a:p>
            <a:pPr indent="0" marL="0">
              <a:buNone/>
            </a:pPr>
            <a:r>
              <a:rPr lang="en-US" sz="1350" b="1" dirty="0">
                <a:solidFill>
                  <a:srgbClr val="1F2226"/>
                </a:solidFill>
                <a:latin typeface="Arial" pitchFamily="34" charset="0"/>
                <a:ea typeface="Arial" pitchFamily="34" charset="-122"/>
                <a:cs typeface="Arial" pitchFamily="34" charset="-120"/>
              </a:rPr>
              <a:t>공백의 크기</a:t>
            </a:r>
            <a:endParaRPr lang="en-US" sz="1350" dirty="0"/>
          </a:p>
        </p:txBody>
      </p:sp>
      <p:sp>
        <p:nvSpPr>
          <p:cNvPr id="37" name="Text 35"/>
          <p:cNvSpPr/>
          <p:nvPr/>
        </p:nvSpPr>
        <p:spPr>
          <a:xfrm>
            <a:off x="5541264" y="6539789"/>
            <a:ext cx="8010144" cy="965606"/>
          </a:xfrm>
          <a:prstGeom prst="rect">
            <a:avLst/>
          </a:prstGeom>
          <a:noFill/>
          <a:ln/>
        </p:spPr>
        <p:txBody>
          <a:bodyPr wrap="square" lIns="0" tIns="0" rIns="0" bIns="0" rtlCol="0" anchor="ctr"/>
          <a:lstStyle/>
          <a:p>
            <a:pPr indent="0" marL="0">
              <a:buNone/>
            </a:pPr>
            <a:r>
              <a:rPr lang="en-US" sz="1200" dirty="0">
                <a:solidFill>
                  <a:srgbClr val="70757C"/>
                </a:solidFill>
                <a:latin typeface="Arial" pitchFamily="34" charset="0"/>
                <a:ea typeface="Arial" pitchFamily="34" charset="-122"/>
                <a:cs typeface="Arial" pitchFamily="34" charset="-120"/>
              </a:rPr>
              <a:t>본 연구가 다루는 공백이 학위논문의 기여로 충분한가</a:t>
            </a:r>
            <a:endParaRPr lang="en-US" sz="1200" dirty="0"/>
          </a:p>
        </p:txBody>
      </p:sp>
      <p:sp>
        <p:nvSpPr>
          <p:cNvPr id="38" name="Text 36"/>
          <p:cNvSpPr/>
          <p:nvPr/>
        </p:nvSpPr>
        <p:spPr>
          <a:xfrm>
            <a:off x="12508992" y="7626096"/>
            <a:ext cx="1448410" cy="307238"/>
          </a:xfrm>
          <a:prstGeom prst="rect">
            <a:avLst/>
          </a:prstGeom>
          <a:noFill/>
          <a:ln/>
        </p:spPr>
        <p:txBody>
          <a:bodyPr wrap="square" lIns="0" tIns="0" rIns="0" bIns="0" rtlCol="0" anchor="ctr"/>
          <a:lstStyle/>
          <a:p>
            <a:pPr algn="r" indent="0" marL="0">
              <a:buNone/>
            </a:pPr>
            <a:r>
              <a:rPr lang="en-US" sz="1000" dirty="0">
                <a:solidFill>
                  <a:srgbClr val="70757C"/>
                </a:solidFill>
                <a:latin typeface="Arial" pitchFamily="34" charset="0"/>
                <a:ea typeface="Arial" pitchFamily="34" charset="-122"/>
                <a:cs typeface="Arial" pitchFamily="34" charset="-120"/>
              </a:rPr>
              <a:t>07 / 07</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339328" y="329184"/>
            <a:ext cx="4992624" cy="285293"/>
          </a:xfrm>
          <a:prstGeom prst="rect">
            <a:avLst/>
          </a:prstGeom>
          <a:noFill/>
          <a:ln/>
        </p:spPr>
        <p:txBody>
          <a:bodyPr wrap="square" lIns="0" tIns="0" rIns="0" bIns="0" rtlCol="0" anchor="ctr"/>
          <a:lstStyle/>
          <a:p>
            <a:pPr algn="r" indent="0" marL="0">
              <a:buNone/>
            </a:pPr>
            <a:r>
              <a:rPr lang="en-US" sz="1050" dirty="0">
                <a:solidFill>
                  <a:srgbClr val="70757C"/>
                </a:solidFill>
                <a:latin typeface="Arial" pitchFamily="34" charset="0"/>
                <a:ea typeface="Arial" pitchFamily="34" charset="-122"/>
                <a:cs typeface="Arial" pitchFamily="34" charset="-120"/>
              </a:rPr>
              <a:t>2026학년도 석사학위논문</a:t>
            </a:r>
            <a:endParaRPr lang="en-US" sz="1050" dirty="0"/>
          </a:p>
        </p:txBody>
      </p:sp>
      <p:sp>
        <p:nvSpPr>
          <p:cNvPr id="3" name="Text 1"/>
          <p:cNvSpPr/>
          <p:nvPr/>
        </p:nvSpPr>
        <p:spPr>
          <a:xfrm>
            <a:off x="8339328" y="603504"/>
            <a:ext cx="4992624" cy="307238"/>
          </a:xfrm>
          <a:prstGeom prst="rect">
            <a:avLst/>
          </a:prstGeom>
          <a:noFill/>
          <a:ln/>
        </p:spPr>
        <p:txBody>
          <a:bodyPr wrap="square" lIns="0" tIns="0" rIns="0" bIns="0" rtlCol="0" anchor="ctr"/>
          <a:lstStyle/>
          <a:p>
            <a:pPr algn="r" indent="0" marL="0">
              <a:buNone/>
            </a:pPr>
            <a:r>
              <a:rPr lang="en-US" sz="1200" b="1" dirty="0">
                <a:solidFill>
                  <a:srgbClr val="1F2226"/>
                </a:solidFill>
                <a:latin typeface="Arial" pitchFamily="34" charset="0"/>
                <a:ea typeface="Arial" pitchFamily="34" charset="-122"/>
                <a:cs typeface="Arial" pitchFamily="34" charset="-120"/>
              </a:rPr>
              <a:t>프로포절 심사</a:t>
            </a:r>
            <a:endParaRPr lang="en-US" sz="1200" dirty="0"/>
          </a:p>
        </p:txBody>
      </p:sp>
      <p:sp>
        <p:nvSpPr>
          <p:cNvPr id="4" name="Shape 2"/>
          <p:cNvSpPr/>
          <p:nvPr/>
        </p:nvSpPr>
        <p:spPr>
          <a:xfrm>
            <a:off x="680314" y="1009498"/>
            <a:ext cx="13277088" cy="0"/>
          </a:xfrm>
          <a:prstGeom prst="line">
            <a:avLst/>
          </a:prstGeom>
          <a:noFill/>
          <a:ln w="12700">
            <a:solidFill>
              <a:srgbClr val="C9CDD3"/>
            </a:solidFill>
            <a:prstDash val="solid"/>
          </a:ln>
        </p:spPr>
      </p:sp>
      <p:sp>
        <p:nvSpPr>
          <p:cNvPr id="5" name="Shape 3"/>
          <p:cNvSpPr/>
          <p:nvPr/>
        </p:nvSpPr>
        <p:spPr>
          <a:xfrm>
            <a:off x="8339328" y="1009498"/>
            <a:ext cx="5618074" cy="0"/>
          </a:xfrm>
          <a:prstGeom prst="line">
            <a:avLst/>
          </a:prstGeom>
          <a:noFill/>
          <a:ln w="25400">
            <a:solidFill>
              <a:srgbClr val="8C2A32"/>
            </a:solidFill>
            <a:prstDash val="solid"/>
          </a:ln>
        </p:spPr>
      </p:sp>
      <p:sp>
        <p:nvSpPr>
          <p:cNvPr id="6" name="Shape 4"/>
          <p:cNvSpPr/>
          <p:nvPr/>
        </p:nvSpPr>
        <p:spPr>
          <a:xfrm>
            <a:off x="680314" y="1207008"/>
            <a:ext cx="899770" cy="899770"/>
          </a:xfrm>
          <a:prstGeom prst="ellipse">
            <a:avLst/>
          </a:prstGeom>
          <a:solidFill>
            <a:srgbClr val="FFFFFF">
              <a:alpha val="0"/>
            </a:srgbClr>
          </a:solidFill>
          <a:ln w="63500">
            <a:solidFill>
              <a:srgbClr val="8C2A32"/>
            </a:solidFill>
            <a:prstDash val="solid"/>
          </a:ln>
        </p:spPr>
      </p:sp>
      <p:sp>
        <p:nvSpPr>
          <p:cNvPr id="7" name="Shape 5"/>
          <p:cNvSpPr/>
          <p:nvPr/>
        </p:nvSpPr>
        <p:spPr>
          <a:xfrm>
            <a:off x="1207008" y="1119226"/>
            <a:ext cx="680314" cy="1075334"/>
          </a:xfrm>
          <a:prstGeom prst="rect">
            <a:avLst/>
          </a:prstGeom>
          <a:solidFill>
            <a:srgbClr val="FFFFFF"/>
          </a:solidFill>
          <a:ln w="12700">
            <a:solidFill>
              <a:srgbClr val="FFFFFF"/>
            </a:solidFill>
            <a:prstDash val="solid"/>
          </a:ln>
        </p:spPr>
      </p:sp>
      <p:sp>
        <p:nvSpPr>
          <p:cNvPr id="8" name="Text 6"/>
          <p:cNvSpPr/>
          <p:nvPr/>
        </p:nvSpPr>
        <p:spPr>
          <a:xfrm>
            <a:off x="1119226" y="1207008"/>
            <a:ext cx="12508992" cy="899770"/>
          </a:xfrm>
          <a:prstGeom prst="rect">
            <a:avLst/>
          </a:prstGeom>
          <a:noFill/>
          <a:ln/>
        </p:spPr>
        <p:txBody>
          <a:bodyPr wrap="square" lIns="0" tIns="0" rIns="0" bIns="0" rtlCol="0" anchor="ctr"/>
          <a:lstStyle/>
          <a:p>
            <a:pPr indent="0" marL="0">
              <a:buNone/>
            </a:pPr>
            <a:r>
              <a:rPr lang="en-US" sz="2600" b="1" dirty="0">
                <a:solidFill>
                  <a:srgbClr val="1F2226"/>
                </a:solidFill>
                <a:latin typeface="Arial" pitchFamily="34" charset="0"/>
                <a:ea typeface="Arial" pitchFamily="34" charset="-122"/>
                <a:cs typeface="Arial" pitchFamily="34" charset="-120"/>
              </a:rPr>
              <a:t>Appendix A. 인용 근거 대조</a:t>
            </a:r>
            <a:endParaRPr lang="en-US" sz="2600" dirty="0"/>
          </a:p>
        </p:txBody>
      </p:sp>
      <p:sp>
        <p:nvSpPr>
          <p:cNvPr id="9" name="Text 7"/>
          <p:cNvSpPr/>
          <p:nvPr/>
        </p:nvSpPr>
        <p:spPr>
          <a:xfrm>
            <a:off x="768096" y="2260397"/>
            <a:ext cx="7680960" cy="329184"/>
          </a:xfrm>
          <a:prstGeom prst="rect">
            <a:avLst/>
          </a:prstGeom>
          <a:noFill/>
          <a:ln/>
        </p:spPr>
        <p:txBody>
          <a:bodyPr wrap="square" lIns="0" tIns="0" rIns="0" bIns="0" rtlCol="0" anchor="ctr"/>
          <a:lstStyle/>
          <a:p>
            <a:pPr algn="l" indent="0" marL="0">
              <a:buNone/>
            </a:pPr>
            <a:r>
              <a:rPr lang="en-US" sz="1300" b="1" dirty="0">
                <a:solidFill>
                  <a:srgbClr val="1F2226"/>
                </a:solidFill>
                <a:latin typeface="Arial" pitchFamily="34" charset="0"/>
                <a:ea typeface="Arial" pitchFamily="34" charset="-122"/>
                <a:cs typeface="Arial" pitchFamily="34" charset="-120"/>
              </a:rPr>
              <a:t>【 원전에서 무엇을 가져왔고, 왜 그 근거인가 】</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68096" y="2633472"/>
          <a:ext cx="13112496" cy="914400"/>
        </p:xfrm>
        <a:graphic>
          <a:graphicData uri="http://schemas.openxmlformats.org/drawingml/2006/table">
            <a:tbl>
              <a:tblPr/>
              <a:tblGrid>
                <a:gridCol w="2633472"/>
                <a:gridCol w="4443984"/>
                <a:gridCol w="4718304"/>
                <a:gridCol w="1316736"/>
              </a:tblGrid>
              <a:tr h="493776">
                <a:tc>
                  <a:txBody>
                    <a:bodyPr/>
                    <a:lstStyle/>
                    <a:p>
                      <a:pPr indent="0" marL="0">
                        <a:buNone/>
                      </a:pPr>
                      <a:r>
                        <a:rPr lang="en-US" sz="900" b="1" dirty="0">
                          <a:solidFill>
                            <a:srgbClr val="1F2226"/>
                          </a:solidFill>
                          <a:latin typeface="Arial" pitchFamily="34" charset="0"/>
                          <a:ea typeface="Arial" pitchFamily="34" charset="-122"/>
                          <a:cs typeface="Arial" pitchFamily="34" charset="-120"/>
                        </a:rPr>
                        <a:t>이론 · 문헌</a:t>
                      </a:r>
                      <a:endParaRPr lang="en-US" sz="900" dirty="0">
                        <a:latin typeface="Arial" charset="0"/>
                        <a:ea typeface="Arial" charset="0"/>
                        <a:cs typeface="Arial" charset="0"/>
                      </a:endParaRPr>
                    </a:p>
                  </a:txBody>
                  <a:tcPr marL="76200" marR="762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900" b="1" dirty="0">
                          <a:solidFill>
                            <a:srgbClr val="1F2226"/>
                          </a:solidFill>
                          <a:latin typeface="Arial" pitchFamily="34" charset="0"/>
                          <a:ea typeface="Arial" pitchFamily="34" charset="-122"/>
                          <a:cs typeface="Arial" pitchFamily="34" charset="-120"/>
                        </a:rPr>
                        <a:t>원전에서 가져온 부분</a:t>
                      </a:r>
                      <a:endParaRPr lang="en-US" sz="900" dirty="0">
                        <a:latin typeface="Arial" charset="0"/>
                        <a:ea typeface="Arial" charset="0"/>
                        <a:cs typeface="Arial" charset="0"/>
                      </a:endParaRPr>
                    </a:p>
                  </a:txBody>
                  <a:tcPr marL="76200" marR="762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900" b="1" dirty="0">
                          <a:solidFill>
                            <a:srgbClr val="1F2226"/>
                          </a:solidFill>
                          <a:latin typeface="Arial" pitchFamily="34" charset="0"/>
                          <a:ea typeface="Arial" pitchFamily="34" charset="-122"/>
                          <a:cs typeface="Arial" pitchFamily="34" charset="-120"/>
                        </a:rPr>
                        <a:t>왜 이 근거인가</a:t>
                      </a:r>
                      <a:endParaRPr lang="en-US" sz="900" dirty="0">
                        <a:latin typeface="Arial" charset="0"/>
                        <a:ea typeface="Arial" charset="0"/>
                        <a:cs typeface="Arial" charset="0"/>
                      </a:endParaRPr>
                    </a:p>
                  </a:txBody>
                  <a:tcPr marL="76200" marR="762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F2226"/>
                          </a:solidFill>
                          <a:latin typeface="Arial" pitchFamily="34" charset="0"/>
                          <a:ea typeface="Arial" pitchFamily="34" charset="-122"/>
                          <a:cs typeface="Arial" pitchFamily="34" charset="-120"/>
                        </a:rPr>
                        <a:t>층 · 담당</a:t>
                      </a:r>
                      <a:endParaRPr lang="en-US" sz="900" dirty="0">
                        <a:latin typeface="Arial" charset="0"/>
                        <a:ea typeface="Arial" charset="0"/>
                        <a:cs typeface="Arial" charset="0"/>
                      </a:endParaRPr>
                    </a:p>
                  </a:txBody>
                  <a:tcPr marL="76200" marR="762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493776">
                <a:tc>
                  <a:txBody>
                    <a:bodyPr/>
                    <a:lstStyle/>
                    <a:p>
                      <a:pPr indent="0" marL="0">
                        <a:buNone/>
                      </a:pPr>
                      <a:r>
                        <a:rPr lang="en-US" sz="900" dirty="0">
                          <a:solidFill>
                            <a:srgbClr val="1F2226"/>
                          </a:solidFill>
                          <a:latin typeface="Arial" pitchFamily="34" charset="0"/>
                          <a:ea typeface="Arial" pitchFamily="34" charset="-122"/>
                          <a:cs typeface="Arial" pitchFamily="34" charset="-120"/>
                        </a:rPr>
                        <a:t>사회물질성 · 임브리케이션</a:t>
                      </a:r>
                      <a:endParaRPr lang="en-US" sz="900" dirty="0">
                        <a:latin typeface="Arial" charset="0"/>
                        <a:ea typeface="Arial" charset="0"/>
                        <a:cs typeface="Arial" charset="0"/>
                      </a:endParaRPr>
                    </a:p>
                    <a:p>
                      <a:pPr indent="0" marL="0">
                        <a:buNone/>
                      </a:pPr>
                      <a:r>
                        <a:rPr lang="en-US" sz="900" dirty="0">
                          <a:solidFill>
                            <a:srgbClr val="1F2226"/>
                          </a:solidFill>
                          <a:latin typeface="Arial" pitchFamily="34" charset="0"/>
                          <a:ea typeface="Arial" pitchFamily="34" charset="-122"/>
                          <a:cs typeface="Arial" pitchFamily="34" charset="-120"/>
                        </a:rPr>
                        <a:t>Orlikowski (2007) · Leonardi (2011)</a:t>
                      </a:r>
                      <a:endParaRPr lang="en-US" sz="900" dirty="0">
                        <a:latin typeface="Arial" charset="0"/>
                        <a:ea typeface="Arial" charset="0"/>
                        <a:cs typeface="Arial" charset="0"/>
                      </a:endParaRPr>
                    </a:p>
                  </a:txBody>
                  <a:tcPr marL="76200" marR="762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900" dirty="0">
                          <a:solidFill>
                            <a:srgbClr val="1F2226"/>
                          </a:solidFill>
                          <a:latin typeface="Arial" pitchFamily="34" charset="0"/>
                          <a:ea typeface="Arial" pitchFamily="34" charset="-122"/>
                          <a:cs typeface="Arial" pitchFamily="34" charset="-120"/>
                        </a:rPr>
                        <a:t>“The distinction of humans and artifacts … is analytical only.” (Orlikowski, 2007, p.1438)</a:t>
                      </a:r>
                      <a:endParaRPr lang="en-US" sz="900" dirty="0">
                        <a:latin typeface="Arial" charset="0"/>
                        <a:ea typeface="Arial" charset="0"/>
                        <a:cs typeface="Arial" charset="0"/>
                      </a:endParaRPr>
                    </a:p>
                    <a:p>
                      <a:pPr indent="0" marL="0">
                        <a:buNone/>
                      </a:pPr>
                      <a:r>
                        <a:rPr lang="en-US" sz="900" dirty="0">
                          <a:solidFill>
                            <a:srgbClr val="1F2226"/>
                          </a:solidFill>
                          <a:latin typeface="Arial" pitchFamily="34" charset="0"/>
                          <a:ea typeface="Arial" pitchFamily="34" charset="-122"/>
                          <a:cs typeface="Arial" pitchFamily="34" charset="-120"/>
                        </a:rPr>
                        <a:t>“the capacity for nonhuman entities to act on their own” — material agency (Leonardi, 2011, p.148)</a:t>
                      </a:r>
                      <a:endParaRPr lang="en-US" sz="900" dirty="0">
                        <a:latin typeface="Arial" charset="0"/>
                        <a:ea typeface="Arial" charset="0"/>
                        <a:cs typeface="Arial" charset="0"/>
                      </a:endParaRPr>
                    </a:p>
                  </a:txBody>
                  <a:tcPr marL="76200" marR="762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900" dirty="0">
                          <a:solidFill>
                            <a:srgbClr val="1F2226"/>
                          </a:solidFill>
                          <a:latin typeface="Arial" pitchFamily="34" charset="0"/>
                          <a:ea typeface="Arial" pitchFamily="34" charset="-122"/>
                          <a:cs typeface="Arial" pitchFamily="34" charset="-120"/>
                        </a:rPr>
                        <a:t>귀속 모호성의 존재론적 근거</a:t>
                      </a:r>
                      <a:endParaRPr lang="en-US" sz="900" dirty="0">
                        <a:latin typeface="Arial" charset="0"/>
                        <a:ea typeface="Arial" charset="0"/>
                        <a:cs typeface="Arial" charset="0"/>
                      </a:endParaRPr>
                    </a:p>
                    <a:p>
                      <a:pPr indent="0" marL="0">
                        <a:buNone/>
                      </a:pPr>
                      <a:r>
                        <a:rPr lang="en-US" sz="900" dirty="0">
                          <a:solidFill>
                            <a:srgbClr val="1F2226"/>
                          </a:solidFill>
                          <a:latin typeface="Arial" pitchFamily="34" charset="0"/>
                          <a:ea typeface="Arial" pitchFamily="34" charset="-122"/>
                          <a:cs typeface="Arial" pitchFamily="34" charset="-120"/>
                        </a:rPr>
                        <a:t>※ 두 원전은 AI를 다루지 않는다. AI를 material agency의 사례로 보는 확장이며,</a:t>
                      </a:r>
                      <a:endParaRPr lang="en-US" sz="900" dirty="0">
                        <a:latin typeface="Arial" charset="0"/>
                        <a:ea typeface="Arial" charset="0"/>
                        <a:cs typeface="Arial" charset="0"/>
                      </a:endParaRPr>
                    </a:p>
                    <a:p>
                      <a:pPr indent="0" marL="0">
                        <a:buNone/>
                      </a:pPr>
                      <a:r>
                        <a:rPr lang="en-US" sz="900" dirty="0">
                          <a:solidFill>
                            <a:srgbClr val="1F2226"/>
                          </a:solidFill>
                          <a:latin typeface="Arial" pitchFamily="34" charset="0"/>
                          <a:ea typeface="Arial" pitchFamily="34" charset="-122"/>
                          <a:cs typeface="Arial" pitchFamily="34" charset="-120"/>
                        </a:rPr>
                        <a:t>   산출물 자체를 생성한다는 점에서 얽힘이 더 강하다 · 실증이 아니라 이론 근거다</a:t>
                      </a:r>
                      <a:endParaRPr lang="en-US" sz="900" dirty="0">
                        <a:latin typeface="Arial" charset="0"/>
                        <a:ea typeface="Arial" charset="0"/>
                        <a:cs typeface="Arial" charset="0"/>
                      </a:endParaRPr>
                    </a:p>
                  </a:txBody>
                  <a:tcPr marL="76200" marR="762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F2226"/>
                          </a:solidFill>
                          <a:latin typeface="Arial" pitchFamily="34" charset="0"/>
                          <a:ea typeface="Arial" pitchFamily="34" charset="-122"/>
                          <a:cs typeface="Arial" pitchFamily="34" charset="-120"/>
                        </a:rPr>
                        <a:t>존재론 근거</a:t>
                      </a:r>
                      <a:endParaRPr lang="en-US" sz="900" dirty="0">
                        <a:latin typeface="Arial" charset="0"/>
                        <a:ea typeface="Arial" charset="0"/>
                        <a:cs typeface="Arial" charset="0"/>
                      </a:endParaRPr>
                    </a:p>
                    <a:p>
                      <a:pPr algn="ctr" indent="0" marL="0">
                        <a:buNone/>
                      </a:pPr>
                      <a:r>
                        <a:rPr lang="en-US" sz="900" dirty="0">
                          <a:solidFill>
                            <a:srgbClr val="1F2226"/>
                          </a:solidFill>
                          <a:latin typeface="Arial" pitchFamily="34" charset="0"/>
                          <a:ea typeface="Arial" pitchFamily="34" charset="-122"/>
                          <a:cs typeface="Arial" pitchFamily="34" charset="-120"/>
                        </a:rPr>
                        <a:t>IV 정당화</a:t>
                      </a:r>
                      <a:endParaRPr lang="en-US" sz="900" dirty="0">
                        <a:latin typeface="Arial" charset="0"/>
                        <a:ea typeface="Arial" charset="0"/>
                        <a:cs typeface="Arial" charset="0"/>
                      </a:endParaRPr>
                    </a:p>
                  </a:txBody>
                  <a:tcPr marL="76200" marR="762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493776">
                <a:tc>
                  <a:txBody>
                    <a:bodyPr/>
                    <a:lstStyle/>
                    <a:p>
                      <a:pPr indent="0" marL="0">
                        <a:buNone/>
                      </a:pPr>
                      <a:r>
                        <a:rPr lang="en-US" sz="900" dirty="0">
                          <a:solidFill>
                            <a:srgbClr val="1F2226"/>
                          </a:solidFill>
                          <a:latin typeface="Arial" pitchFamily="34" charset="0"/>
                          <a:ea typeface="Arial" pitchFamily="34" charset="-122"/>
                          <a:cs typeface="Arial" pitchFamily="34" charset="-120"/>
                        </a:rPr>
                        <a:t>귀인이론 · 기대원리</a:t>
                      </a:r>
                      <a:endParaRPr lang="en-US" sz="900" dirty="0">
                        <a:latin typeface="Arial" charset="0"/>
                        <a:ea typeface="Arial" charset="0"/>
                        <a:cs typeface="Arial" charset="0"/>
                      </a:endParaRPr>
                    </a:p>
                    <a:p>
                      <a:pPr indent="0" marL="0">
                        <a:buNone/>
                      </a:pPr>
                      <a:r>
                        <a:rPr lang="en-US" sz="900" dirty="0">
                          <a:solidFill>
                            <a:srgbClr val="1F2226"/>
                          </a:solidFill>
                          <a:latin typeface="Arial" pitchFamily="34" charset="0"/>
                          <a:ea typeface="Arial" pitchFamily="34" charset="-122"/>
                          <a:cs typeface="Arial" pitchFamily="34" charset="-120"/>
                        </a:rPr>
                        <a:t>Weiner (1985)</a:t>
                      </a:r>
                      <a:endParaRPr lang="en-US" sz="900" dirty="0">
                        <a:latin typeface="Arial" charset="0"/>
                        <a:ea typeface="Arial" charset="0"/>
                        <a:cs typeface="Arial" charset="0"/>
                      </a:endParaRPr>
                    </a:p>
                  </a:txBody>
                  <a:tcPr marL="76200" marR="762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900" dirty="0">
                          <a:solidFill>
                            <a:srgbClr val="1F2226"/>
                          </a:solidFill>
                          <a:latin typeface="Arial" pitchFamily="34" charset="0"/>
                          <a:ea typeface="Arial" pitchFamily="34" charset="-122"/>
                          <a:cs typeface="Arial" pitchFamily="34" charset="-120"/>
                        </a:rPr>
                        <a:t>“causal stability influences changes in goal anticipations” (Weiner, 1985, p.549)</a:t>
                      </a:r>
                      <a:endParaRPr lang="en-US" sz="900" dirty="0">
                        <a:latin typeface="Arial" charset="0"/>
                        <a:ea typeface="Arial" charset="0"/>
                        <a:cs typeface="Arial" charset="0"/>
                      </a:endParaRPr>
                    </a:p>
                    <a:p>
                      <a:pPr indent="0" marL="0">
                        <a:buNone/>
                      </a:pPr>
                      <a:r>
                        <a:rPr lang="en-US" sz="900" dirty="0">
                          <a:solidFill>
                            <a:srgbClr val="1F2226"/>
                          </a:solidFill>
                          <a:latin typeface="Arial" pitchFamily="34" charset="0"/>
                          <a:ea typeface="Arial" pitchFamily="34" charset="-122"/>
                          <a:cs typeface="Arial" pitchFamily="34" charset="-120"/>
                        </a:rPr>
                        <a:t>expectancy principle — 안정적 귀속이 미래 기대를 형성한다</a:t>
                      </a:r>
                      <a:endParaRPr lang="en-US" sz="900" dirty="0">
                        <a:latin typeface="Arial" charset="0"/>
                        <a:ea typeface="Arial" charset="0"/>
                        <a:cs typeface="Arial" charset="0"/>
                      </a:endParaRPr>
                    </a:p>
                  </a:txBody>
                  <a:tcPr marL="76200" marR="762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900" dirty="0">
                          <a:solidFill>
                            <a:srgbClr val="1F2226"/>
                          </a:solidFill>
                          <a:latin typeface="Arial" pitchFamily="34" charset="0"/>
                          <a:ea typeface="Arial" pitchFamily="34" charset="-122"/>
                          <a:cs typeface="Arial" pitchFamily="34" charset="-120"/>
                        </a:rPr>
                        <a:t>「귀속이 안 되면 예측이 안 된다」가 H1의 인과 동력이다</a:t>
                      </a:r>
                      <a:endParaRPr lang="en-US" sz="900" dirty="0">
                        <a:latin typeface="Arial" charset="0"/>
                        <a:ea typeface="Arial" charset="0"/>
                        <a:cs typeface="Arial" charset="0"/>
                      </a:endParaRPr>
                    </a:p>
                    <a:p>
                      <a:pPr indent="0" marL="0">
                        <a:buNone/>
                      </a:pPr>
                      <a:r>
                        <a:rPr lang="en-US" sz="900" dirty="0">
                          <a:solidFill>
                            <a:srgbClr val="1F2226"/>
                          </a:solidFill>
                          <a:latin typeface="Arial" pitchFamily="34" charset="0"/>
                          <a:ea typeface="Arial" pitchFamily="34" charset="-122"/>
                          <a:cs typeface="Arial" pitchFamily="34" charset="-120"/>
                        </a:rPr>
                        <a:t>※ 「성과 기대 → 평가 기대」 확장은 논리 논증이며 직접 문헌은 없다</a:t>
                      </a:r>
                      <a:endParaRPr lang="en-US" sz="900" dirty="0">
                        <a:latin typeface="Arial" charset="0"/>
                        <a:ea typeface="Arial" charset="0"/>
                        <a:cs typeface="Arial" charset="0"/>
                      </a:endParaRPr>
                    </a:p>
                  </a:txBody>
                  <a:tcPr marL="76200" marR="762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F2226"/>
                          </a:solidFill>
                          <a:latin typeface="Arial" pitchFamily="34" charset="0"/>
                          <a:ea typeface="Arial" pitchFamily="34" charset="-122"/>
                          <a:cs typeface="Arial" pitchFamily="34" charset="-120"/>
                        </a:rPr>
                        <a:t>발생 기제</a:t>
                      </a:r>
                      <a:endParaRPr lang="en-US" sz="900" dirty="0">
                        <a:latin typeface="Arial" charset="0"/>
                        <a:ea typeface="Arial" charset="0"/>
                        <a:cs typeface="Arial" charset="0"/>
                      </a:endParaRPr>
                    </a:p>
                    <a:p>
                      <a:pPr algn="ctr" indent="0" marL="0">
                        <a:buNone/>
                      </a:pPr>
                      <a:r>
                        <a:rPr lang="en-US" sz="900" b="1" dirty="0">
                          <a:solidFill>
                            <a:srgbClr val="1F2226"/>
                          </a:solidFill>
                          <a:latin typeface="Arial" pitchFamily="34" charset="0"/>
                          <a:ea typeface="Arial" pitchFamily="34" charset="-122"/>
                          <a:cs typeface="Arial" pitchFamily="34" charset="-120"/>
                        </a:rPr>
                        <a:t>H1</a:t>
                      </a:r>
                      <a:endParaRPr lang="en-US" sz="900" dirty="0">
                        <a:latin typeface="Arial" charset="0"/>
                        <a:ea typeface="Arial" charset="0"/>
                        <a:cs typeface="Arial" charset="0"/>
                      </a:endParaRPr>
                    </a:p>
                  </a:txBody>
                  <a:tcPr marL="76200" marR="762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493776">
                <a:tc>
                  <a:txBody>
                    <a:bodyPr/>
                    <a:lstStyle/>
                    <a:p>
                      <a:pPr indent="0" marL="0">
                        <a:buNone/>
                      </a:pPr>
                      <a:r>
                        <a:rPr lang="en-US" sz="900" dirty="0">
                          <a:solidFill>
                            <a:srgbClr val="1F2226"/>
                          </a:solidFill>
                          <a:latin typeface="Arial" pitchFamily="34" charset="0"/>
                          <a:ea typeface="Arial" pitchFamily="34" charset="-122"/>
                          <a:cs typeface="Arial" pitchFamily="34" charset="-120"/>
                        </a:rPr>
                        <a:t>절차 규칙</a:t>
                      </a:r>
                      <a:endParaRPr lang="en-US" sz="900" dirty="0">
                        <a:latin typeface="Arial" charset="0"/>
                        <a:ea typeface="Arial" charset="0"/>
                        <a:cs typeface="Arial" charset="0"/>
                      </a:endParaRPr>
                    </a:p>
                    <a:p>
                      <a:pPr indent="0" marL="0">
                        <a:buNone/>
                      </a:pPr>
                      <a:r>
                        <a:rPr lang="en-US" sz="900" dirty="0">
                          <a:solidFill>
                            <a:srgbClr val="1F2226"/>
                          </a:solidFill>
                          <a:latin typeface="Arial" pitchFamily="34" charset="0"/>
                          <a:ea typeface="Arial" pitchFamily="34" charset="-122"/>
                          <a:cs typeface="Arial" pitchFamily="34" charset="-120"/>
                        </a:rPr>
                        <a:t>Leventhal (1980)</a:t>
                      </a:r>
                      <a:endParaRPr lang="en-US" sz="900" dirty="0">
                        <a:latin typeface="Arial" charset="0"/>
                        <a:ea typeface="Arial" charset="0"/>
                        <a:cs typeface="Arial" charset="0"/>
                      </a:endParaRPr>
                    </a:p>
                  </a:txBody>
                  <a:tcPr marL="76200" marR="762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900" dirty="0">
                          <a:solidFill>
                            <a:srgbClr val="1F2226"/>
                          </a:solidFill>
                          <a:latin typeface="Arial" pitchFamily="34" charset="0"/>
                          <a:ea typeface="Arial" pitchFamily="34" charset="-122"/>
                          <a:cs typeface="Arial" pitchFamily="34" charset="-120"/>
                        </a:rPr>
                        <a:t>consistency 규칙이 across persons · over time 두 축을 요구 (ERIC판 p.23–24)</a:t>
                      </a:r>
                      <a:endParaRPr lang="en-US" sz="900" dirty="0">
                        <a:latin typeface="Arial" charset="0"/>
                        <a:ea typeface="Arial" charset="0"/>
                        <a:cs typeface="Arial" charset="0"/>
                      </a:endParaRPr>
                    </a:p>
                    <a:p>
                      <a:pPr indent="0" marL="0">
                        <a:buNone/>
                      </a:pPr>
                      <a:r>
                        <a:rPr lang="en-US" sz="900" dirty="0">
                          <a:solidFill>
                            <a:srgbClr val="1F2226"/>
                          </a:solidFill>
                          <a:latin typeface="Arial" pitchFamily="34" charset="0"/>
                          <a:ea typeface="Arial" pitchFamily="34" charset="-122"/>
                          <a:cs typeface="Arial" pitchFamily="34" charset="-120"/>
                        </a:rPr>
                        <a:t>규칙은 선택적으로 적용된다 (ERIC판 p.22)  ※ 출판본 쪽수는 판본 차이로 미확정</a:t>
                      </a:r>
                      <a:endParaRPr lang="en-US" sz="900" dirty="0">
                        <a:latin typeface="Arial" charset="0"/>
                        <a:ea typeface="Arial" charset="0"/>
                        <a:cs typeface="Arial" charset="0"/>
                      </a:endParaRPr>
                    </a:p>
                  </a:txBody>
                  <a:tcPr marL="76200" marR="762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900" dirty="0">
                          <a:solidFill>
                            <a:srgbClr val="1F2226"/>
                          </a:solidFill>
                          <a:latin typeface="Arial" pitchFamily="34" charset="0"/>
                          <a:ea typeface="Arial" pitchFamily="34" charset="-122"/>
                          <a:cs typeface="Arial" pitchFamily="34" charset="-120"/>
                        </a:rPr>
                        <a:t>「왜 6규칙 중 2개만 보는가」의 근거가 원전에 직접 있다</a:t>
                      </a:r>
                      <a:endParaRPr lang="en-US" sz="900" dirty="0">
                        <a:latin typeface="Arial" charset="0"/>
                        <a:ea typeface="Arial" charset="0"/>
                        <a:cs typeface="Arial" charset="0"/>
                      </a:endParaRPr>
                    </a:p>
                    <a:p>
                      <a:pPr indent="0" marL="0">
                        <a:buNone/>
                      </a:pPr>
                      <a:r>
                        <a:rPr lang="en-US" sz="900" dirty="0">
                          <a:solidFill>
                            <a:srgbClr val="1F2226"/>
                          </a:solidFill>
                          <a:latin typeface="Arial" pitchFamily="34" charset="0"/>
                          <a:ea typeface="Arial" pitchFamily="34" charset="-122"/>
                          <a:cs typeface="Arial" pitchFamily="34" charset="-120"/>
                        </a:rPr>
                        <a:t>예측 불가능성이 규칙 충족 판단의 근거를 없앤다는 논리를 여기서 세운다</a:t>
                      </a:r>
                      <a:endParaRPr lang="en-US" sz="900" dirty="0">
                        <a:latin typeface="Arial" charset="0"/>
                        <a:ea typeface="Arial" charset="0"/>
                        <a:cs typeface="Arial" charset="0"/>
                      </a:endParaRPr>
                    </a:p>
                  </a:txBody>
                  <a:tcPr marL="76200" marR="762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F2226"/>
                          </a:solidFill>
                          <a:latin typeface="Arial" pitchFamily="34" charset="0"/>
                          <a:ea typeface="Arial" pitchFamily="34" charset="-122"/>
                          <a:cs typeface="Arial" pitchFamily="34" charset="-120"/>
                        </a:rPr>
                        <a:t>상위 이론</a:t>
                      </a:r>
                      <a:endParaRPr lang="en-US" sz="900" dirty="0">
                        <a:latin typeface="Arial" charset="0"/>
                        <a:ea typeface="Arial" charset="0"/>
                        <a:cs typeface="Arial" charset="0"/>
                      </a:endParaRPr>
                    </a:p>
                    <a:p>
                      <a:pPr algn="ctr" indent="0" marL="0">
                        <a:buNone/>
                      </a:pPr>
                      <a:r>
                        <a:rPr lang="en-US" sz="900" b="1" dirty="0">
                          <a:solidFill>
                            <a:srgbClr val="1F2226"/>
                          </a:solidFill>
                          <a:latin typeface="Arial" pitchFamily="34" charset="0"/>
                          <a:ea typeface="Arial" pitchFamily="34" charset="-122"/>
                          <a:cs typeface="Arial" pitchFamily="34" charset="-120"/>
                        </a:rPr>
                        <a:t>H2 · DV</a:t>
                      </a:r>
                      <a:endParaRPr lang="en-US" sz="900" dirty="0">
                        <a:latin typeface="Arial" charset="0"/>
                        <a:ea typeface="Arial" charset="0"/>
                        <a:cs typeface="Arial" charset="0"/>
                      </a:endParaRPr>
                    </a:p>
                  </a:txBody>
                  <a:tcPr marL="76200" marR="762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493776">
                <a:tc>
                  <a:txBody>
                    <a:bodyPr/>
                    <a:lstStyle/>
                    <a:p>
                      <a:pPr indent="0" marL="0">
                        <a:buNone/>
                      </a:pPr>
                      <a:r>
                        <a:rPr lang="en-US" sz="900" dirty="0">
                          <a:solidFill>
                            <a:srgbClr val="1F2226"/>
                          </a:solidFill>
                          <a:latin typeface="Arial" pitchFamily="34" charset="0"/>
                          <a:ea typeface="Arial" pitchFamily="34" charset="-122"/>
                          <a:cs typeface="Arial" pitchFamily="34" charset="-120"/>
                        </a:rPr>
                        <a:t>조직 공정성</a:t>
                      </a:r>
                      <a:endParaRPr lang="en-US" sz="900" dirty="0">
                        <a:latin typeface="Arial" charset="0"/>
                        <a:ea typeface="Arial" charset="0"/>
                        <a:cs typeface="Arial" charset="0"/>
                      </a:endParaRPr>
                    </a:p>
                    <a:p>
                      <a:pPr indent="0" marL="0">
                        <a:buNone/>
                      </a:pPr>
                      <a:r>
                        <a:rPr lang="en-US" sz="900" dirty="0">
                          <a:solidFill>
                            <a:srgbClr val="1F2226"/>
                          </a:solidFill>
                          <a:latin typeface="Arial" pitchFamily="34" charset="0"/>
                          <a:ea typeface="Arial" pitchFamily="34" charset="-122"/>
                          <a:cs typeface="Arial" pitchFamily="34" charset="-120"/>
                        </a:rPr>
                        <a:t>Colquitt (2001)</a:t>
                      </a:r>
                      <a:endParaRPr lang="en-US" sz="900" dirty="0">
                        <a:latin typeface="Arial" charset="0"/>
                        <a:ea typeface="Arial" charset="0"/>
                        <a:cs typeface="Arial" charset="0"/>
                      </a:endParaRPr>
                    </a:p>
                  </a:txBody>
                  <a:tcPr marL="76200" marR="762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900" dirty="0">
                          <a:solidFill>
                            <a:srgbClr val="1F2226"/>
                          </a:solidFill>
                          <a:latin typeface="Arial" pitchFamily="34" charset="0"/>
                          <a:ea typeface="Arial" pitchFamily="34" charset="-122"/>
                          <a:cs typeface="Arial" pitchFamily="34" charset="-120"/>
                        </a:rPr>
                        <a:t>“consistency … applied consistently across persons and time” (p.388)</a:t>
                      </a:r>
                      <a:endParaRPr lang="en-US" sz="900" dirty="0">
                        <a:latin typeface="Arial" charset="0"/>
                        <a:ea typeface="Arial" charset="0"/>
                        <a:cs typeface="Arial" charset="0"/>
                      </a:endParaRPr>
                    </a:p>
                    <a:p>
                      <a:pPr indent="0" marL="0">
                        <a:buNone/>
                      </a:pPr>
                      <a:r>
                        <a:rPr lang="en-US" sz="900" dirty="0">
                          <a:solidFill>
                            <a:srgbClr val="1F2226"/>
                          </a:solidFill>
                          <a:latin typeface="Arial" pitchFamily="34" charset="0"/>
                          <a:ea typeface="Arial" pitchFamily="34" charset="-122"/>
                          <a:cs typeface="Arial" pitchFamily="34" charset="-120"/>
                        </a:rPr>
                        <a:t>Table 1 (p.389) item 4 — bias suppression 문항</a:t>
                      </a:r>
                      <a:endParaRPr lang="en-US" sz="900" dirty="0">
                        <a:latin typeface="Arial" charset="0"/>
                        <a:ea typeface="Arial" charset="0"/>
                        <a:cs typeface="Arial" charset="0"/>
                      </a:endParaRPr>
                    </a:p>
                  </a:txBody>
                  <a:tcPr marL="76200" marR="762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900" dirty="0">
                          <a:solidFill>
                            <a:srgbClr val="1F2226"/>
                          </a:solidFill>
                          <a:latin typeface="Arial" pitchFamily="34" charset="0"/>
                          <a:ea typeface="Arial" pitchFamily="34" charset="-122"/>
                          <a:cs typeface="Arial" pitchFamily="34" charset="-120"/>
                        </a:rPr>
                        <a:t>DV3의 문항 출처 · 절차공정성 구성개념의 표준 측정 토대</a:t>
                      </a:r>
                      <a:endParaRPr lang="en-US" sz="900" dirty="0">
                        <a:latin typeface="Arial" charset="0"/>
                        <a:ea typeface="Arial" charset="0"/>
                        <a:cs typeface="Arial" charset="0"/>
                      </a:endParaRPr>
                    </a:p>
                  </a:txBody>
                  <a:tcPr marL="76200" marR="762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F2226"/>
                          </a:solidFill>
                          <a:latin typeface="Arial" pitchFamily="34" charset="0"/>
                          <a:ea typeface="Arial" pitchFamily="34" charset="-122"/>
                          <a:cs typeface="Arial" pitchFamily="34" charset="-120"/>
                        </a:rPr>
                        <a:t>상위 이론</a:t>
                      </a:r>
                      <a:endParaRPr lang="en-US" sz="900" dirty="0">
                        <a:latin typeface="Arial" charset="0"/>
                        <a:ea typeface="Arial" charset="0"/>
                        <a:cs typeface="Arial" charset="0"/>
                      </a:endParaRPr>
                    </a:p>
                    <a:p>
                      <a:pPr algn="ctr" indent="0" marL="0">
                        <a:buNone/>
                      </a:pPr>
                      <a:r>
                        <a:rPr lang="en-US" sz="900" dirty="0">
                          <a:solidFill>
                            <a:srgbClr val="1F2226"/>
                          </a:solidFill>
                          <a:latin typeface="Arial" pitchFamily="34" charset="0"/>
                          <a:ea typeface="Arial" pitchFamily="34" charset="-122"/>
                          <a:cs typeface="Arial" pitchFamily="34" charset="-120"/>
                        </a:rPr>
                        <a:t>DV 측정</a:t>
                      </a:r>
                      <a:endParaRPr lang="en-US" sz="900" dirty="0">
                        <a:latin typeface="Arial" charset="0"/>
                        <a:ea typeface="Arial" charset="0"/>
                        <a:cs typeface="Arial" charset="0"/>
                      </a:endParaRPr>
                    </a:p>
                  </a:txBody>
                  <a:tcPr marL="76200" marR="762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493776">
                <a:tc>
                  <a:txBody>
                    <a:bodyPr/>
                    <a:lstStyle/>
                    <a:p>
                      <a:pPr indent="0" marL="0">
                        <a:buNone/>
                      </a:pPr>
                      <a:r>
                        <a:rPr lang="en-US" sz="900" dirty="0">
                          <a:solidFill>
                            <a:srgbClr val="1F2226"/>
                          </a:solidFill>
                          <a:latin typeface="Arial" pitchFamily="34" charset="0"/>
                          <a:ea typeface="Arial" pitchFamily="34" charset="-122"/>
                          <a:cs typeface="Arial" pitchFamily="34" charset="-120"/>
                        </a:rPr>
                        <a:t>Niehoff &amp; Moorman (1993)</a:t>
                      </a:r>
                      <a:endParaRPr lang="en-US" sz="900" dirty="0">
                        <a:latin typeface="Arial" charset="0"/>
                        <a:ea typeface="Arial" charset="0"/>
                        <a:cs typeface="Arial" charset="0"/>
                      </a:endParaRPr>
                    </a:p>
                  </a:txBody>
                  <a:tcPr marL="76200" marR="762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900" dirty="0">
                          <a:solidFill>
                            <a:srgbClr val="1F2226"/>
                          </a:solidFill>
                          <a:latin typeface="Arial" pitchFamily="34" charset="0"/>
                          <a:ea typeface="Arial" pitchFamily="34" charset="-122"/>
                          <a:cs typeface="Arial" pitchFamily="34" charset="-120"/>
                        </a:rPr>
                        <a:t>Table 1 (p.541) item 5 (λ=.901) · item 1 (λ=.897)</a:t>
                      </a:r>
                      <a:endParaRPr lang="en-US" sz="900" dirty="0">
                        <a:latin typeface="Arial" charset="0"/>
                        <a:ea typeface="Arial" charset="0"/>
                        <a:cs typeface="Arial" charset="0"/>
                      </a:endParaRPr>
                    </a:p>
                    <a:p>
                      <a:pPr indent="0" marL="0">
                        <a:buNone/>
                      </a:pPr>
                      <a:r>
                        <a:rPr lang="en-US" sz="900" dirty="0">
                          <a:solidFill>
                            <a:srgbClr val="1F2226"/>
                          </a:solidFill>
                          <a:latin typeface="Arial" pitchFamily="34" charset="0"/>
                          <a:ea typeface="Arial" pitchFamily="34" charset="-122"/>
                          <a:cs typeface="Arial" pitchFamily="34" charset="-120"/>
                        </a:rPr>
                        <a:t>formal procedures(공식 절차) 6문항 α=.85</a:t>
                      </a:r>
                      <a:endParaRPr lang="en-US" sz="900" dirty="0">
                        <a:latin typeface="Arial" charset="0"/>
                        <a:ea typeface="Arial" charset="0"/>
                        <a:cs typeface="Arial" charset="0"/>
                      </a:endParaRPr>
                    </a:p>
                  </a:txBody>
                  <a:tcPr marL="76200" marR="762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900" dirty="0">
                          <a:solidFill>
                            <a:srgbClr val="1F2226"/>
                          </a:solidFill>
                          <a:latin typeface="Arial" pitchFamily="34" charset="0"/>
                          <a:ea typeface="Arial" pitchFamily="34" charset="-122"/>
                          <a:cs typeface="Arial" pitchFamily="34" charset="-120"/>
                        </a:rPr>
                        <a:t>DV1·DV4의 문항 출처 · item 5의 「모든 종업원에 걸쳐」가</a:t>
                      </a:r>
                      <a:endParaRPr lang="en-US" sz="900" dirty="0">
                        <a:latin typeface="Arial" charset="0"/>
                        <a:ea typeface="Arial" charset="0"/>
                        <a:cs typeface="Arial" charset="0"/>
                      </a:endParaRPr>
                    </a:p>
                    <a:p>
                      <a:pPr indent="0" marL="0">
                        <a:buNone/>
                      </a:pPr>
                      <a:r>
                        <a:rPr lang="en-US" sz="900" dirty="0">
                          <a:solidFill>
                            <a:srgbClr val="1F2226"/>
                          </a:solidFill>
                          <a:latin typeface="Arial" pitchFamily="34" charset="0"/>
                          <a:ea typeface="Arial" pitchFamily="34" charset="-122"/>
                          <a:cs typeface="Arial" pitchFamily="34" charset="-120"/>
                        </a:rPr>
                        <a:t>consistency를 사람 간 축에 한정하는 근거가 된다</a:t>
                      </a:r>
                      <a:endParaRPr lang="en-US" sz="900" dirty="0">
                        <a:latin typeface="Arial" charset="0"/>
                        <a:ea typeface="Arial" charset="0"/>
                        <a:cs typeface="Arial" charset="0"/>
                      </a:endParaRPr>
                    </a:p>
                  </a:txBody>
                  <a:tcPr marL="76200" marR="762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F2226"/>
                          </a:solidFill>
                          <a:latin typeface="Arial" pitchFamily="34" charset="0"/>
                          <a:ea typeface="Arial" pitchFamily="34" charset="-122"/>
                          <a:cs typeface="Arial" pitchFamily="34" charset="-120"/>
                        </a:rPr>
                        <a:t>DV 측정</a:t>
                      </a:r>
                      <a:endParaRPr lang="en-US" sz="900" dirty="0">
                        <a:latin typeface="Arial" charset="0"/>
                        <a:ea typeface="Arial" charset="0"/>
                        <a:cs typeface="Arial" charset="0"/>
                      </a:endParaRPr>
                    </a:p>
                  </a:txBody>
                  <a:tcPr marL="76200" marR="762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493776">
                <a:tc>
                  <a:txBody>
                    <a:bodyPr/>
                    <a:lstStyle/>
                    <a:p>
                      <a:pPr indent="0" marL="0">
                        <a:buNone/>
                      </a:pPr>
                      <a:r>
                        <a:rPr lang="en-US" sz="900" dirty="0">
                          <a:solidFill>
                            <a:srgbClr val="1F2226"/>
                          </a:solidFill>
                          <a:latin typeface="Arial" pitchFamily="34" charset="0"/>
                          <a:ea typeface="Arial" pitchFamily="34" charset="-122"/>
                          <a:cs typeface="Arial" pitchFamily="34" charset="-120"/>
                        </a:rPr>
                        <a:t>역할 모호성</a:t>
                      </a:r>
                      <a:endParaRPr lang="en-US" sz="900" dirty="0">
                        <a:latin typeface="Arial" charset="0"/>
                        <a:ea typeface="Arial" charset="0"/>
                        <a:cs typeface="Arial" charset="0"/>
                      </a:endParaRPr>
                    </a:p>
                    <a:p>
                      <a:pPr indent="0" marL="0">
                        <a:buNone/>
                      </a:pPr>
                      <a:r>
                        <a:rPr lang="en-US" sz="900" dirty="0">
                          <a:solidFill>
                            <a:srgbClr val="1F2226"/>
                          </a:solidFill>
                          <a:latin typeface="Arial" pitchFamily="34" charset="0"/>
                          <a:ea typeface="Arial" pitchFamily="34" charset="-122"/>
                          <a:cs typeface="Arial" pitchFamily="34" charset="-120"/>
                        </a:rPr>
                        <a:t>Rizzo, House &amp; Lirtzman (1970)</a:t>
                      </a:r>
                      <a:endParaRPr lang="en-US" sz="900" dirty="0">
                        <a:latin typeface="Arial" charset="0"/>
                        <a:ea typeface="Arial" charset="0"/>
                        <a:cs typeface="Arial" charset="0"/>
                      </a:endParaRPr>
                    </a:p>
                  </a:txBody>
                  <a:tcPr marL="76200" marR="762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900" dirty="0">
                          <a:solidFill>
                            <a:srgbClr val="1F2226"/>
                          </a:solidFill>
                          <a:latin typeface="Arial" pitchFamily="34" charset="0"/>
                          <a:ea typeface="Arial" pitchFamily="34" charset="-122"/>
                          <a:cs typeface="Arial" pitchFamily="34" charset="-120"/>
                        </a:rPr>
                        <a:t>role ambiguity(역할 모호성) 정의 ⑴ 결과 예측가능성 (p.155)</a:t>
                      </a:r>
                      <a:endParaRPr lang="en-US" sz="900" dirty="0">
                        <a:latin typeface="Arial" charset="0"/>
                        <a:ea typeface="Arial" charset="0"/>
                        <a:cs typeface="Arial" charset="0"/>
                      </a:endParaRPr>
                    </a:p>
                    <a:p>
                      <a:pPr indent="0" marL="0">
                        <a:buNone/>
                      </a:pPr>
                      <a:r>
                        <a:rPr lang="en-US" sz="900" dirty="0">
                          <a:solidFill>
                            <a:srgbClr val="1F2226"/>
                          </a:solidFill>
                          <a:latin typeface="Arial" pitchFamily="34" charset="0"/>
                          <a:ea typeface="Arial" pitchFamily="34" charset="-122"/>
                          <a:cs typeface="Arial" pitchFamily="34" charset="-120"/>
                        </a:rPr>
                        <a:t>⑴ 계열 4문항 전원 탈락 (p.160·162, Table 3) · item 16 = 승진·급여 평가 예측</a:t>
                      </a:r>
                      <a:endParaRPr lang="en-US" sz="900" dirty="0">
                        <a:latin typeface="Arial" charset="0"/>
                        <a:ea typeface="Arial" charset="0"/>
                        <a:cs typeface="Arial" charset="0"/>
                      </a:endParaRPr>
                    </a:p>
                  </a:txBody>
                  <a:tcPr marL="76200" marR="762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900" dirty="0">
                          <a:solidFill>
                            <a:srgbClr val="1F2226"/>
                          </a:solidFill>
                          <a:latin typeface="Arial" pitchFamily="34" charset="0"/>
                          <a:ea typeface="Arial" pitchFamily="34" charset="-122"/>
                          <a:cs typeface="Arial" pitchFamily="34" charset="-120"/>
                        </a:rPr>
                        <a:t>MV는 번안이 아니라 복원이다 — 원전이 정의했으나 측정되지 않은</a:t>
                      </a:r>
                      <a:endParaRPr lang="en-US" sz="900" dirty="0">
                        <a:latin typeface="Arial" charset="0"/>
                        <a:ea typeface="Arial" charset="0"/>
                        <a:cs typeface="Arial" charset="0"/>
                      </a:endParaRPr>
                    </a:p>
                    <a:p>
                      <a:pPr indent="0" marL="0">
                        <a:buNone/>
                      </a:pPr>
                      <a:r>
                        <a:rPr lang="en-US" sz="900" dirty="0">
                          <a:solidFill>
                            <a:srgbClr val="1F2226"/>
                          </a:solidFill>
                          <a:latin typeface="Arial" pitchFamily="34" charset="0"/>
                          <a:ea typeface="Arial" pitchFamily="34" charset="-122"/>
                          <a:cs typeface="Arial" pitchFamily="34" charset="-120"/>
                        </a:rPr>
                        <a:t>구성요소를 잇는다는 논거가 이 세 지점에서 나온다</a:t>
                      </a:r>
                      <a:endParaRPr lang="en-US" sz="900" dirty="0">
                        <a:latin typeface="Arial" charset="0"/>
                        <a:ea typeface="Arial" charset="0"/>
                        <a:cs typeface="Arial" charset="0"/>
                      </a:endParaRPr>
                    </a:p>
                  </a:txBody>
                  <a:tcPr marL="76200" marR="762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F2226"/>
                          </a:solidFill>
                          <a:latin typeface="Arial" pitchFamily="34" charset="0"/>
                          <a:ea typeface="Arial" pitchFamily="34" charset="-122"/>
                          <a:cs typeface="Arial" pitchFamily="34" charset="-120"/>
                        </a:rPr>
                        <a:t>MV 측정</a:t>
                      </a:r>
                      <a:endParaRPr lang="en-US" sz="900" dirty="0">
                        <a:latin typeface="Arial" charset="0"/>
                        <a:ea typeface="Arial" charset="0"/>
                        <a:cs typeface="Arial" charset="0"/>
                      </a:endParaRPr>
                    </a:p>
                  </a:txBody>
                  <a:tcPr marL="76200" marR="762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493776">
                <a:tc>
                  <a:txBody>
                    <a:bodyPr/>
                    <a:lstStyle/>
                    <a:p>
                      <a:pPr indent="0" marL="0">
                        <a:buNone/>
                      </a:pPr>
                      <a:r>
                        <a:rPr lang="en-US" sz="900" dirty="0">
                          <a:solidFill>
                            <a:srgbClr val="1F2226"/>
                          </a:solidFill>
                          <a:latin typeface="Arial" pitchFamily="34" charset="0"/>
                          <a:ea typeface="Arial" pitchFamily="34" charset="-122"/>
                          <a:cs typeface="Arial" pitchFamily="34" charset="-120"/>
                        </a:rPr>
                        <a:t>Hartmann &amp; Slapničar (2012)</a:t>
                      </a:r>
                      <a:endParaRPr lang="en-US" sz="900" dirty="0">
                        <a:latin typeface="Arial" charset="0"/>
                        <a:ea typeface="Arial" charset="0"/>
                        <a:cs typeface="Arial" charset="0"/>
                      </a:endParaRPr>
                    </a:p>
                  </a:txBody>
                  <a:tcPr marL="76200" marR="762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900" dirty="0">
                          <a:solidFill>
                            <a:srgbClr val="1F2226"/>
                          </a:solidFill>
                          <a:latin typeface="Arial" pitchFamily="34" charset="0"/>
                          <a:ea typeface="Arial" pitchFamily="34" charset="-122"/>
                          <a:cs typeface="Arial" pitchFamily="34" charset="-120"/>
                        </a:rPr>
                        <a:t>정의 효과가 “conditional on … task uncertainty”라는 진술</a:t>
                      </a:r>
                      <a:endParaRPr lang="en-US" sz="900" dirty="0">
                        <a:latin typeface="Arial" charset="0"/>
                        <a:ea typeface="Arial" charset="0"/>
                        <a:cs typeface="Arial" charset="0"/>
                      </a:endParaRPr>
                    </a:p>
                    <a:p>
                      <a:pPr indent="0" marL="0">
                        <a:buNone/>
                      </a:pPr>
                      <a:r>
                        <a:rPr lang="en-US" sz="900" dirty="0">
                          <a:solidFill>
                            <a:srgbClr val="1F2226"/>
                          </a:solidFill>
                          <a:latin typeface="Arial" pitchFamily="34" charset="0"/>
                          <a:ea typeface="Arial" pitchFamily="34" charset="-122"/>
                          <a:cs typeface="Arial" pitchFamily="34" charset="-120"/>
                        </a:rPr>
                        <a:t>task uncertainty(과업불확실성) = 직무 요구의 변동성 (Thompson, 1967)</a:t>
                      </a:r>
                      <a:endParaRPr lang="en-US" sz="900" dirty="0">
                        <a:latin typeface="Arial" charset="0"/>
                        <a:ea typeface="Arial" charset="0"/>
                        <a:cs typeface="Arial" charset="0"/>
                      </a:endParaRPr>
                    </a:p>
                  </a:txBody>
                  <a:tcPr marL="76200" marR="762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900" dirty="0">
                          <a:solidFill>
                            <a:srgbClr val="1F2226"/>
                          </a:solidFill>
                          <a:latin typeface="Arial" pitchFamily="34" charset="0"/>
                          <a:ea typeface="Arial" pitchFamily="34" charset="-122"/>
                          <a:cs typeface="Arial" pitchFamily="34" charset="-120"/>
                        </a:rPr>
                        <a:t>본 연구 MV와 구성개념이 다르고 매개를 검증하지 않았음을 보이는 근거</a:t>
                      </a:r>
                      <a:endParaRPr lang="en-US" sz="900" dirty="0">
                        <a:latin typeface="Arial" charset="0"/>
                        <a:ea typeface="Arial" charset="0"/>
                        <a:cs typeface="Arial" charset="0"/>
                      </a:endParaRPr>
                    </a:p>
                    <a:p>
                      <a:pPr indent="0" marL="0">
                        <a:buNone/>
                      </a:pPr>
                      <a:r>
                        <a:rPr lang="en-US" sz="900" dirty="0">
                          <a:solidFill>
                            <a:srgbClr val="1F2226"/>
                          </a:solidFill>
                          <a:latin typeface="Arial" pitchFamily="34" charset="0"/>
                          <a:ea typeface="Arial" pitchFamily="34" charset="-122"/>
                          <a:cs typeface="Arial" pitchFamily="34" charset="-120"/>
                        </a:rPr>
                        <a:t>H2의 앵커가 아니라 공백의 증거로 쓴다</a:t>
                      </a:r>
                      <a:endParaRPr lang="en-US" sz="900" dirty="0">
                        <a:latin typeface="Arial" charset="0"/>
                        <a:ea typeface="Arial" charset="0"/>
                        <a:cs typeface="Arial" charset="0"/>
                      </a:endParaRPr>
                    </a:p>
                  </a:txBody>
                  <a:tcPr marL="76200" marR="762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F2226"/>
                          </a:solidFill>
                          <a:latin typeface="Arial" pitchFamily="34" charset="0"/>
                          <a:ea typeface="Arial" pitchFamily="34" charset="-122"/>
                          <a:cs typeface="Arial" pitchFamily="34" charset="-120"/>
                        </a:rPr>
                        <a:t>공백 논증</a:t>
                      </a:r>
                      <a:endParaRPr lang="en-US" sz="900" dirty="0">
                        <a:latin typeface="Arial" charset="0"/>
                        <a:ea typeface="Arial" charset="0"/>
                        <a:cs typeface="Arial" charset="0"/>
                      </a:endParaRPr>
                    </a:p>
                  </a:txBody>
                  <a:tcPr marL="76200" marR="762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493776">
                <a:tc>
                  <a:txBody>
                    <a:bodyPr/>
                    <a:lstStyle/>
                    <a:p>
                      <a:pPr indent="0" marL="0">
                        <a:buNone/>
                      </a:pPr>
                      <a:r>
                        <a:rPr lang="en-US" sz="900" dirty="0">
                          <a:solidFill>
                            <a:srgbClr val="1F2226"/>
                          </a:solidFill>
                          <a:latin typeface="Arial" pitchFamily="34" charset="0"/>
                          <a:ea typeface="Arial" pitchFamily="34" charset="-122"/>
                          <a:cs typeface="Arial" pitchFamily="34" charset="-120"/>
                        </a:rPr>
                        <a:t>평가 절차 명확성</a:t>
                      </a:r>
                      <a:endParaRPr lang="en-US" sz="900" dirty="0">
                        <a:latin typeface="Arial" charset="0"/>
                        <a:ea typeface="Arial" charset="0"/>
                        <a:cs typeface="Arial" charset="0"/>
                      </a:endParaRPr>
                    </a:p>
                    <a:p>
                      <a:pPr indent="0" marL="0">
                        <a:buNone/>
                      </a:pPr>
                      <a:r>
                        <a:rPr lang="en-US" sz="900" dirty="0">
                          <a:solidFill>
                            <a:srgbClr val="1F2226"/>
                          </a:solidFill>
                          <a:latin typeface="Arial" pitchFamily="34" charset="0"/>
                          <a:ea typeface="Arial" pitchFamily="34" charset="-122"/>
                          <a:cs typeface="Arial" pitchFamily="34" charset="-120"/>
                        </a:rPr>
                        <a:t>Erdogan (2002) · Kim (2016) · Wang (2023)</a:t>
                      </a:r>
                      <a:endParaRPr lang="en-US" sz="900" dirty="0">
                        <a:latin typeface="Arial" charset="0"/>
                        <a:ea typeface="Arial" charset="0"/>
                        <a:cs typeface="Arial" charset="0"/>
                      </a:endParaRPr>
                    </a:p>
                  </a:txBody>
                  <a:tcPr marL="76200" marR="762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900" dirty="0">
                          <a:solidFill>
                            <a:srgbClr val="1F2226"/>
                          </a:solidFill>
                          <a:latin typeface="Arial" pitchFamily="34" charset="0"/>
                          <a:ea typeface="Arial" pitchFamily="34" charset="-122"/>
                          <a:cs typeface="Arial" pitchFamily="34" charset="-120"/>
                        </a:rPr>
                        <a:t>formality · clarity of criteria → procedural justice 주효과  · 원문 대조 미실시</a:t>
                      </a:r>
                      <a:endParaRPr lang="en-US" sz="900" dirty="0">
                        <a:latin typeface="Arial" charset="0"/>
                        <a:ea typeface="Arial" charset="0"/>
                        <a:cs typeface="Arial" charset="0"/>
                      </a:endParaRPr>
                    </a:p>
                  </a:txBody>
                  <a:tcPr marL="76200" marR="762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900" dirty="0">
                          <a:solidFill>
                            <a:srgbClr val="1F2226"/>
                          </a:solidFill>
                          <a:latin typeface="Arial" pitchFamily="34" charset="0"/>
                          <a:ea typeface="Arial" pitchFamily="34" charset="-122"/>
                          <a:cs typeface="Arial" pitchFamily="34" charset="-120"/>
                        </a:rPr>
                        <a:t>MOD의 이론 근거 · ※ 주효과 선례이며 조절 형식의 직접 실증은</a:t>
                      </a:r>
                      <a:endParaRPr lang="en-US" sz="900" dirty="0">
                        <a:latin typeface="Arial" charset="0"/>
                        <a:ea typeface="Arial" charset="0"/>
                        <a:cs typeface="Arial" charset="0"/>
                      </a:endParaRPr>
                    </a:p>
                    <a:p>
                      <a:pPr indent="0" marL="0">
                        <a:buNone/>
                      </a:pPr>
                      <a:r>
                        <a:rPr lang="en-US" sz="900" dirty="0">
                          <a:solidFill>
                            <a:srgbClr val="1F2226"/>
                          </a:solidFill>
                          <a:latin typeface="Arial" pitchFamily="34" charset="0"/>
                          <a:ea typeface="Arial" pitchFamily="34" charset="-122"/>
                          <a:cs typeface="Arial" pitchFamily="34" charset="-120"/>
                        </a:rPr>
                        <a:t>확인되지 않아 한계로 명시한다</a:t>
                      </a:r>
                      <a:endParaRPr lang="en-US" sz="900" dirty="0">
                        <a:latin typeface="Arial" charset="0"/>
                        <a:ea typeface="Arial" charset="0"/>
                        <a:cs typeface="Arial" charset="0"/>
                      </a:endParaRPr>
                    </a:p>
                  </a:txBody>
                  <a:tcPr marL="76200" marR="762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F2226"/>
                          </a:solidFill>
                          <a:latin typeface="Arial" pitchFamily="34" charset="0"/>
                          <a:ea typeface="Arial" pitchFamily="34" charset="-122"/>
                          <a:cs typeface="Arial" pitchFamily="34" charset="-120"/>
                        </a:rPr>
                        <a:t>H4</a:t>
                      </a:r>
                      <a:endParaRPr lang="en-US" sz="900" dirty="0">
                        <a:latin typeface="Arial" charset="0"/>
                        <a:ea typeface="Arial" charset="0"/>
                        <a:cs typeface="Arial" charset="0"/>
                      </a:endParaRPr>
                    </a:p>
                  </a:txBody>
                  <a:tcPr marL="76200" marR="762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bl>
          </a:graphicData>
        </a:graphic>
      </p:graphicFrame>
      <p:sp>
        <p:nvSpPr>
          <p:cNvPr id="11" name="Text 8"/>
          <p:cNvSpPr/>
          <p:nvPr/>
        </p:nvSpPr>
        <p:spPr>
          <a:xfrm>
            <a:off x="822960" y="7461504"/>
            <a:ext cx="13002768" cy="307238"/>
          </a:xfrm>
          <a:prstGeom prst="rect">
            <a:avLst/>
          </a:prstGeom>
          <a:noFill/>
          <a:ln/>
        </p:spPr>
        <p:txBody>
          <a:bodyPr wrap="square" lIns="0" tIns="0" rIns="0" bIns="0" rtlCol="0" anchor="ctr"/>
          <a:lstStyle/>
          <a:p>
            <a:pPr indent="0" marL="0">
              <a:buNone/>
            </a:pPr>
            <a:r>
              <a:rPr lang="en-US" sz="1050" b="1" dirty="0">
                <a:solidFill>
                  <a:srgbClr val="1F2226"/>
                </a:solidFill>
                <a:latin typeface="Arial" pitchFamily="34" charset="0"/>
                <a:ea typeface="Arial" pitchFamily="34" charset="-122"/>
                <a:cs typeface="Arial" pitchFamily="34" charset="-120"/>
              </a:rPr>
              <a:t>상위 이론은 조직공정성이고, 그 안에서 귀인이론이 발생 기제를 담당한다  ·  담당 이론이 배정되지 않은 경로는 없다  ·  「미확인」은 원전 확인이 남은 항목  ·  UMT는 조절 이론이라 이론 층이 아니라 메커니즘 보조 (Appendix G)</a:t>
            </a:r>
            <a:endParaRPr lang="en-US" sz="1050" dirty="0"/>
          </a:p>
        </p:txBody>
      </p:sp>
      <p:sp>
        <p:nvSpPr>
          <p:cNvPr id="12" name="Text 9"/>
          <p:cNvSpPr/>
          <p:nvPr/>
        </p:nvSpPr>
        <p:spPr>
          <a:xfrm>
            <a:off x="12508992" y="7626096"/>
            <a:ext cx="1448410" cy="307238"/>
          </a:xfrm>
          <a:prstGeom prst="rect">
            <a:avLst/>
          </a:prstGeom>
          <a:noFill/>
          <a:ln/>
        </p:spPr>
        <p:txBody>
          <a:bodyPr wrap="square" lIns="0" tIns="0" rIns="0" bIns="0" rtlCol="0" anchor="ctr"/>
          <a:lstStyle/>
          <a:p>
            <a:pPr algn="r" indent="0" marL="0">
              <a:buNone/>
            </a:pPr>
            <a:r>
              <a:rPr lang="en-US" sz="1000" dirty="0">
                <a:solidFill>
                  <a:srgbClr val="70757C"/>
                </a:solidFill>
                <a:latin typeface="Arial" pitchFamily="34" charset="0"/>
                <a:ea typeface="Arial" pitchFamily="34" charset="-122"/>
                <a:cs typeface="Arial" pitchFamily="34" charset="-120"/>
              </a:rPr>
              <a:t>A</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339328" y="329184"/>
            <a:ext cx="4992624" cy="285293"/>
          </a:xfrm>
          <a:prstGeom prst="rect">
            <a:avLst/>
          </a:prstGeom>
          <a:noFill/>
          <a:ln/>
        </p:spPr>
        <p:txBody>
          <a:bodyPr wrap="square" lIns="0" tIns="0" rIns="0" bIns="0" rtlCol="0" anchor="ctr"/>
          <a:lstStyle/>
          <a:p>
            <a:pPr algn="r" indent="0" marL="0">
              <a:buNone/>
            </a:pPr>
            <a:r>
              <a:rPr lang="en-US" sz="1050" dirty="0">
                <a:solidFill>
                  <a:srgbClr val="70757C"/>
                </a:solidFill>
                <a:latin typeface="Arial" pitchFamily="34" charset="0"/>
                <a:ea typeface="Arial" pitchFamily="34" charset="-122"/>
                <a:cs typeface="Arial" pitchFamily="34" charset="-120"/>
              </a:rPr>
              <a:t>2026학년도 석사학위논문</a:t>
            </a:r>
            <a:endParaRPr lang="en-US" sz="1050" dirty="0"/>
          </a:p>
        </p:txBody>
      </p:sp>
      <p:sp>
        <p:nvSpPr>
          <p:cNvPr id="3" name="Text 1"/>
          <p:cNvSpPr/>
          <p:nvPr/>
        </p:nvSpPr>
        <p:spPr>
          <a:xfrm>
            <a:off x="8339328" y="603504"/>
            <a:ext cx="4992624" cy="307238"/>
          </a:xfrm>
          <a:prstGeom prst="rect">
            <a:avLst/>
          </a:prstGeom>
          <a:noFill/>
          <a:ln/>
        </p:spPr>
        <p:txBody>
          <a:bodyPr wrap="square" lIns="0" tIns="0" rIns="0" bIns="0" rtlCol="0" anchor="ctr"/>
          <a:lstStyle/>
          <a:p>
            <a:pPr algn="r" indent="0" marL="0">
              <a:buNone/>
            </a:pPr>
            <a:r>
              <a:rPr lang="en-US" sz="1200" b="1" dirty="0">
                <a:solidFill>
                  <a:srgbClr val="1F2226"/>
                </a:solidFill>
                <a:latin typeface="Arial" pitchFamily="34" charset="0"/>
                <a:ea typeface="Arial" pitchFamily="34" charset="-122"/>
                <a:cs typeface="Arial" pitchFamily="34" charset="-120"/>
              </a:rPr>
              <a:t>프로포절 심사</a:t>
            </a:r>
            <a:endParaRPr lang="en-US" sz="1200" dirty="0"/>
          </a:p>
        </p:txBody>
      </p:sp>
      <p:sp>
        <p:nvSpPr>
          <p:cNvPr id="4" name="Shape 2"/>
          <p:cNvSpPr/>
          <p:nvPr/>
        </p:nvSpPr>
        <p:spPr>
          <a:xfrm>
            <a:off x="680314" y="1009498"/>
            <a:ext cx="13277088" cy="0"/>
          </a:xfrm>
          <a:prstGeom prst="line">
            <a:avLst/>
          </a:prstGeom>
          <a:noFill/>
          <a:ln w="12700">
            <a:solidFill>
              <a:srgbClr val="C9CDD3"/>
            </a:solidFill>
            <a:prstDash val="solid"/>
          </a:ln>
        </p:spPr>
      </p:sp>
      <p:sp>
        <p:nvSpPr>
          <p:cNvPr id="5" name="Shape 3"/>
          <p:cNvSpPr/>
          <p:nvPr/>
        </p:nvSpPr>
        <p:spPr>
          <a:xfrm>
            <a:off x="8339328" y="1009498"/>
            <a:ext cx="5618074" cy="0"/>
          </a:xfrm>
          <a:prstGeom prst="line">
            <a:avLst/>
          </a:prstGeom>
          <a:noFill/>
          <a:ln w="25400">
            <a:solidFill>
              <a:srgbClr val="8C2A32"/>
            </a:solidFill>
            <a:prstDash val="solid"/>
          </a:ln>
        </p:spPr>
      </p:sp>
      <p:sp>
        <p:nvSpPr>
          <p:cNvPr id="6" name="Shape 4"/>
          <p:cNvSpPr/>
          <p:nvPr/>
        </p:nvSpPr>
        <p:spPr>
          <a:xfrm>
            <a:off x="680314" y="1207008"/>
            <a:ext cx="899770" cy="899770"/>
          </a:xfrm>
          <a:prstGeom prst="ellipse">
            <a:avLst/>
          </a:prstGeom>
          <a:solidFill>
            <a:srgbClr val="FFFFFF">
              <a:alpha val="0"/>
            </a:srgbClr>
          </a:solidFill>
          <a:ln w="63500">
            <a:solidFill>
              <a:srgbClr val="8C2A32"/>
            </a:solidFill>
            <a:prstDash val="solid"/>
          </a:ln>
        </p:spPr>
      </p:sp>
      <p:sp>
        <p:nvSpPr>
          <p:cNvPr id="7" name="Shape 5"/>
          <p:cNvSpPr/>
          <p:nvPr/>
        </p:nvSpPr>
        <p:spPr>
          <a:xfrm>
            <a:off x="1207008" y="1119226"/>
            <a:ext cx="680314" cy="1075334"/>
          </a:xfrm>
          <a:prstGeom prst="rect">
            <a:avLst/>
          </a:prstGeom>
          <a:solidFill>
            <a:srgbClr val="FFFFFF"/>
          </a:solidFill>
          <a:ln w="12700">
            <a:solidFill>
              <a:srgbClr val="FFFFFF"/>
            </a:solidFill>
            <a:prstDash val="solid"/>
          </a:ln>
        </p:spPr>
      </p:sp>
      <p:sp>
        <p:nvSpPr>
          <p:cNvPr id="8" name="Text 6"/>
          <p:cNvSpPr/>
          <p:nvPr/>
        </p:nvSpPr>
        <p:spPr>
          <a:xfrm>
            <a:off x="1119226" y="1207008"/>
            <a:ext cx="12508992" cy="899770"/>
          </a:xfrm>
          <a:prstGeom prst="rect">
            <a:avLst/>
          </a:prstGeom>
          <a:noFill/>
          <a:ln/>
        </p:spPr>
        <p:txBody>
          <a:bodyPr wrap="square" lIns="0" tIns="0" rIns="0" bIns="0" rtlCol="0" anchor="ctr"/>
          <a:lstStyle/>
          <a:p>
            <a:pPr indent="0" marL="0">
              <a:buNone/>
            </a:pPr>
            <a:r>
              <a:rPr lang="en-US" sz="2600" b="1" dirty="0">
                <a:solidFill>
                  <a:srgbClr val="1F2226"/>
                </a:solidFill>
                <a:latin typeface="Arial" pitchFamily="34" charset="0"/>
                <a:ea typeface="Arial" pitchFamily="34" charset="-122"/>
                <a:cs typeface="Arial" pitchFamily="34" charset="-120"/>
              </a:rPr>
              <a:t>Appendix B. 측정과 점검</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68096" y="2370125"/>
          <a:ext cx="13112496" cy="914400"/>
        </p:xfrm>
        <a:graphic>
          <a:graphicData uri="http://schemas.openxmlformats.org/drawingml/2006/table">
            <a:tbl>
              <a:tblPr/>
              <a:tblGrid>
                <a:gridCol w="3182112"/>
                <a:gridCol w="6166714"/>
                <a:gridCol w="3763670"/>
              </a:tblGrid>
              <a:tr h="460858">
                <a:tc>
                  <a:txBody>
                    <a:bodyPr/>
                    <a:lstStyle/>
                    <a:p>
                      <a:pPr indent="0" marL="0">
                        <a:buNone/>
                      </a:pPr>
                      <a:r>
                        <a:rPr lang="en-US" sz="1150" b="1" dirty="0">
                          <a:solidFill>
                            <a:srgbClr val="1F2226"/>
                          </a:solidFill>
                          <a:latin typeface="Arial" pitchFamily="34" charset="0"/>
                          <a:ea typeface="Arial" pitchFamily="34" charset="-122"/>
                          <a:cs typeface="Arial" pitchFamily="34" charset="-120"/>
                        </a:rPr>
                        <a:t>구분</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b="1" dirty="0">
                          <a:solidFill>
                            <a:srgbClr val="1F2226"/>
                          </a:solidFill>
                          <a:latin typeface="Arial" pitchFamily="34" charset="0"/>
                          <a:ea typeface="Arial" pitchFamily="34" charset="-122"/>
                          <a:cs typeface="Arial" pitchFamily="34" charset="-120"/>
                        </a:rPr>
                        <a:t>내용</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b="1" dirty="0">
                          <a:solidFill>
                            <a:srgbClr val="1F2226"/>
                          </a:solidFill>
                          <a:latin typeface="Arial" pitchFamily="34" charset="0"/>
                          <a:ea typeface="Arial" pitchFamily="34" charset="-122"/>
                          <a:cs typeface="Arial" pitchFamily="34" charset="-120"/>
                        </a:rPr>
                        <a:t>출처 · 비고</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460858">
                <a:tc>
                  <a:txBody>
                    <a:bodyPr/>
                    <a:lstStyle/>
                    <a:p>
                      <a:pPr indent="0" marL="0">
                        <a:buNone/>
                      </a:pPr>
                      <a:r>
                        <a:rPr lang="en-US" sz="1150" dirty="0">
                          <a:solidFill>
                            <a:srgbClr val="1F2226"/>
                          </a:solidFill>
                          <a:latin typeface="Arial" pitchFamily="34" charset="0"/>
                          <a:ea typeface="Arial" pitchFamily="34" charset="-122"/>
                          <a:cs typeface="Arial" pitchFamily="34" charset="-120"/>
                        </a:rPr>
                        <a:t>MC  조작 점검</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4문항 · 독립표본 t검정으로 조건 간 차이 확인</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조작이 실제로 작동했는가</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460858">
                <a:tc>
                  <a:txBody>
                    <a:bodyPr/>
                    <a:lstStyle/>
                    <a:p>
                      <a:pPr indent="0" marL="0">
                        <a:buNone/>
                      </a:pPr>
                      <a:r>
                        <a:rPr lang="en-US" sz="1150" dirty="0">
                          <a:solidFill>
                            <a:srgbClr val="1F2226"/>
                          </a:solidFill>
                          <a:latin typeface="Arial" pitchFamily="34" charset="0"/>
                          <a:ea typeface="Arial" pitchFamily="34" charset="-122"/>
                          <a:cs typeface="Arial" pitchFamily="34" charset="-120"/>
                        </a:rPr>
                        <a:t>MV  평가 불확실성</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4문항</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Rizzo(1970) 정의 ⑴ (p.155) 복원 · 신규 제작</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460858">
                <a:tc>
                  <a:txBody>
                    <a:bodyPr/>
                    <a:lstStyle/>
                    <a:p>
                      <a:pPr indent="0" marL="0">
                        <a:buNone/>
                      </a:pPr>
                      <a:r>
                        <a:rPr lang="en-US" sz="1150" dirty="0">
                          <a:solidFill>
                            <a:srgbClr val="1F2226"/>
                          </a:solidFill>
                          <a:latin typeface="Arial" pitchFamily="34" charset="0"/>
                          <a:ea typeface="Arial" pitchFamily="34" charset="-122"/>
                          <a:cs typeface="Arial" pitchFamily="34" charset="-120"/>
                        </a:rPr>
                        <a:t>DV  절차공정성 지각</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3문항 · 일관성 1 + 편향 억제 2</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N&amp;M(1993) Table 1 p.541 item 5·1 · Colquitt(2001) Table 1 p.389 item 4</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460858">
                <a:tc>
                  <a:txBody>
                    <a:bodyPr/>
                    <a:lstStyle/>
                    <a:p>
                      <a:pPr indent="0" marL="0">
                        <a:buNone/>
                      </a:pPr>
                      <a:r>
                        <a:rPr lang="en-US" sz="1150" dirty="0">
                          <a:solidFill>
                            <a:srgbClr val="1F2226"/>
                          </a:solidFill>
                          <a:latin typeface="Arial" pitchFamily="34" charset="0"/>
                          <a:ea typeface="Arial" pitchFamily="34" charset="-122"/>
                          <a:cs typeface="Arial" pitchFamily="34" charset="-120"/>
                        </a:rPr>
                        <a:t>MOD  평가 절차 명확성</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4문항 · 재설계 검토 중</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조절 위치 확정 후 확정</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460858">
                <a:tc>
                  <a:txBody>
                    <a:bodyPr/>
                    <a:lstStyle/>
                    <a:p>
                      <a:pPr indent="0" marL="0">
                        <a:buNone/>
                      </a:pPr>
                      <a:r>
                        <a:rPr lang="en-US" sz="1150" dirty="0">
                          <a:solidFill>
                            <a:srgbClr val="1F2226"/>
                          </a:solidFill>
                          <a:latin typeface="Arial" pitchFamily="34" charset="0"/>
                          <a:ea typeface="Arial" pitchFamily="34" charset="-122"/>
                          <a:cs typeface="Arial" pitchFamily="34" charset="-120"/>
                        </a:rPr>
                        <a:t>판별타당도</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IV–MV / MV–DV / MV–MOD 세 쌍 · AVE, HTMT</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사전 분석 계획에 포함</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460858">
                <a:tc>
                  <a:txBody>
                    <a:bodyPr/>
                    <a:lstStyle/>
                    <a:p>
                      <a:pPr indent="0" marL="0">
                        <a:buNone/>
                      </a:pPr>
                      <a:r>
                        <a:rPr lang="en-US" sz="1150" dirty="0">
                          <a:solidFill>
                            <a:srgbClr val="1F2226"/>
                          </a:solidFill>
                          <a:latin typeface="Arial" pitchFamily="34" charset="0"/>
                          <a:ea typeface="Arial" pitchFamily="34" charset="-122"/>
                          <a:cs typeface="Arial" pitchFamily="34" charset="-120"/>
                        </a:rPr>
                        <a:t>문항 분류 과제</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문항을 섞어 제시하고 소속 구성개념을 분류시킨다</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문항 단계의 판별 확인</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bl>
          </a:graphicData>
        </a:graphic>
      </p:graphicFrame>
      <p:sp>
        <p:nvSpPr>
          <p:cNvPr id="10" name="Shape 7"/>
          <p:cNvSpPr/>
          <p:nvPr/>
        </p:nvSpPr>
        <p:spPr>
          <a:xfrm>
            <a:off x="768096" y="5870448"/>
            <a:ext cx="13112496" cy="1448410"/>
          </a:xfrm>
          <a:prstGeom prst="rect">
            <a:avLst/>
          </a:prstGeom>
          <a:solidFill>
            <a:srgbClr val="EDEEF0"/>
          </a:solidFill>
          <a:ln w="12700">
            <a:solidFill>
              <a:srgbClr val="DCDDE0"/>
            </a:solidFill>
            <a:prstDash val="solid"/>
          </a:ln>
        </p:spPr>
      </p:sp>
      <p:sp>
        <p:nvSpPr>
          <p:cNvPr id="11" name="Text 8"/>
          <p:cNvSpPr/>
          <p:nvPr/>
        </p:nvSpPr>
        <p:spPr>
          <a:xfrm>
            <a:off x="1097280" y="6035040"/>
            <a:ext cx="12399264" cy="307238"/>
          </a:xfrm>
          <a:prstGeom prst="rect">
            <a:avLst/>
          </a:prstGeom>
          <a:noFill/>
          <a:ln/>
        </p:spPr>
        <p:txBody>
          <a:bodyPr wrap="square" lIns="0" tIns="0" rIns="0" bIns="0" rtlCol="0" anchor="ctr"/>
          <a:lstStyle/>
          <a:p>
            <a:pPr indent="0" marL="0">
              <a:buNone/>
            </a:pPr>
            <a:r>
              <a:rPr lang="en-US" sz="1300" b="1" dirty="0">
                <a:solidFill>
                  <a:srgbClr val="2A2D31"/>
                </a:solidFill>
                <a:latin typeface="Arial" pitchFamily="34" charset="0"/>
                <a:ea typeface="Arial" pitchFamily="34" charset="-122"/>
                <a:cs typeface="Arial" pitchFamily="34" charset="-120"/>
              </a:rPr>
              <a:t>MV 척도의 위치 — 번안이 아니라 복원</a:t>
            </a:r>
            <a:endParaRPr lang="en-US" sz="1300" dirty="0"/>
          </a:p>
        </p:txBody>
      </p:sp>
      <p:sp>
        <p:nvSpPr>
          <p:cNvPr id="12" name="Text 9"/>
          <p:cNvSpPr/>
          <p:nvPr/>
        </p:nvSpPr>
        <p:spPr>
          <a:xfrm>
            <a:off x="1097280" y="6386170"/>
            <a:ext cx="12399264" cy="724205"/>
          </a:xfrm>
          <a:prstGeom prst="rect">
            <a:avLst/>
          </a:prstGeom>
          <a:noFill/>
          <a:ln/>
        </p:spPr>
        <p:txBody>
          <a:bodyPr wrap="square" lIns="0" tIns="0" rIns="0" bIns="0" rtlCol="0" anchor="ctr"/>
          <a:lstStyle/>
          <a:p>
            <a:pPr indent="0" marL="0">
              <a:lnSpc>
                <a:spcPts val="2040"/>
              </a:lnSpc>
              <a:buNone/>
            </a:pPr>
            <a:r>
              <a:rPr lang="en-US" sz="1150" dirty="0">
                <a:solidFill>
                  <a:srgbClr val="1F2226"/>
                </a:solidFill>
                <a:latin typeface="Arial" pitchFamily="34" charset="0"/>
                <a:ea typeface="Arial" pitchFamily="34" charset="-122"/>
                <a:cs typeface="Arial" pitchFamily="34" charset="-120"/>
              </a:rPr>
              <a:t>Rizzo(1970)는 역할 모호성을 ⑴ 자기 행동 결과의 예측가능성과 ⑵ 행동 요구의 명확성으로 정의했으나, ⑴ 계열 문항은 원전 요인분석에서 전원 탈락했고</a:t>
            </a:r>
            <a:endParaRPr lang="en-US" sz="1150" dirty="0"/>
          </a:p>
          <a:p>
            <a:pPr indent="0" marL="0">
              <a:lnSpc>
                <a:spcPts val="2040"/>
              </a:lnSpc>
              <a:buNone/>
            </a:pPr>
            <a:r>
              <a:rPr lang="en-US" sz="1150" dirty="0">
                <a:solidFill>
                  <a:srgbClr val="1F2226"/>
                </a:solidFill>
                <a:latin typeface="Arial" pitchFamily="34" charset="0"/>
                <a:ea typeface="Arial" pitchFamily="34" charset="-122"/>
                <a:cs typeface="Arial" pitchFamily="34" charset="-120"/>
              </a:rPr>
              <a:t>오늘날 통용되는 6문항은 전부 ⑵ 계열이다. 본 연구는 ⑴ 계열을 계승한다. 탈락 문항 중 하나는 승진·급여 평가에 대한 예측을 직접 묻는다.</a:t>
            </a:r>
            <a:endParaRPr lang="en-US" sz="1150" dirty="0"/>
          </a:p>
        </p:txBody>
      </p:sp>
      <p:sp>
        <p:nvSpPr>
          <p:cNvPr id="13" name="Text 10"/>
          <p:cNvSpPr/>
          <p:nvPr/>
        </p:nvSpPr>
        <p:spPr>
          <a:xfrm>
            <a:off x="12508992" y="7626096"/>
            <a:ext cx="1448410" cy="307238"/>
          </a:xfrm>
          <a:prstGeom prst="rect">
            <a:avLst/>
          </a:prstGeom>
          <a:noFill/>
          <a:ln/>
        </p:spPr>
        <p:txBody>
          <a:bodyPr wrap="square" lIns="0" tIns="0" rIns="0" bIns="0" rtlCol="0" anchor="ctr"/>
          <a:lstStyle/>
          <a:p>
            <a:pPr algn="r" indent="0" marL="0">
              <a:buNone/>
            </a:pPr>
            <a:r>
              <a:rPr lang="en-US" sz="1000" dirty="0">
                <a:solidFill>
                  <a:srgbClr val="70757C"/>
                </a:solidFill>
                <a:latin typeface="Arial" pitchFamily="34" charset="0"/>
                <a:ea typeface="Arial" pitchFamily="34" charset="-122"/>
                <a:cs typeface="Arial" pitchFamily="34" charset="-120"/>
              </a:rPr>
              <a:t>B</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339328" y="329184"/>
            <a:ext cx="4992624" cy="285293"/>
          </a:xfrm>
          <a:prstGeom prst="rect">
            <a:avLst/>
          </a:prstGeom>
          <a:noFill/>
          <a:ln/>
        </p:spPr>
        <p:txBody>
          <a:bodyPr wrap="square" lIns="0" tIns="0" rIns="0" bIns="0" rtlCol="0" anchor="ctr"/>
          <a:lstStyle/>
          <a:p>
            <a:pPr algn="r" indent="0" marL="0">
              <a:buNone/>
            </a:pPr>
            <a:r>
              <a:rPr lang="en-US" sz="1050" dirty="0">
                <a:solidFill>
                  <a:srgbClr val="70757C"/>
                </a:solidFill>
                <a:latin typeface="Arial" pitchFamily="34" charset="0"/>
                <a:ea typeface="Arial" pitchFamily="34" charset="-122"/>
                <a:cs typeface="Arial" pitchFamily="34" charset="-120"/>
              </a:rPr>
              <a:t>2026학년도 석사학위논문</a:t>
            </a:r>
            <a:endParaRPr lang="en-US" sz="1050" dirty="0"/>
          </a:p>
        </p:txBody>
      </p:sp>
      <p:sp>
        <p:nvSpPr>
          <p:cNvPr id="3" name="Text 1"/>
          <p:cNvSpPr/>
          <p:nvPr/>
        </p:nvSpPr>
        <p:spPr>
          <a:xfrm>
            <a:off x="8339328" y="603504"/>
            <a:ext cx="4992624" cy="307238"/>
          </a:xfrm>
          <a:prstGeom prst="rect">
            <a:avLst/>
          </a:prstGeom>
          <a:noFill/>
          <a:ln/>
        </p:spPr>
        <p:txBody>
          <a:bodyPr wrap="square" lIns="0" tIns="0" rIns="0" bIns="0" rtlCol="0" anchor="ctr"/>
          <a:lstStyle/>
          <a:p>
            <a:pPr algn="r" indent="0" marL="0">
              <a:buNone/>
            </a:pPr>
            <a:r>
              <a:rPr lang="en-US" sz="1200" b="1" dirty="0">
                <a:solidFill>
                  <a:srgbClr val="1F2226"/>
                </a:solidFill>
                <a:latin typeface="Arial" pitchFamily="34" charset="0"/>
                <a:ea typeface="Arial" pitchFamily="34" charset="-122"/>
                <a:cs typeface="Arial" pitchFamily="34" charset="-120"/>
              </a:rPr>
              <a:t>프로포절 심사</a:t>
            </a:r>
            <a:endParaRPr lang="en-US" sz="1200" dirty="0"/>
          </a:p>
        </p:txBody>
      </p:sp>
      <p:sp>
        <p:nvSpPr>
          <p:cNvPr id="4" name="Shape 2"/>
          <p:cNvSpPr/>
          <p:nvPr/>
        </p:nvSpPr>
        <p:spPr>
          <a:xfrm>
            <a:off x="680314" y="1009498"/>
            <a:ext cx="13277088" cy="0"/>
          </a:xfrm>
          <a:prstGeom prst="line">
            <a:avLst/>
          </a:prstGeom>
          <a:noFill/>
          <a:ln w="12700">
            <a:solidFill>
              <a:srgbClr val="C9CDD3"/>
            </a:solidFill>
            <a:prstDash val="solid"/>
          </a:ln>
        </p:spPr>
      </p:sp>
      <p:sp>
        <p:nvSpPr>
          <p:cNvPr id="5" name="Shape 3"/>
          <p:cNvSpPr/>
          <p:nvPr/>
        </p:nvSpPr>
        <p:spPr>
          <a:xfrm>
            <a:off x="8339328" y="1009498"/>
            <a:ext cx="5618074" cy="0"/>
          </a:xfrm>
          <a:prstGeom prst="line">
            <a:avLst/>
          </a:prstGeom>
          <a:noFill/>
          <a:ln w="25400">
            <a:solidFill>
              <a:srgbClr val="8C2A32"/>
            </a:solidFill>
            <a:prstDash val="solid"/>
          </a:ln>
        </p:spPr>
      </p:sp>
      <p:sp>
        <p:nvSpPr>
          <p:cNvPr id="6" name="Shape 4"/>
          <p:cNvSpPr/>
          <p:nvPr/>
        </p:nvSpPr>
        <p:spPr>
          <a:xfrm>
            <a:off x="680314" y="1207008"/>
            <a:ext cx="899770" cy="899770"/>
          </a:xfrm>
          <a:prstGeom prst="ellipse">
            <a:avLst/>
          </a:prstGeom>
          <a:solidFill>
            <a:srgbClr val="FFFFFF">
              <a:alpha val="0"/>
            </a:srgbClr>
          </a:solidFill>
          <a:ln w="63500">
            <a:solidFill>
              <a:srgbClr val="8C2A32"/>
            </a:solidFill>
            <a:prstDash val="solid"/>
          </a:ln>
        </p:spPr>
      </p:sp>
      <p:sp>
        <p:nvSpPr>
          <p:cNvPr id="7" name="Shape 5"/>
          <p:cNvSpPr/>
          <p:nvPr/>
        </p:nvSpPr>
        <p:spPr>
          <a:xfrm>
            <a:off x="1207008" y="1119226"/>
            <a:ext cx="680314" cy="1075334"/>
          </a:xfrm>
          <a:prstGeom prst="rect">
            <a:avLst/>
          </a:prstGeom>
          <a:solidFill>
            <a:srgbClr val="FFFFFF"/>
          </a:solidFill>
          <a:ln w="12700">
            <a:solidFill>
              <a:srgbClr val="FFFFFF"/>
            </a:solidFill>
            <a:prstDash val="solid"/>
          </a:ln>
        </p:spPr>
      </p:sp>
      <p:sp>
        <p:nvSpPr>
          <p:cNvPr id="8" name="Text 6"/>
          <p:cNvSpPr/>
          <p:nvPr/>
        </p:nvSpPr>
        <p:spPr>
          <a:xfrm>
            <a:off x="1119226" y="1207008"/>
            <a:ext cx="12508992" cy="899770"/>
          </a:xfrm>
          <a:prstGeom prst="rect">
            <a:avLst/>
          </a:prstGeom>
          <a:noFill/>
          <a:ln/>
        </p:spPr>
        <p:txBody>
          <a:bodyPr wrap="square" lIns="0" tIns="0" rIns="0" bIns="0" rtlCol="0" anchor="ctr"/>
          <a:lstStyle/>
          <a:p>
            <a:pPr indent="0" marL="0">
              <a:buNone/>
            </a:pPr>
            <a:r>
              <a:rPr lang="en-US" sz="2600" b="1" dirty="0">
                <a:solidFill>
                  <a:srgbClr val="1F2226"/>
                </a:solidFill>
                <a:latin typeface="Arial" pitchFamily="34" charset="0"/>
                <a:ea typeface="Arial" pitchFamily="34" charset="-122"/>
                <a:cs typeface="Arial" pitchFamily="34" charset="-120"/>
              </a:rPr>
              <a:t>Appendix C. 분석 절차</a:t>
            </a:r>
            <a:endParaRPr lang="en-US" sz="2600" dirty="0"/>
          </a:p>
        </p:txBody>
      </p:sp>
      <p:sp>
        <p:nvSpPr>
          <p:cNvPr id="9" name="Text 7"/>
          <p:cNvSpPr/>
          <p:nvPr/>
        </p:nvSpPr>
        <p:spPr>
          <a:xfrm>
            <a:off x="822960" y="2457907"/>
            <a:ext cx="438912" cy="351130"/>
          </a:xfrm>
          <a:prstGeom prst="rect">
            <a:avLst/>
          </a:prstGeom>
          <a:noFill/>
          <a:ln/>
        </p:spPr>
        <p:txBody>
          <a:bodyPr wrap="square" lIns="0" tIns="0" rIns="0" bIns="0" rtlCol="0" anchor="ctr"/>
          <a:lstStyle/>
          <a:p>
            <a:pPr indent="0" marL="0">
              <a:buNone/>
            </a:pPr>
            <a:r>
              <a:rPr lang="en-US" sz="1400" b="1" dirty="0">
                <a:solidFill>
                  <a:srgbClr val="70757C"/>
                </a:solidFill>
                <a:latin typeface="Arial" pitchFamily="34" charset="0"/>
                <a:ea typeface="Arial" pitchFamily="34" charset="-122"/>
                <a:cs typeface="Arial" pitchFamily="34" charset="-120"/>
              </a:rPr>
              <a:t>①</a:t>
            </a:r>
            <a:endParaRPr lang="en-US" sz="1400" dirty="0"/>
          </a:p>
        </p:txBody>
      </p:sp>
      <p:sp>
        <p:nvSpPr>
          <p:cNvPr id="10" name="Text 8"/>
          <p:cNvSpPr/>
          <p:nvPr/>
        </p:nvSpPr>
        <p:spPr>
          <a:xfrm>
            <a:off x="1371600" y="2457907"/>
            <a:ext cx="3291840" cy="351130"/>
          </a:xfrm>
          <a:prstGeom prst="rect">
            <a:avLst/>
          </a:prstGeom>
          <a:noFill/>
          <a:ln/>
        </p:spPr>
        <p:txBody>
          <a:bodyPr wrap="square" lIns="0" tIns="0" rIns="0" bIns="0" rtlCol="0" anchor="ctr"/>
          <a:lstStyle/>
          <a:p>
            <a:pPr indent="0" marL="0">
              <a:buNone/>
            </a:pPr>
            <a:r>
              <a:rPr lang="en-US" sz="1300" b="1" dirty="0">
                <a:solidFill>
                  <a:srgbClr val="1F2226"/>
                </a:solidFill>
                <a:latin typeface="Arial" pitchFamily="34" charset="0"/>
                <a:ea typeface="Arial" pitchFamily="34" charset="-122"/>
                <a:cs typeface="Arial" pitchFamily="34" charset="-120"/>
              </a:rPr>
              <a:t>조작 점검</a:t>
            </a:r>
            <a:endParaRPr lang="en-US" sz="1300" dirty="0"/>
          </a:p>
        </p:txBody>
      </p:sp>
      <p:sp>
        <p:nvSpPr>
          <p:cNvPr id="11" name="Text 9"/>
          <p:cNvSpPr/>
          <p:nvPr/>
        </p:nvSpPr>
        <p:spPr>
          <a:xfrm>
            <a:off x="4773168" y="2468880"/>
            <a:ext cx="9107424" cy="351130"/>
          </a:xfrm>
          <a:prstGeom prst="rect">
            <a:avLst/>
          </a:prstGeom>
          <a:noFill/>
          <a:ln/>
        </p:spPr>
        <p:txBody>
          <a:bodyPr wrap="square" lIns="0" tIns="0" rIns="0" bIns="0" rtlCol="0" anchor="ctr"/>
          <a:lstStyle/>
          <a:p>
            <a:pPr indent="0" marL="0">
              <a:buNone/>
            </a:pPr>
            <a:r>
              <a:rPr lang="en-US" sz="1200" dirty="0">
                <a:solidFill>
                  <a:srgbClr val="70757C"/>
                </a:solidFill>
                <a:latin typeface="Arial" pitchFamily="34" charset="0"/>
                <a:ea typeface="Arial" pitchFamily="34" charset="-122"/>
                <a:cs typeface="Arial" pitchFamily="34" charset="-120"/>
              </a:rPr>
              <a:t>독립표본 t검정</a:t>
            </a:r>
            <a:endParaRPr lang="en-US" sz="1200" dirty="0"/>
          </a:p>
        </p:txBody>
      </p:sp>
      <p:sp>
        <p:nvSpPr>
          <p:cNvPr id="12" name="Shape 10"/>
          <p:cNvSpPr/>
          <p:nvPr/>
        </p:nvSpPr>
        <p:spPr>
          <a:xfrm>
            <a:off x="822960" y="2918765"/>
            <a:ext cx="13002768" cy="0"/>
          </a:xfrm>
          <a:prstGeom prst="line">
            <a:avLst/>
          </a:prstGeom>
          <a:noFill/>
          <a:ln w="9525">
            <a:solidFill>
              <a:srgbClr val="C9CDD3"/>
            </a:solidFill>
            <a:prstDash val="solid"/>
          </a:ln>
        </p:spPr>
      </p:sp>
      <p:sp>
        <p:nvSpPr>
          <p:cNvPr id="13" name="Text 11"/>
          <p:cNvSpPr/>
          <p:nvPr/>
        </p:nvSpPr>
        <p:spPr>
          <a:xfrm>
            <a:off x="822960" y="3094330"/>
            <a:ext cx="438912" cy="351130"/>
          </a:xfrm>
          <a:prstGeom prst="rect">
            <a:avLst/>
          </a:prstGeom>
          <a:noFill/>
          <a:ln/>
        </p:spPr>
        <p:txBody>
          <a:bodyPr wrap="square" lIns="0" tIns="0" rIns="0" bIns="0" rtlCol="0" anchor="ctr"/>
          <a:lstStyle/>
          <a:p>
            <a:pPr indent="0" marL="0">
              <a:buNone/>
            </a:pPr>
            <a:r>
              <a:rPr lang="en-US" sz="1400" b="1" dirty="0">
                <a:solidFill>
                  <a:srgbClr val="70757C"/>
                </a:solidFill>
                <a:latin typeface="Arial" pitchFamily="34" charset="0"/>
                <a:ea typeface="Arial" pitchFamily="34" charset="-122"/>
                <a:cs typeface="Arial" pitchFamily="34" charset="-120"/>
              </a:rPr>
              <a:t>②</a:t>
            </a:r>
            <a:endParaRPr lang="en-US" sz="1400" dirty="0"/>
          </a:p>
        </p:txBody>
      </p:sp>
      <p:sp>
        <p:nvSpPr>
          <p:cNvPr id="14" name="Text 12"/>
          <p:cNvSpPr/>
          <p:nvPr/>
        </p:nvSpPr>
        <p:spPr>
          <a:xfrm>
            <a:off x="1371600" y="3094330"/>
            <a:ext cx="3291840" cy="351130"/>
          </a:xfrm>
          <a:prstGeom prst="rect">
            <a:avLst/>
          </a:prstGeom>
          <a:noFill/>
          <a:ln/>
        </p:spPr>
        <p:txBody>
          <a:bodyPr wrap="square" lIns="0" tIns="0" rIns="0" bIns="0" rtlCol="0" anchor="ctr"/>
          <a:lstStyle/>
          <a:p>
            <a:pPr indent="0" marL="0">
              <a:buNone/>
            </a:pPr>
            <a:r>
              <a:rPr lang="en-US" sz="1300" b="1" dirty="0">
                <a:solidFill>
                  <a:srgbClr val="1F2226"/>
                </a:solidFill>
                <a:latin typeface="Arial" pitchFamily="34" charset="0"/>
                <a:ea typeface="Arial" pitchFamily="34" charset="-122"/>
                <a:cs typeface="Arial" pitchFamily="34" charset="-120"/>
              </a:rPr>
              <a:t>신뢰도 · 타당도</a:t>
            </a:r>
            <a:endParaRPr lang="en-US" sz="1300" dirty="0"/>
          </a:p>
        </p:txBody>
      </p:sp>
      <p:sp>
        <p:nvSpPr>
          <p:cNvPr id="15" name="Text 13"/>
          <p:cNvSpPr/>
          <p:nvPr/>
        </p:nvSpPr>
        <p:spPr>
          <a:xfrm>
            <a:off x="4773168" y="3105302"/>
            <a:ext cx="9107424" cy="351130"/>
          </a:xfrm>
          <a:prstGeom prst="rect">
            <a:avLst/>
          </a:prstGeom>
          <a:noFill/>
          <a:ln/>
        </p:spPr>
        <p:txBody>
          <a:bodyPr wrap="square" lIns="0" tIns="0" rIns="0" bIns="0" rtlCol="0" anchor="ctr"/>
          <a:lstStyle/>
          <a:p>
            <a:pPr indent="0" marL="0">
              <a:buNone/>
            </a:pPr>
            <a:r>
              <a:rPr lang="en-US" sz="1200" dirty="0">
                <a:solidFill>
                  <a:srgbClr val="70757C"/>
                </a:solidFill>
                <a:latin typeface="Arial" pitchFamily="34" charset="0"/>
                <a:ea typeface="Arial" pitchFamily="34" charset="-122"/>
                <a:cs typeface="Arial" pitchFamily="34" charset="-120"/>
              </a:rPr>
              <a:t>Cronbach's α · EFA / CFA · 판별타당도 (AVE, HTMT)</a:t>
            </a:r>
            <a:endParaRPr lang="en-US" sz="1200" dirty="0"/>
          </a:p>
        </p:txBody>
      </p:sp>
      <p:sp>
        <p:nvSpPr>
          <p:cNvPr id="16" name="Shape 14"/>
          <p:cNvSpPr/>
          <p:nvPr/>
        </p:nvSpPr>
        <p:spPr>
          <a:xfrm>
            <a:off x="822960" y="3555187"/>
            <a:ext cx="13002768" cy="0"/>
          </a:xfrm>
          <a:prstGeom prst="line">
            <a:avLst/>
          </a:prstGeom>
          <a:noFill/>
          <a:ln w="9525">
            <a:solidFill>
              <a:srgbClr val="C9CDD3"/>
            </a:solidFill>
            <a:prstDash val="solid"/>
          </a:ln>
        </p:spPr>
      </p:sp>
      <p:sp>
        <p:nvSpPr>
          <p:cNvPr id="17" name="Text 15"/>
          <p:cNvSpPr/>
          <p:nvPr/>
        </p:nvSpPr>
        <p:spPr>
          <a:xfrm>
            <a:off x="822960" y="3730752"/>
            <a:ext cx="438912" cy="351130"/>
          </a:xfrm>
          <a:prstGeom prst="rect">
            <a:avLst/>
          </a:prstGeom>
          <a:noFill/>
          <a:ln/>
        </p:spPr>
        <p:txBody>
          <a:bodyPr wrap="square" lIns="0" tIns="0" rIns="0" bIns="0" rtlCol="0" anchor="ctr"/>
          <a:lstStyle/>
          <a:p>
            <a:pPr indent="0" marL="0">
              <a:buNone/>
            </a:pPr>
            <a:r>
              <a:rPr lang="en-US" sz="1400" b="1" dirty="0">
                <a:solidFill>
                  <a:srgbClr val="70757C"/>
                </a:solidFill>
                <a:latin typeface="Arial" pitchFamily="34" charset="0"/>
                <a:ea typeface="Arial" pitchFamily="34" charset="-122"/>
                <a:cs typeface="Arial" pitchFamily="34" charset="-120"/>
              </a:rPr>
              <a:t>③</a:t>
            </a:r>
            <a:endParaRPr lang="en-US" sz="1400" dirty="0"/>
          </a:p>
        </p:txBody>
      </p:sp>
      <p:sp>
        <p:nvSpPr>
          <p:cNvPr id="18" name="Text 16"/>
          <p:cNvSpPr/>
          <p:nvPr/>
        </p:nvSpPr>
        <p:spPr>
          <a:xfrm>
            <a:off x="1371600" y="3730752"/>
            <a:ext cx="3291840" cy="351130"/>
          </a:xfrm>
          <a:prstGeom prst="rect">
            <a:avLst/>
          </a:prstGeom>
          <a:noFill/>
          <a:ln/>
        </p:spPr>
        <p:txBody>
          <a:bodyPr wrap="square" lIns="0" tIns="0" rIns="0" bIns="0" rtlCol="0" anchor="ctr"/>
          <a:lstStyle/>
          <a:p>
            <a:pPr indent="0" marL="0">
              <a:buNone/>
            </a:pPr>
            <a:r>
              <a:rPr lang="en-US" sz="1300" b="1" dirty="0">
                <a:solidFill>
                  <a:srgbClr val="1F2226"/>
                </a:solidFill>
                <a:latin typeface="Arial" pitchFamily="34" charset="0"/>
                <a:ea typeface="Arial" pitchFamily="34" charset="-122"/>
                <a:cs typeface="Arial" pitchFamily="34" charset="-120"/>
              </a:rPr>
              <a:t>공통방법편의</a:t>
            </a:r>
            <a:endParaRPr lang="en-US" sz="1300" dirty="0"/>
          </a:p>
        </p:txBody>
      </p:sp>
      <p:sp>
        <p:nvSpPr>
          <p:cNvPr id="19" name="Text 17"/>
          <p:cNvSpPr/>
          <p:nvPr/>
        </p:nvSpPr>
        <p:spPr>
          <a:xfrm>
            <a:off x="4773168" y="3741725"/>
            <a:ext cx="9107424" cy="351130"/>
          </a:xfrm>
          <a:prstGeom prst="rect">
            <a:avLst/>
          </a:prstGeom>
          <a:noFill/>
          <a:ln/>
        </p:spPr>
        <p:txBody>
          <a:bodyPr wrap="square" lIns="0" tIns="0" rIns="0" bIns="0" rtlCol="0" anchor="ctr"/>
          <a:lstStyle/>
          <a:p>
            <a:pPr indent="0" marL="0">
              <a:buNone/>
            </a:pPr>
            <a:r>
              <a:rPr lang="en-US" sz="1200" dirty="0">
                <a:solidFill>
                  <a:srgbClr val="70757C"/>
                </a:solidFill>
                <a:latin typeface="Arial" pitchFamily="34" charset="0"/>
                <a:ea typeface="Arial" pitchFamily="34" charset="-122"/>
                <a:cs typeface="Arial" pitchFamily="34" charset="-120"/>
              </a:rPr>
              <a:t>Harman single-factor / marker variable</a:t>
            </a:r>
            <a:endParaRPr lang="en-US" sz="1200" dirty="0"/>
          </a:p>
        </p:txBody>
      </p:sp>
      <p:sp>
        <p:nvSpPr>
          <p:cNvPr id="20" name="Shape 18"/>
          <p:cNvSpPr/>
          <p:nvPr/>
        </p:nvSpPr>
        <p:spPr>
          <a:xfrm>
            <a:off x="822960" y="4191610"/>
            <a:ext cx="13002768" cy="0"/>
          </a:xfrm>
          <a:prstGeom prst="line">
            <a:avLst/>
          </a:prstGeom>
          <a:noFill/>
          <a:ln w="9525">
            <a:solidFill>
              <a:srgbClr val="C9CDD3"/>
            </a:solidFill>
            <a:prstDash val="solid"/>
          </a:ln>
        </p:spPr>
      </p:sp>
      <p:sp>
        <p:nvSpPr>
          <p:cNvPr id="21" name="Text 19"/>
          <p:cNvSpPr/>
          <p:nvPr/>
        </p:nvSpPr>
        <p:spPr>
          <a:xfrm>
            <a:off x="822960" y="4367174"/>
            <a:ext cx="438912" cy="351130"/>
          </a:xfrm>
          <a:prstGeom prst="rect">
            <a:avLst/>
          </a:prstGeom>
          <a:noFill/>
          <a:ln/>
        </p:spPr>
        <p:txBody>
          <a:bodyPr wrap="square" lIns="0" tIns="0" rIns="0" bIns="0" rtlCol="0" anchor="ctr"/>
          <a:lstStyle/>
          <a:p>
            <a:pPr indent="0" marL="0">
              <a:buNone/>
            </a:pPr>
            <a:r>
              <a:rPr lang="en-US" sz="1400" b="1" dirty="0">
                <a:solidFill>
                  <a:srgbClr val="70757C"/>
                </a:solidFill>
                <a:latin typeface="Arial" pitchFamily="34" charset="0"/>
                <a:ea typeface="Arial" pitchFamily="34" charset="-122"/>
                <a:cs typeface="Arial" pitchFamily="34" charset="-120"/>
              </a:rPr>
              <a:t>④</a:t>
            </a:r>
            <a:endParaRPr lang="en-US" sz="1400" dirty="0"/>
          </a:p>
        </p:txBody>
      </p:sp>
      <p:sp>
        <p:nvSpPr>
          <p:cNvPr id="22" name="Text 20"/>
          <p:cNvSpPr/>
          <p:nvPr/>
        </p:nvSpPr>
        <p:spPr>
          <a:xfrm>
            <a:off x="1371600" y="4367174"/>
            <a:ext cx="3291840" cy="351130"/>
          </a:xfrm>
          <a:prstGeom prst="rect">
            <a:avLst/>
          </a:prstGeom>
          <a:noFill/>
          <a:ln/>
        </p:spPr>
        <p:txBody>
          <a:bodyPr wrap="square" lIns="0" tIns="0" rIns="0" bIns="0" rtlCol="0" anchor="ctr"/>
          <a:lstStyle/>
          <a:p>
            <a:pPr indent="0" marL="0">
              <a:buNone/>
            </a:pPr>
            <a:r>
              <a:rPr lang="en-US" sz="1300" b="1" dirty="0">
                <a:solidFill>
                  <a:srgbClr val="1F2226"/>
                </a:solidFill>
                <a:latin typeface="Arial" pitchFamily="34" charset="0"/>
                <a:ea typeface="Arial" pitchFamily="34" charset="-122"/>
                <a:cs typeface="Arial" pitchFamily="34" charset="-120"/>
              </a:rPr>
              <a:t>H1</a:t>
            </a:r>
            <a:endParaRPr lang="en-US" sz="1300" dirty="0"/>
          </a:p>
        </p:txBody>
      </p:sp>
      <p:sp>
        <p:nvSpPr>
          <p:cNvPr id="23" name="Text 21"/>
          <p:cNvSpPr/>
          <p:nvPr/>
        </p:nvSpPr>
        <p:spPr>
          <a:xfrm>
            <a:off x="4773168" y="4378147"/>
            <a:ext cx="9107424" cy="351130"/>
          </a:xfrm>
          <a:prstGeom prst="rect">
            <a:avLst/>
          </a:prstGeom>
          <a:noFill/>
          <a:ln/>
        </p:spPr>
        <p:txBody>
          <a:bodyPr wrap="square" lIns="0" tIns="0" rIns="0" bIns="0" rtlCol="0" anchor="ctr"/>
          <a:lstStyle/>
          <a:p>
            <a:pPr indent="0" marL="0">
              <a:buNone/>
            </a:pPr>
            <a:r>
              <a:rPr lang="en-US" sz="1200" dirty="0">
                <a:solidFill>
                  <a:srgbClr val="70757C"/>
                </a:solidFill>
                <a:latin typeface="Arial" pitchFamily="34" charset="0"/>
                <a:ea typeface="Arial" pitchFamily="34" charset="-122"/>
                <a:cs typeface="Arial" pitchFamily="34" charset="-120"/>
              </a:rPr>
              <a:t>집단 간 평균차</a:t>
            </a:r>
            <a:endParaRPr lang="en-US" sz="1200" dirty="0"/>
          </a:p>
        </p:txBody>
      </p:sp>
      <p:sp>
        <p:nvSpPr>
          <p:cNvPr id="24" name="Shape 22"/>
          <p:cNvSpPr/>
          <p:nvPr/>
        </p:nvSpPr>
        <p:spPr>
          <a:xfrm>
            <a:off x="822960" y="4828032"/>
            <a:ext cx="13002768" cy="0"/>
          </a:xfrm>
          <a:prstGeom prst="line">
            <a:avLst/>
          </a:prstGeom>
          <a:noFill/>
          <a:ln w="9525">
            <a:solidFill>
              <a:srgbClr val="C9CDD3"/>
            </a:solidFill>
            <a:prstDash val="solid"/>
          </a:ln>
        </p:spPr>
      </p:sp>
      <p:sp>
        <p:nvSpPr>
          <p:cNvPr id="25" name="Text 23"/>
          <p:cNvSpPr/>
          <p:nvPr/>
        </p:nvSpPr>
        <p:spPr>
          <a:xfrm>
            <a:off x="822960" y="5003597"/>
            <a:ext cx="438912" cy="351130"/>
          </a:xfrm>
          <a:prstGeom prst="rect">
            <a:avLst/>
          </a:prstGeom>
          <a:noFill/>
          <a:ln/>
        </p:spPr>
        <p:txBody>
          <a:bodyPr wrap="square" lIns="0" tIns="0" rIns="0" bIns="0" rtlCol="0" anchor="ctr"/>
          <a:lstStyle/>
          <a:p>
            <a:pPr indent="0" marL="0">
              <a:buNone/>
            </a:pPr>
            <a:r>
              <a:rPr lang="en-US" sz="1400" b="1" dirty="0">
                <a:solidFill>
                  <a:srgbClr val="1F2226"/>
                </a:solidFill>
                <a:latin typeface="Arial" pitchFamily="34" charset="0"/>
                <a:ea typeface="Arial" pitchFamily="34" charset="-122"/>
                <a:cs typeface="Arial" pitchFamily="34" charset="-120"/>
              </a:rPr>
              <a:t>⑤</a:t>
            </a:r>
            <a:endParaRPr lang="en-US" sz="1400" dirty="0"/>
          </a:p>
        </p:txBody>
      </p:sp>
      <p:sp>
        <p:nvSpPr>
          <p:cNvPr id="26" name="Text 24"/>
          <p:cNvSpPr/>
          <p:nvPr/>
        </p:nvSpPr>
        <p:spPr>
          <a:xfrm>
            <a:off x="1371600" y="5003597"/>
            <a:ext cx="3291840" cy="351130"/>
          </a:xfrm>
          <a:prstGeom prst="rect">
            <a:avLst/>
          </a:prstGeom>
          <a:noFill/>
          <a:ln/>
        </p:spPr>
        <p:txBody>
          <a:bodyPr wrap="square" lIns="0" tIns="0" rIns="0" bIns="0" rtlCol="0" anchor="ctr"/>
          <a:lstStyle/>
          <a:p>
            <a:pPr indent="0" marL="0">
              <a:buNone/>
            </a:pPr>
            <a:r>
              <a:rPr lang="en-US" sz="1300" b="1" dirty="0">
                <a:solidFill>
                  <a:srgbClr val="1F2226"/>
                </a:solidFill>
                <a:latin typeface="Arial" pitchFamily="34" charset="0"/>
                <a:ea typeface="Arial" pitchFamily="34" charset="-122"/>
                <a:cs typeface="Arial" pitchFamily="34" charset="-120"/>
              </a:rPr>
              <a:t>H2 · H3</a:t>
            </a:r>
            <a:endParaRPr lang="en-US" sz="1300" dirty="0"/>
          </a:p>
        </p:txBody>
      </p:sp>
      <p:sp>
        <p:nvSpPr>
          <p:cNvPr id="27" name="Text 25"/>
          <p:cNvSpPr/>
          <p:nvPr/>
        </p:nvSpPr>
        <p:spPr>
          <a:xfrm>
            <a:off x="4773168" y="5014570"/>
            <a:ext cx="9107424" cy="351130"/>
          </a:xfrm>
          <a:prstGeom prst="rect">
            <a:avLst/>
          </a:prstGeom>
          <a:noFill/>
          <a:ln/>
        </p:spPr>
        <p:txBody>
          <a:bodyPr wrap="square" lIns="0" tIns="0" rIns="0" bIns="0" rtlCol="0" anchor="ctr"/>
          <a:lstStyle/>
          <a:p>
            <a:pPr indent="0" marL="0">
              <a:buNone/>
            </a:pPr>
            <a:r>
              <a:rPr lang="en-US" sz="1200" dirty="0">
                <a:solidFill>
                  <a:srgbClr val="70757C"/>
                </a:solidFill>
                <a:latin typeface="Arial" pitchFamily="34" charset="0"/>
                <a:ea typeface="Arial" pitchFamily="34" charset="-122"/>
                <a:cs typeface="Arial" pitchFamily="34" charset="-120"/>
              </a:rPr>
              <a:t>매개 + 부트스트래핑 5,000회 · 95% 신뢰구간</a:t>
            </a:r>
            <a:endParaRPr lang="en-US" sz="1200" dirty="0"/>
          </a:p>
        </p:txBody>
      </p:sp>
      <p:sp>
        <p:nvSpPr>
          <p:cNvPr id="28" name="Shape 26"/>
          <p:cNvSpPr/>
          <p:nvPr/>
        </p:nvSpPr>
        <p:spPr>
          <a:xfrm>
            <a:off x="822960" y="5464454"/>
            <a:ext cx="13002768" cy="0"/>
          </a:xfrm>
          <a:prstGeom prst="line">
            <a:avLst/>
          </a:prstGeom>
          <a:noFill/>
          <a:ln w="9525">
            <a:solidFill>
              <a:srgbClr val="C9CDD3"/>
            </a:solidFill>
            <a:prstDash val="solid"/>
          </a:ln>
        </p:spPr>
      </p:sp>
      <p:sp>
        <p:nvSpPr>
          <p:cNvPr id="29" name="Text 27"/>
          <p:cNvSpPr/>
          <p:nvPr/>
        </p:nvSpPr>
        <p:spPr>
          <a:xfrm>
            <a:off x="822960" y="5640019"/>
            <a:ext cx="438912" cy="351130"/>
          </a:xfrm>
          <a:prstGeom prst="rect">
            <a:avLst/>
          </a:prstGeom>
          <a:noFill/>
          <a:ln/>
        </p:spPr>
        <p:txBody>
          <a:bodyPr wrap="square" lIns="0" tIns="0" rIns="0" bIns="0" rtlCol="0" anchor="ctr"/>
          <a:lstStyle/>
          <a:p>
            <a:pPr indent="0" marL="0">
              <a:buNone/>
            </a:pPr>
            <a:r>
              <a:rPr lang="en-US" sz="1400" b="1" dirty="0">
                <a:solidFill>
                  <a:srgbClr val="1F2226"/>
                </a:solidFill>
                <a:latin typeface="Arial" pitchFamily="34" charset="0"/>
                <a:ea typeface="Arial" pitchFamily="34" charset="-122"/>
                <a:cs typeface="Arial" pitchFamily="34" charset="-120"/>
              </a:rPr>
              <a:t>⑥</a:t>
            </a:r>
            <a:endParaRPr lang="en-US" sz="1400" dirty="0"/>
          </a:p>
        </p:txBody>
      </p:sp>
      <p:sp>
        <p:nvSpPr>
          <p:cNvPr id="30" name="Text 28"/>
          <p:cNvSpPr/>
          <p:nvPr/>
        </p:nvSpPr>
        <p:spPr>
          <a:xfrm>
            <a:off x="1371600" y="5640019"/>
            <a:ext cx="3291840" cy="351130"/>
          </a:xfrm>
          <a:prstGeom prst="rect">
            <a:avLst/>
          </a:prstGeom>
          <a:noFill/>
          <a:ln/>
        </p:spPr>
        <p:txBody>
          <a:bodyPr wrap="square" lIns="0" tIns="0" rIns="0" bIns="0" rtlCol="0" anchor="ctr"/>
          <a:lstStyle/>
          <a:p>
            <a:pPr indent="0" marL="0">
              <a:buNone/>
            </a:pPr>
            <a:r>
              <a:rPr lang="en-US" sz="1300" b="1" dirty="0">
                <a:solidFill>
                  <a:srgbClr val="1F2226"/>
                </a:solidFill>
                <a:latin typeface="Arial" pitchFamily="34" charset="0"/>
                <a:ea typeface="Arial" pitchFamily="34" charset="-122"/>
                <a:cs typeface="Arial" pitchFamily="34" charset="-120"/>
              </a:rPr>
              <a:t>H4</a:t>
            </a:r>
            <a:endParaRPr lang="en-US" sz="1300" dirty="0"/>
          </a:p>
        </p:txBody>
      </p:sp>
      <p:sp>
        <p:nvSpPr>
          <p:cNvPr id="31" name="Text 29"/>
          <p:cNvSpPr/>
          <p:nvPr/>
        </p:nvSpPr>
        <p:spPr>
          <a:xfrm>
            <a:off x="4773168" y="5650992"/>
            <a:ext cx="9107424" cy="351130"/>
          </a:xfrm>
          <a:prstGeom prst="rect">
            <a:avLst/>
          </a:prstGeom>
          <a:noFill/>
          <a:ln/>
        </p:spPr>
        <p:txBody>
          <a:bodyPr wrap="square" lIns="0" tIns="0" rIns="0" bIns="0" rtlCol="0" anchor="ctr"/>
          <a:lstStyle/>
          <a:p>
            <a:pPr indent="0" marL="0">
              <a:buNone/>
            </a:pPr>
            <a:r>
              <a:rPr lang="en-US" sz="1200" dirty="0">
                <a:solidFill>
                  <a:srgbClr val="70757C"/>
                </a:solidFill>
                <a:latin typeface="Arial" pitchFamily="34" charset="0"/>
                <a:ea typeface="Arial" pitchFamily="34" charset="-122"/>
                <a:cs typeface="Arial" pitchFamily="34" charset="-120"/>
              </a:rPr>
              <a:t>조절된 매개 — PROCESS Model 7 · 상호작용항(IV×MOD) + 조건부 간접효과</a:t>
            </a:r>
            <a:endParaRPr lang="en-US" sz="1200" dirty="0"/>
          </a:p>
        </p:txBody>
      </p:sp>
      <p:sp>
        <p:nvSpPr>
          <p:cNvPr id="32" name="Shape 30"/>
          <p:cNvSpPr/>
          <p:nvPr/>
        </p:nvSpPr>
        <p:spPr>
          <a:xfrm>
            <a:off x="822960" y="6100877"/>
            <a:ext cx="13002768" cy="0"/>
          </a:xfrm>
          <a:prstGeom prst="line">
            <a:avLst/>
          </a:prstGeom>
          <a:noFill/>
          <a:ln w="9525">
            <a:solidFill>
              <a:srgbClr val="C9CDD3"/>
            </a:solidFill>
            <a:prstDash val="solid"/>
          </a:ln>
        </p:spPr>
      </p:sp>
      <p:sp>
        <p:nvSpPr>
          <p:cNvPr id="33" name="Shape 31"/>
          <p:cNvSpPr/>
          <p:nvPr/>
        </p:nvSpPr>
        <p:spPr>
          <a:xfrm>
            <a:off x="768096" y="6528816"/>
            <a:ext cx="13112496" cy="1042416"/>
          </a:xfrm>
          <a:prstGeom prst="rect">
            <a:avLst/>
          </a:prstGeom>
          <a:solidFill>
            <a:srgbClr val="2A2D31"/>
          </a:solidFill>
          <a:ln/>
        </p:spPr>
      </p:sp>
      <p:sp>
        <p:nvSpPr>
          <p:cNvPr id="34" name="Text 32"/>
          <p:cNvSpPr/>
          <p:nvPr/>
        </p:nvSpPr>
        <p:spPr>
          <a:xfrm>
            <a:off x="1097280" y="6649517"/>
            <a:ext cx="12399264" cy="307238"/>
          </a:xfrm>
          <a:prstGeom prst="rect">
            <a:avLst/>
          </a:prstGeom>
          <a:noFill/>
          <a:ln/>
        </p:spPr>
        <p:txBody>
          <a:bodyPr wrap="square" lIns="0" tIns="0" rIns="0" bIns="0" rtlCol="0" anchor="ctr"/>
          <a:lstStyle/>
          <a:p>
            <a:pPr indent="0" marL="0">
              <a:buNone/>
            </a:pPr>
            <a:r>
              <a:rPr lang="en-US" sz="1250" b="1" dirty="0">
                <a:solidFill>
                  <a:srgbClr val="E7E8EA"/>
                </a:solidFill>
                <a:latin typeface="Arial" pitchFamily="34" charset="0"/>
                <a:ea typeface="Arial" pitchFamily="34" charset="-122"/>
                <a:cs typeface="Arial" pitchFamily="34" charset="-120"/>
              </a:rPr>
              <a:t>간접효과를 어떻게 읽는가</a:t>
            </a:r>
            <a:endParaRPr lang="en-US" sz="1250" dirty="0"/>
          </a:p>
        </p:txBody>
      </p:sp>
      <p:sp>
        <p:nvSpPr>
          <p:cNvPr id="35" name="Text 33"/>
          <p:cNvSpPr/>
          <p:nvPr/>
        </p:nvSpPr>
        <p:spPr>
          <a:xfrm>
            <a:off x="1097280" y="6978701"/>
            <a:ext cx="12399264" cy="438912"/>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H3의 간접효과는 두 계단의 계수를 곱한 값이다. 두 계단 중 하나라도 끊기면 곱이 0이 되므로, 그 숫자 하나가 경로 전체가 실제로 이어져 있는지를 요약한다.</a:t>
            </a:r>
            <a:endParaRPr lang="en-US" sz="1200" dirty="0"/>
          </a:p>
        </p:txBody>
      </p:sp>
      <p:sp>
        <p:nvSpPr>
          <p:cNvPr id="36" name="Text 34"/>
          <p:cNvSpPr/>
          <p:nvPr/>
        </p:nvSpPr>
        <p:spPr>
          <a:xfrm>
            <a:off x="12508992" y="7626096"/>
            <a:ext cx="1448410" cy="307238"/>
          </a:xfrm>
          <a:prstGeom prst="rect">
            <a:avLst/>
          </a:prstGeom>
          <a:noFill/>
          <a:ln/>
        </p:spPr>
        <p:txBody>
          <a:bodyPr wrap="square" lIns="0" tIns="0" rIns="0" bIns="0" rtlCol="0" anchor="ctr"/>
          <a:lstStyle/>
          <a:p>
            <a:pPr algn="r" indent="0" marL="0">
              <a:buNone/>
            </a:pPr>
            <a:r>
              <a:rPr lang="en-US" sz="1000" dirty="0">
                <a:solidFill>
                  <a:srgbClr val="70757C"/>
                </a:solidFill>
                <a:latin typeface="Arial" pitchFamily="34" charset="0"/>
                <a:ea typeface="Arial" pitchFamily="34" charset="-122"/>
                <a:cs typeface="Arial" pitchFamily="34" charset="-120"/>
              </a:rPr>
              <a:t>C</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8339328" y="329184"/>
            <a:ext cx="4992624" cy="285293"/>
          </a:xfrm>
          <a:prstGeom prst="rect">
            <a:avLst/>
          </a:prstGeom>
          <a:noFill/>
          <a:ln/>
        </p:spPr>
        <p:txBody>
          <a:bodyPr wrap="square" lIns="0" tIns="0" rIns="0" bIns="0" rtlCol="0" anchor="ctr"/>
          <a:lstStyle/>
          <a:p>
            <a:pPr algn="r" indent="0" marL="0">
              <a:buNone/>
            </a:pPr>
            <a:r>
              <a:rPr lang="en-US" sz="1050" dirty="0">
                <a:solidFill>
                  <a:srgbClr val="70757C"/>
                </a:solidFill>
                <a:latin typeface="Arial" pitchFamily="34" charset="0"/>
                <a:ea typeface="Arial" pitchFamily="34" charset="-122"/>
                <a:cs typeface="Arial" pitchFamily="34" charset="-120"/>
              </a:rPr>
              <a:t>2026학년도 석사학위논문</a:t>
            </a:r>
            <a:endParaRPr lang="en-US" sz="1050" dirty="0"/>
          </a:p>
        </p:txBody>
      </p:sp>
      <p:sp>
        <p:nvSpPr>
          <p:cNvPr id="3" name="Text 1"/>
          <p:cNvSpPr/>
          <p:nvPr/>
        </p:nvSpPr>
        <p:spPr>
          <a:xfrm>
            <a:off x="8339328" y="603504"/>
            <a:ext cx="4992624" cy="307238"/>
          </a:xfrm>
          <a:prstGeom prst="rect">
            <a:avLst/>
          </a:prstGeom>
          <a:noFill/>
          <a:ln/>
        </p:spPr>
        <p:txBody>
          <a:bodyPr wrap="square" lIns="0" tIns="0" rIns="0" bIns="0" rtlCol="0" anchor="ctr"/>
          <a:lstStyle/>
          <a:p>
            <a:pPr algn="r" indent="0" marL="0">
              <a:buNone/>
            </a:pPr>
            <a:r>
              <a:rPr lang="en-US" sz="1200" b="1" dirty="0">
                <a:solidFill>
                  <a:srgbClr val="1F2226"/>
                </a:solidFill>
                <a:latin typeface="Arial" pitchFamily="34" charset="0"/>
                <a:ea typeface="Arial" pitchFamily="34" charset="-122"/>
                <a:cs typeface="Arial" pitchFamily="34" charset="-120"/>
              </a:rPr>
              <a:t>프로포절 심사</a:t>
            </a:r>
            <a:endParaRPr lang="en-US" sz="1200" dirty="0"/>
          </a:p>
        </p:txBody>
      </p:sp>
      <p:sp>
        <p:nvSpPr>
          <p:cNvPr id="4" name="Shape 2"/>
          <p:cNvSpPr/>
          <p:nvPr/>
        </p:nvSpPr>
        <p:spPr>
          <a:xfrm>
            <a:off x="680314" y="1009498"/>
            <a:ext cx="13277088" cy="0"/>
          </a:xfrm>
          <a:prstGeom prst="line">
            <a:avLst/>
          </a:prstGeom>
          <a:noFill/>
          <a:ln w="12700">
            <a:solidFill>
              <a:srgbClr val="C9CDD3"/>
            </a:solidFill>
            <a:prstDash val="solid"/>
          </a:ln>
        </p:spPr>
      </p:sp>
      <p:sp>
        <p:nvSpPr>
          <p:cNvPr id="5" name="Shape 3"/>
          <p:cNvSpPr/>
          <p:nvPr/>
        </p:nvSpPr>
        <p:spPr>
          <a:xfrm>
            <a:off x="8339328" y="1009498"/>
            <a:ext cx="5618074" cy="0"/>
          </a:xfrm>
          <a:prstGeom prst="line">
            <a:avLst/>
          </a:prstGeom>
          <a:noFill/>
          <a:ln w="25400">
            <a:solidFill>
              <a:srgbClr val="8C2A32"/>
            </a:solidFill>
            <a:prstDash val="solid"/>
          </a:ln>
        </p:spPr>
      </p:sp>
      <p:sp>
        <p:nvSpPr>
          <p:cNvPr id="6" name="Shape 4"/>
          <p:cNvSpPr/>
          <p:nvPr/>
        </p:nvSpPr>
        <p:spPr>
          <a:xfrm>
            <a:off x="680314" y="1207008"/>
            <a:ext cx="899770" cy="899770"/>
          </a:xfrm>
          <a:prstGeom prst="ellipse">
            <a:avLst/>
          </a:prstGeom>
          <a:solidFill>
            <a:srgbClr val="FFFFFF">
              <a:alpha val="0"/>
            </a:srgbClr>
          </a:solidFill>
          <a:ln w="63500">
            <a:solidFill>
              <a:srgbClr val="8C2A32"/>
            </a:solidFill>
            <a:prstDash val="solid"/>
          </a:ln>
        </p:spPr>
      </p:sp>
      <p:sp>
        <p:nvSpPr>
          <p:cNvPr id="7" name="Shape 5"/>
          <p:cNvSpPr/>
          <p:nvPr/>
        </p:nvSpPr>
        <p:spPr>
          <a:xfrm>
            <a:off x="1207008" y="1119226"/>
            <a:ext cx="680314" cy="1075334"/>
          </a:xfrm>
          <a:prstGeom prst="rect">
            <a:avLst/>
          </a:prstGeom>
          <a:solidFill>
            <a:srgbClr val="FFFFFF"/>
          </a:solidFill>
          <a:ln w="12700">
            <a:solidFill>
              <a:srgbClr val="FFFFFF"/>
            </a:solidFill>
            <a:prstDash val="solid"/>
          </a:ln>
        </p:spPr>
      </p:sp>
      <p:sp>
        <p:nvSpPr>
          <p:cNvPr id="8" name="Text 6"/>
          <p:cNvSpPr/>
          <p:nvPr/>
        </p:nvSpPr>
        <p:spPr>
          <a:xfrm>
            <a:off x="1119226" y="1207008"/>
            <a:ext cx="12508992" cy="899770"/>
          </a:xfrm>
          <a:prstGeom prst="rect">
            <a:avLst/>
          </a:prstGeom>
          <a:noFill/>
          <a:ln/>
        </p:spPr>
        <p:txBody>
          <a:bodyPr wrap="square" lIns="0" tIns="0" rIns="0" bIns="0" rtlCol="0" anchor="ctr"/>
          <a:lstStyle/>
          <a:p>
            <a:pPr indent="0" marL="0">
              <a:buNone/>
            </a:pPr>
            <a:r>
              <a:rPr lang="en-US" sz="2600" b="1" dirty="0">
                <a:solidFill>
                  <a:srgbClr val="1F2226"/>
                </a:solidFill>
                <a:latin typeface="Arial" pitchFamily="34" charset="0"/>
                <a:ea typeface="Arial" pitchFamily="34" charset="-122"/>
                <a:cs typeface="Arial" pitchFamily="34" charset="-120"/>
              </a:rPr>
              <a:t>Appendix D. 한계</a:t>
            </a:r>
            <a:endParaRPr lang="en-US" sz="2600" dirty="0"/>
          </a:p>
        </p:txBody>
      </p:sp>
      <p:sp>
        <p:nvSpPr>
          <p:cNvPr id="9" name="Shape 7"/>
          <p:cNvSpPr/>
          <p:nvPr/>
        </p:nvSpPr>
        <p:spPr>
          <a:xfrm>
            <a:off x="768096" y="2457907"/>
            <a:ext cx="13112496" cy="921715"/>
          </a:xfrm>
          <a:prstGeom prst="rect">
            <a:avLst/>
          </a:prstGeom>
          <a:solidFill>
            <a:srgbClr val="F7F8F9"/>
          </a:solidFill>
          <a:ln w="12700">
            <a:solidFill>
              <a:srgbClr val="C9CDD3"/>
            </a:solidFill>
            <a:prstDash val="solid"/>
          </a:ln>
        </p:spPr>
      </p:sp>
      <p:sp>
        <p:nvSpPr>
          <p:cNvPr id="10" name="Text 8"/>
          <p:cNvSpPr/>
          <p:nvPr/>
        </p:nvSpPr>
        <p:spPr>
          <a:xfrm>
            <a:off x="1097280" y="2457907"/>
            <a:ext cx="2852928" cy="921715"/>
          </a:xfrm>
          <a:prstGeom prst="rect">
            <a:avLst/>
          </a:prstGeom>
          <a:noFill/>
          <a:ln/>
        </p:spPr>
        <p:txBody>
          <a:bodyPr wrap="square" lIns="0" tIns="0" rIns="0" bIns="0" rtlCol="0" anchor="ctr"/>
          <a:lstStyle/>
          <a:p>
            <a:pPr indent="0" marL="0">
              <a:buNone/>
            </a:pPr>
            <a:r>
              <a:rPr lang="en-US" sz="1250" b="1" dirty="0">
                <a:solidFill>
                  <a:srgbClr val="1F2226"/>
                </a:solidFill>
                <a:latin typeface="Arial" pitchFamily="34" charset="0"/>
                <a:ea typeface="Arial" pitchFamily="34" charset="-122"/>
                <a:cs typeface="Arial" pitchFamily="34" charset="-120"/>
              </a:rPr>
              <a:t>a경로   IV → MV</a:t>
            </a:r>
            <a:endParaRPr lang="en-US" sz="1250" dirty="0"/>
          </a:p>
        </p:txBody>
      </p:sp>
      <p:sp>
        <p:nvSpPr>
          <p:cNvPr id="11" name="Text 9"/>
          <p:cNvSpPr/>
          <p:nvPr/>
        </p:nvSpPr>
        <p:spPr>
          <a:xfrm>
            <a:off x="4059936" y="2457907"/>
            <a:ext cx="9546336" cy="921715"/>
          </a:xfrm>
          <a:prstGeom prst="rect">
            <a:avLst/>
          </a:prstGeom>
          <a:noFill/>
          <a:ln/>
        </p:spPr>
        <p:txBody>
          <a:bodyPr wrap="square" lIns="0" tIns="0" rIns="0" bIns="0" rtlCol="0" anchor="ctr"/>
          <a:lstStyle/>
          <a:p>
            <a:pPr indent="0" marL="0">
              <a:lnSpc>
                <a:spcPts val="2040"/>
              </a:lnSpc>
              <a:buNone/>
            </a:pPr>
            <a:r>
              <a:rPr lang="en-US" sz="1200" dirty="0">
                <a:solidFill>
                  <a:srgbClr val="1F2226"/>
                </a:solidFill>
                <a:latin typeface="Arial" pitchFamily="34" charset="0"/>
                <a:ea typeface="Arial" pitchFamily="34" charset="-122"/>
                <a:cs typeface="Arial" pitchFamily="34" charset="-120"/>
              </a:rPr>
              <a:t>IV가 무작위 배정 조작이므로 응답자 특성과 무관하다</a:t>
            </a:r>
            <a:endParaRPr lang="en-US" sz="1200" dirty="0"/>
          </a:p>
        </p:txBody>
      </p:sp>
      <p:sp>
        <p:nvSpPr>
          <p:cNvPr id="12" name="Shape 10"/>
          <p:cNvSpPr/>
          <p:nvPr/>
        </p:nvSpPr>
        <p:spPr>
          <a:xfrm>
            <a:off x="768096" y="3708806"/>
            <a:ext cx="13112496" cy="1119226"/>
          </a:xfrm>
          <a:prstGeom prst="rect">
            <a:avLst/>
          </a:prstGeom>
          <a:solidFill>
            <a:srgbClr val="EDEEF0"/>
          </a:solidFill>
          <a:ln w="12700">
            <a:solidFill>
              <a:srgbClr val="E2D2D1"/>
            </a:solidFill>
            <a:prstDash val="solid"/>
          </a:ln>
        </p:spPr>
      </p:sp>
      <p:sp>
        <p:nvSpPr>
          <p:cNvPr id="13" name="Text 11"/>
          <p:cNvSpPr/>
          <p:nvPr/>
        </p:nvSpPr>
        <p:spPr>
          <a:xfrm>
            <a:off x="1097280" y="3708806"/>
            <a:ext cx="2852928" cy="1119226"/>
          </a:xfrm>
          <a:prstGeom prst="rect">
            <a:avLst/>
          </a:prstGeom>
          <a:noFill/>
          <a:ln/>
        </p:spPr>
        <p:txBody>
          <a:bodyPr wrap="square" lIns="0" tIns="0" rIns="0" bIns="0" rtlCol="0" anchor="ctr"/>
          <a:lstStyle/>
          <a:p>
            <a:pPr indent="0" marL="0">
              <a:buNone/>
            </a:pPr>
            <a:r>
              <a:rPr lang="en-US" sz="1250" b="1" dirty="0">
                <a:solidFill>
                  <a:srgbClr val="1F2226"/>
                </a:solidFill>
                <a:latin typeface="Arial" pitchFamily="34" charset="0"/>
                <a:ea typeface="Arial" pitchFamily="34" charset="-122"/>
                <a:cs typeface="Arial" pitchFamily="34" charset="-120"/>
              </a:rPr>
              <a:t>b경로   MV → DV</a:t>
            </a:r>
            <a:endParaRPr lang="en-US" sz="1250" dirty="0"/>
          </a:p>
        </p:txBody>
      </p:sp>
      <p:sp>
        <p:nvSpPr>
          <p:cNvPr id="14" name="Text 12"/>
          <p:cNvSpPr/>
          <p:nvPr/>
        </p:nvSpPr>
        <p:spPr>
          <a:xfrm>
            <a:off x="4059936" y="3708806"/>
            <a:ext cx="9546336" cy="1119226"/>
          </a:xfrm>
          <a:prstGeom prst="rect">
            <a:avLst/>
          </a:prstGeom>
          <a:noFill/>
          <a:ln/>
        </p:spPr>
        <p:txBody>
          <a:bodyPr wrap="square" lIns="0" tIns="0" rIns="0" bIns="0" rtlCol="0" anchor="ctr"/>
          <a:lstStyle/>
          <a:p>
            <a:pPr indent="0" marL="0">
              <a:lnSpc>
                <a:spcPts val="2040"/>
              </a:lnSpc>
              <a:buNone/>
            </a:pPr>
            <a:r>
              <a:rPr lang="en-US" sz="1200" dirty="0">
                <a:solidFill>
                  <a:srgbClr val="1F2226"/>
                </a:solidFill>
                <a:latin typeface="Arial" pitchFamily="34" charset="0"/>
                <a:ea typeface="Arial" pitchFamily="34" charset="-122"/>
                <a:cs typeface="Arial" pitchFamily="34" charset="-120"/>
              </a:rPr>
              <a:t>매개변수는 무작위 배정할 수 없다. 순차적 무시가능성 가정에 의존하며, 이는 실험적 매개분석의 표준적 한계다.</a:t>
            </a:r>
            <a:endParaRPr lang="en-US" sz="1200" dirty="0"/>
          </a:p>
          <a:p>
            <a:pPr indent="0" marL="0">
              <a:lnSpc>
                <a:spcPts val="2040"/>
              </a:lnSpc>
              <a:buNone/>
            </a:pPr>
            <a:r>
              <a:rPr lang="en-US" sz="1200" dirty="0">
                <a:solidFill>
                  <a:srgbClr val="1F2226"/>
                </a:solidFill>
                <a:latin typeface="Arial" pitchFamily="34" charset="0"/>
                <a:ea typeface="Arial" pitchFamily="34" charset="-122"/>
                <a:cs typeface="Arial" pitchFamily="34" charset="-120"/>
              </a:rPr>
              <a:t>→  통제변수 투입 + 한계 명시</a:t>
            </a:r>
            <a:endParaRPr lang="en-US" sz="1200" dirty="0"/>
          </a:p>
        </p:txBody>
      </p:sp>
      <p:sp>
        <p:nvSpPr>
          <p:cNvPr id="15" name="Shape 13"/>
          <p:cNvSpPr/>
          <p:nvPr/>
        </p:nvSpPr>
        <p:spPr>
          <a:xfrm>
            <a:off x="768096" y="4959706"/>
            <a:ext cx="13112496" cy="921715"/>
          </a:xfrm>
          <a:prstGeom prst="rect">
            <a:avLst/>
          </a:prstGeom>
          <a:solidFill>
            <a:srgbClr val="F7F8F9"/>
          </a:solidFill>
          <a:ln w="12700">
            <a:solidFill>
              <a:srgbClr val="C9CDD3"/>
            </a:solidFill>
            <a:prstDash val="solid"/>
          </a:ln>
        </p:spPr>
      </p:sp>
      <p:sp>
        <p:nvSpPr>
          <p:cNvPr id="16" name="Text 14"/>
          <p:cNvSpPr/>
          <p:nvPr/>
        </p:nvSpPr>
        <p:spPr>
          <a:xfrm>
            <a:off x="1097280" y="4959706"/>
            <a:ext cx="2852928" cy="921715"/>
          </a:xfrm>
          <a:prstGeom prst="rect">
            <a:avLst/>
          </a:prstGeom>
          <a:noFill/>
          <a:ln/>
        </p:spPr>
        <p:txBody>
          <a:bodyPr wrap="square" lIns="0" tIns="0" rIns="0" bIns="0" rtlCol="0" anchor="ctr"/>
          <a:lstStyle/>
          <a:p>
            <a:pPr indent="0" marL="0">
              <a:buNone/>
            </a:pPr>
            <a:r>
              <a:rPr lang="en-US" sz="1250" b="1" dirty="0">
                <a:solidFill>
                  <a:srgbClr val="1F2226"/>
                </a:solidFill>
                <a:latin typeface="Arial" pitchFamily="34" charset="0"/>
                <a:ea typeface="Arial" pitchFamily="34" charset="-122"/>
                <a:cs typeface="Arial" pitchFamily="34" charset="-120"/>
              </a:rPr>
              <a:t>시나리오</a:t>
            </a:r>
            <a:endParaRPr lang="en-US" sz="1250" dirty="0"/>
          </a:p>
        </p:txBody>
      </p:sp>
      <p:sp>
        <p:nvSpPr>
          <p:cNvPr id="17" name="Text 15"/>
          <p:cNvSpPr/>
          <p:nvPr/>
        </p:nvSpPr>
        <p:spPr>
          <a:xfrm>
            <a:off x="4059936" y="4959706"/>
            <a:ext cx="9546336" cy="921715"/>
          </a:xfrm>
          <a:prstGeom prst="rect">
            <a:avLst/>
          </a:prstGeom>
          <a:noFill/>
          <a:ln/>
        </p:spPr>
        <p:txBody>
          <a:bodyPr wrap="square" lIns="0" tIns="0" rIns="0" bIns="0" rtlCol="0" anchor="ctr"/>
          <a:lstStyle/>
          <a:p>
            <a:pPr indent="0" marL="0">
              <a:lnSpc>
                <a:spcPts val="2040"/>
              </a:lnSpc>
              <a:buNone/>
            </a:pPr>
            <a:r>
              <a:rPr lang="en-US" sz="1200" dirty="0">
                <a:solidFill>
                  <a:srgbClr val="1F2226"/>
                </a:solidFill>
                <a:latin typeface="Arial" pitchFamily="34" charset="0"/>
                <a:ea typeface="Arial" pitchFamily="34" charset="-122"/>
                <a:cs typeface="Arial" pitchFamily="34" charset="-120"/>
              </a:rPr>
              <a:t>가상 상황이므로 실제 평가 맥락에 대한 외적 타당도에 제약이 있다</a:t>
            </a:r>
            <a:endParaRPr lang="en-US" sz="1200" dirty="0"/>
          </a:p>
        </p:txBody>
      </p:sp>
      <p:sp>
        <p:nvSpPr>
          <p:cNvPr id="18" name="Shape 16"/>
          <p:cNvSpPr/>
          <p:nvPr/>
        </p:nvSpPr>
        <p:spPr>
          <a:xfrm>
            <a:off x="768096" y="6210605"/>
            <a:ext cx="13112496" cy="921715"/>
          </a:xfrm>
          <a:prstGeom prst="rect">
            <a:avLst/>
          </a:prstGeom>
          <a:solidFill>
            <a:srgbClr val="F7F8F9"/>
          </a:solidFill>
          <a:ln w="12700">
            <a:solidFill>
              <a:srgbClr val="C9CDD3"/>
            </a:solidFill>
            <a:prstDash val="solid"/>
          </a:ln>
        </p:spPr>
      </p:sp>
      <p:sp>
        <p:nvSpPr>
          <p:cNvPr id="19" name="Text 17"/>
          <p:cNvSpPr/>
          <p:nvPr/>
        </p:nvSpPr>
        <p:spPr>
          <a:xfrm>
            <a:off x="1097280" y="6210605"/>
            <a:ext cx="2852928" cy="921715"/>
          </a:xfrm>
          <a:prstGeom prst="rect">
            <a:avLst/>
          </a:prstGeom>
          <a:noFill/>
          <a:ln/>
        </p:spPr>
        <p:txBody>
          <a:bodyPr wrap="square" lIns="0" tIns="0" rIns="0" bIns="0" rtlCol="0" anchor="ctr"/>
          <a:lstStyle/>
          <a:p>
            <a:pPr indent="0" marL="0">
              <a:buNone/>
            </a:pPr>
            <a:r>
              <a:rPr lang="en-US" sz="1250" b="1" dirty="0">
                <a:solidFill>
                  <a:srgbClr val="1F2226"/>
                </a:solidFill>
                <a:latin typeface="Arial" pitchFamily="34" charset="0"/>
                <a:ea typeface="Arial" pitchFamily="34" charset="-122"/>
                <a:cs typeface="Arial" pitchFamily="34" charset="-120"/>
              </a:rPr>
              <a:t>단일 시점</a:t>
            </a:r>
            <a:endParaRPr lang="en-US" sz="1250" dirty="0"/>
          </a:p>
        </p:txBody>
      </p:sp>
      <p:sp>
        <p:nvSpPr>
          <p:cNvPr id="20" name="Text 18"/>
          <p:cNvSpPr/>
          <p:nvPr/>
        </p:nvSpPr>
        <p:spPr>
          <a:xfrm>
            <a:off x="4059936" y="6210605"/>
            <a:ext cx="9546336" cy="921715"/>
          </a:xfrm>
          <a:prstGeom prst="rect">
            <a:avLst/>
          </a:prstGeom>
          <a:noFill/>
          <a:ln/>
        </p:spPr>
        <p:txBody>
          <a:bodyPr wrap="square" lIns="0" tIns="0" rIns="0" bIns="0" rtlCol="0" anchor="ctr"/>
          <a:lstStyle/>
          <a:p>
            <a:pPr indent="0" marL="0">
              <a:lnSpc>
                <a:spcPts val="2040"/>
              </a:lnSpc>
              <a:buNone/>
            </a:pPr>
            <a:r>
              <a:rPr lang="en-US" sz="1200" dirty="0">
                <a:solidFill>
                  <a:srgbClr val="1F2226"/>
                </a:solidFill>
                <a:latin typeface="Arial" pitchFamily="34" charset="0"/>
                <a:ea typeface="Arial" pitchFamily="34" charset="-122"/>
                <a:cs typeface="Arial" pitchFamily="34" charset="-120"/>
              </a:rPr>
              <a:t>MV·DV를 같은 응답자가 자기보고 → 공통방법편의 점검으로 대응</a:t>
            </a:r>
            <a:endParaRPr lang="en-US" sz="1200" dirty="0"/>
          </a:p>
        </p:txBody>
      </p:sp>
      <p:sp>
        <p:nvSpPr>
          <p:cNvPr id="21" name="Text 19"/>
          <p:cNvSpPr/>
          <p:nvPr/>
        </p:nvSpPr>
        <p:spPr>
          <a:xfrm>
            <a:off x="12508992" y="7626096"/>
            <a:ext cx="1448410" cy="307238"/>
          </a:xfrm>
          <a:prstGeom prst="rect">
            <a:avLst/>
          </a:prstGeom>
          <a:noFill/>
          <a:ln/>
        </p:spPr>
        <p:txBody>
          <a:bodyPr wrap="square" lIns="0" tIns="0" rIns="0" bIns="0" rtlCol="0" anchor="ctr"/>
          <a:lstStyle/>
          <a:p>
            <a:pPr algn="r" indent="0" marL="0">
              <a:buNone/>
            </a:pPr>
            <a:r>
              <a:rPr lang="en-US" sz="1000" dirty="0">
                <a:solidFill>
                  <a:srgbClr val="70757C"/>
                </a:solidFill>
                <a:latin typeface="Arial" pitchFamily="34" charset="0"/>
                <a:ea typeface="Arial" pitchFamily="34" charset="-122"/>
                <a:cs typeface="Arial" pitchFamily="34" charset="-120"/>
              </a:rPr>
              <a:t>D</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8339328" y="329184"/>
            <a:ext cx="4992624" cy="285293"/>
          </a:xfrm>
          <a:prstGeom prst="rect">
            <a:avLst/>
          </a:prstGeom>
          <a:noFill/>
          <a:ln/>
        </p:spPr>
        <p:txBody>
          <a:bodyPr wrap="square" lIns="0" tIns="0" rIns="0" bIns="0" rtlCol="0" anchor="ctr"/>
          <a:lstStyle/>
          <a:p>
            <a:pPr algn="r" indent="0" marL="0">
              <a:buNone/>
            </a:pPr>
            <a:r>
              <a:rPr lang="en-US" sz="1050" dirty="0">
                <a:solidFill>
                  <a:srgbClr val="70757C"/>
                </a:solidFill>
                <a:latin typeface="Arial" pitchFamily="34" charset="0"/>
                <a:ea typeface="Arial" pitchFamily="34" charset="-122"/>
                <a:cs typeface="Arial" pitchFamily="34" charset="-120"/>
              </a:rPr>
              <a:t>2026학년도 석사학위논문</a:t>
            </a:r>
            <a:endParaRPr lang="en-US" sz="1050" dirty="0"/>
          </a:p>
        </p:txBody>
      </p:sp>
      <p:sp>
        <p:nvSpPr>
          <p:cNvPr id="3" name="Text 1"/>
          <p:cNvSpPr/>
          <p:nvPr/>
        </p:nvSpPr>
        <p:spPr>
          <a:xfrm>
            <a:off x="8339328" y="603504"/>
            <a:ext cx="4992624" cy="307238"/>
          </a:xfrm>
          <a:prstGeom prst="rect">
            <a:avLst/>
          </a:prstGeom>
          <a:noFill/>
          <a:ln/>
        </p:spPr>
        <p:txBody>
          <a:bodyPr wrap="square" lIns="0" tIns="0" rIns="0" bIns="0" rtlCol="0" anchor="ctr"/>
          <a:lstStyle/>
          <a:p>
            <a:pPr algn="r" indent="0" marL="0">
              <a:buNone/>
            </a:pPr>
            <a:r>
              <a:rPr lang="en-US" sz="1200" b="1" dirty="0">
                <a:solidFill>
                  <a:srgbClr val="1F2226"/>
                </a:solidFill>
                <a:latin typeface="Arial" pitchFamily="34" charset="0"/>
                <a:ea typeface="Arial" pitchFamily="34" charset="-122"/>
                <a:cs typeface="Arial" pitchFamily="34" charset="-120"/>
              </a:rPr>
              <a:t>프로포절 심사</a:t>
            </a:r>
            <a:endParaRPr lang="en-US" sz="1200" dirty="0"/>
          </a:p>
        </p:txBody>
      </p:sp>
      <p:sp>
        <p:nvSpPr>
          <p:cNvPr id="4" name="Shape 2"/>
          <p:cNvSpPr/>
          <p:nvPr/>
        </p:nvSpPr>
        <p:spPr>
          <a:xfrm>
            <a:off x="680314" y="1009498"/>
            <a:ext cx="13277088" cy="0"/>
          </a:xfrm>
          <a:prstGeom prst="line">
            <a:avLst/>
          </a:prstGeom>
          <a:noFill/>
          <a:ln w="12700">
            <a:solidFill>
              <a:srgbClr val="C9CDD3"/>
            </a:solidFill>
            <a:prstDash val="solid"/>
          </a:ln>
        </p:spPr>
      </p:sp>
      <p:sp>
        <p:nvSpPr>
          <p:cNvPr id="5" name="Shape 3"/>
          <p:cNvSpPr/>
          <p:nvPr/>
        </p:nvSpPr>
        <p:spPr>
          <a:xfrm>
            <a:off x="8339328" y="1009498"/>
            <a:ext cx="5618074" cy="0"/>
          </a:xfrm>
          <a:prstGeom prst="line">
            <a:avLst/>
          </a:prstGeom>
          <a:noFill/>
          <a:ln w="25400">
            <a:solidFill>
              <a:srgbClr val="8C2A32"/>
            </a:solidFill>
            <a:prstDash val="solid"/>
          </a:ln>
        </p:spPr>
      </p:sp>
      <p:sp>
        <p:nvSpPr>
          <p:cNvPr id="6" name="Shape 4"/>
          <p:cNvSpPr/>
          <p:nvPr/>
        </p:nvSpPr>
        <p:spPr>
          <a:xfrm>
            <a:off x="680314" y="1207008"/>
            <a:ext cx="899770" cy="899770"/>
          </a:xfrm>
          <a:prstGeom prst="ellipse">
            <a:avLst/>
          </a:prstGeom>
          <a:solidFill>
            <a:srgbClr val="FFFFFF">
              <a:alpha val="0"/>
            </a:srgbClr>
          </a:solidFill>
          <a:ln w="63500">
            <a:solidFill>
              <a:srgbClr val="8C2A32"/>
            </a:solidFill>
            <a:prstDash val="solid"/>
          </a:ln>
        </p:spPr>
      </p:sp>
      <p:sp>
        <p:nvSpPr>
          <p:cNvPr id="7" name="Shape 5"/>
          <p:cNvSpPr/>
          <p:nvPr/>
        </p:nvSpPr>
        <p:spPr>
          <a:xfrm>
            <a:off x="1207008" y="1119226"/>
            <a:ext cx="680314" cy="1075334"/>
          </a:xfrm>
          <a:prstGeom prst="rect">
            <a:avLst/>
          </a:prstGeom>
          <a:solidFill>
            <a:srgbClr val="FFFFFF"/>
          </a:solidFill>
          <a:ln w="12700">
            <a:solidFill>
              <a:srgbClr val="FFFFFF"/>
            </a:solidFill>
            <a:prstDash val="solid"/>
          </a:ln>
        </p:spPr>
      </p:sp>
      <p:sp>
        <p:nvSpPr>
          <p:cNvPr id="8" name="Text 6"/>
          <p:cNvSpPr/>
          <p:nvPr/>
        </p:nvSpPr>
        <p:spPr>
          <a:xfrm>
            <a:off x="1119226" y="1207008"/>
            <a:ext cx="12508992" cy="899770"/>
          </a:xfrm>
          <a:prstGeom prst="rect">
            <a:avLst/>
          </a:prstGeom>
          <a:noFill/>
          <a:ln/>
        </p:spPr>
        <p:txBody>
          <a:bodyPr wrap="square" lIns="0" tIns="0" rIns="0" bIns="0" rtlCol="0" anchor="ctr"/>
          <a:lstStyle/>
          <a:p>
            <a:pPr indent="0" marL="0">
              <a:buNone/>
            </a:pPr>
            <a:r>
              <a:rPr lang="en-US" sz="2600" b="1" dirty="0">
                <a:solidFill>
                  <a:srgbClr val="1F2226"/>
                </a:solidFill>
                <a:latin typeface="Arial" pitchFamily="34" charset="0"/>
                <a:ea typeface="Arial" pitchFamily="34" charset="-122"/>
                <a:cs typeface="Arial" pitchFamily="34" charset="-120"/>
              </a:rPr>
              <a:t>Appendix E. 시나리오 조작</a:t>
            </a:r>
            <a:endParaRPr lang="en-US" sz="2600" dirty="0"/>
          </a:p>
        </p:txBody>
      </p:sp>
      <p:sp>
        <p:nvSpPr>
          <p:cNvPr id="9" name="Text 7"/>
          <p:cNvSpPr/>
          <p:nvPr/>
        </p:nvSpPr>
        <p:spPr>
          <a:xfrm>
            <a:off x="768096" y="2304288"/>
            <a:ext cx="7132320" cy="329184"/>
          </a:xfrm>
          <a:prstGeom prst="rect">
            <a:avLst/>
          </a:prstGeom>
          <a:noFill/>
          <a:ln/>
        </p:spPr>
        <p:txBody>
          <a:bodyPr wrap="square" lIns="0" tIns="0" rIns="0" bIns="0" rtlCol="0" anchor="ctr"/>
          <a:lstStyle/>
          <a:p>
            <a:pPr algn="l" indent="0" marL="0">
              <a:buNone/>
            </a:pPr>
            <a:r>
              <a:rPr lang="en-US" sz="1300" b="1" dirty="0">
                <a:solidFill>
                  <a:srgbClr val="1F2226"/>
                </a:solidFill>
                <a:latin typeface="Arial" pitchFamily="34" charset="0"/>
                <a:ea typeface="Arial" pitchFamily="34" charset="-122"/>
                <a:cs typeface="Arial" pitchFamily="34" charset="-120"/>
              </a:rPr>
              <a:t>【 본문 구조 — 5문장 중 ④만 조건 간 상이 】</a:t>
            </a:r>
            <a:endParaRPr lang="en-US" sz="1300" dirty="0"/>
          </a:p>
        </p:txBody>
      </p:sp>
      <p:sp>
        <p:nvSpPr>
          <p:cNvPr id="10" name="Text 8"/>
          <p:cNvSpPr/>
          <p:nvPr/>
        </p:nvSpPr>
        <p:spPr>
          <a:xfrm>
            <a:off x="855878" y="2721254"/>
            <a:ext cx="329184" cy="351130"/>
          </a:xfrm>
          <a:prstGeom prst="rect">
            <a:avLst/>
          </a:prstGeom>
          <a:noFill/>
          <a:ln/>
        </p:spPr>
        <p:txBody>
          <a:bodyPr wrap="square" lIns="0" tIns="0" rIns="0" bIns="0" rtlCol="0" anchor="ctr"/>
          <a:lstStyle/>
          <a:p>
            <a:pPr indent="0" marL="0">
              <a:buNone/>
            </a:pPr>
            <a:r>
              <a:rPr lang="en-US" sz="1200" b="1" dirty="0">
                <a:solidFill>
                  <a:srgbClr val="70757C"/>
                </a:solidFill>
                <a:latin typeface="Arial" pitchFamily="34" charset="0"/>
                <a:ea typeface="Arial" pitchFamily="34" charset="-122"/>
                <a:cs typeface="Arial" pitchFamily="34" charset="-120"/>
              </a:rPr>
              <a:t>①</a:t>
            </a:r>
            <a:endParaRPr lang="en-US" sz="1200" dirty="0"/>
          </a:p>
        </p:txBody>
      </p:sp>
      <p:sp>
        <p:nvSpPr>
          <p:cNvPr id="11" name="Text 9"/>
          <p:cNvSpPr/>
          <p:nvPr/>
        </p:nvSpPr>
        <p:spPr>
          <a:xfrm>
            <a:off x="1261872" y="2721254"/>
            <a:ext cx="2194560" cy="351130"/>
          </a:xfrm>
          <a:prstGeom prst="rect">
            <a:avLst/>
          </a:prstGeom>
          <a:noFill/>
          <a:ln/>
        </p:spPr>
        <p:txBody>
          <a:bodyPr wrap="square" lIns="0" tIns="0" rIns="0" bIns="0" rtlCol="0" anchor="ctr"/>
          <a:lstStyle/>
          <a:p>
            <a:pPr indent="0" marL="0">
              <a:buNone/>
            </a:pPr>
            <a:r>
              <a:rPr lang="en-US" sz="1200" dirty="0">
                <a:solidFill>
                  <a:srgbClr val="1F2226"/>
                </a:solidFill>
                <a:latin typeface="Arial" pitchFamily="34" charset="0"/>
                <a:ea typeface="Arial" pitchFamily="34" charset="-122"/>
                <a:cs typeface="Arial" pitchFamily="34" charset="-120"/>
              </a:rPr>
              <a:t>소속 · 직무</a:t>
            </a:r>
            <a:endParaRPr lang="en-US" sz="1200" dirty="0"/>
          </a:p>
        </p:txBody>
      </p:sp>
      <p:sp>
        <p:nvSpPr>
          <p:cNvPr id="12" name="Text 10"/>
          <p:cNvSpPr/>
          <p:nvPr/>
        </p:nvSpPr>
        <p:spPr>
          <a:xfrm>
            <a:off x="3566160" y="2721254"/>
            <a:ext cx="6803136" cy="351130"/>
          </a:xfrm>
          <a:prstGeom prst="rect">
            <a:avLst/>
          </a:prstGeom>
          <a:noFill/>
          <a:ln/>
        </p:spPr>
        <p:txBody>
          <a:bodyPr wrap="square" lIns="0" tIns="0" rIns="0" bIns="0" rtlCol="0" anchor="ctr"/>
          <a:lstStyle/>
          <a:p>
            <a:pPr indent="0" marL="0">
              <a:buNone/>
            </a:pPr>
            <a:r>
              <a:rPr lang="en-US" sz="1200" dirty="0">
                <a:solidFill>
                  <a:srgbClr val="1F2226"/>
                </a:solidFill>
                <a:latin typeface="Arial" pitchFamily="34" charset="0"/>
                <a:ea typeface="Arial" pitchFamily="34" charset="-122"/>
                <a:cs typeface="Arial" pitchFamily="34" charset="-120"/>
              </a:rPr>
              <a:t>귀하는 B사 소속 개발자다</a:t>
            </a:r>
            <a:endParaRPr lang="en-US" sz="1200" dirty="0"/>
          </a:p>
        </p:txBody>
      </p:sp>
      <p:sp>
        <p:nvSpPr>
          <p:cNvPr id="13" name="Text 11"/>
          <p:cNvSpPr/>
          <p:nvPr/>
        </p:nvSpPr>
        <p:spPr>
          <a:xfrm>
            <a:off x="10424160" y="2721254"/>
            <a:ext cx="3182112" cy="351130"/>
          </a:xfrm>
          <a:prstGeom prst="rect">
            <a:avLst/>
          </a:prstGeom>
          <a:noFill/>
          <a:ln/>
        </p:spPr>
        <p:txBody>
          <a:bodyPr wrap="square" lIns="0" tIns="0" rIns="0" bIns="0" rtlCol="0" anchor="ctr"/>
          <a:lstStyle/>
          <a:p>
            <a:pPr algn="r" indent="0" marL="0">
              <a:buNone/>
            </a:pPr>
            <a:r>
              <a:rPr lang="en-US" sz="1050" dirty="0">
                <a:solidFill>
                  <a:srgbClr val="70757C"/>
                </a:solidFill>
                <a:latin typeface="Arial" pitchFamily="34" charset="0"/>
                <a:ea typeface="Arial" pitchFamily="34" charset="-122"/>
                <a:cs typeface="Arial" pitchFamily="34" charset="-120"/>
              </a:rPr>
              <a:t>동일</a:t>
            </a:r>
            <a:endParaRPr lang="en-US" sz="1050" dirty="0"/>
          </a:p>
        </p:txBody>
      </p:sp>
      <p:sp>
        <p:nvSpPr>
          <p:cNvPr id="14" name="Shape 12"/>
          <p:cNvSpPr/>
          <p:nvPr/>
        </p:nvSpPr>
        <p:spPr>
          <a:xfrm>
            <a:off x="855878" y="3116275"/>
            <a:ext cx="12750394" cy="0"/>
          </a:xfrm>
          <a:prstGeom prst="line">
            <a:avLst/>
          </a:prstGeom>
          <a:noFill/>
          <a:ln w="9525">
            <a:solidFill>
              <a:srgbClr val="C9CDD3"/>
            </a:solidFill>
            <a:prstDash val="solid"/>
          </a:ln>
        </p:spPr>
      </p:sp>
      <p:sp>
        <p:nvSpPr>
          <p:cNvPr id="15" name="Text 13"/>
          <p:cNvSpPr/>
          <p:nvPr/>
        </p:nvSpPr>
        <p:spPr>
          <a:xfrm>
            <a:off x="855878" y="3182112"/>
            <a:ext cx="329184" cy="351130"/>
          </a:xfrm>
          <a:prstGeom prst="rect">
            <a:avLst/>
          </a:prstGeom>
          <a:noFill/>
          <a:ln/>
        </p:spPr>
        <p:txBody>
          <a:bodyPr wrap="square" lIns="0" tIns="0" rIns="0" bIns="0" rtlCol="0" anchor="ctr"/>
          <a:lstStyle/>
          <a:p>
            <a:pPr indent="0" marL="0">
              <a:buNone/>
            </a:pPr>
            <a:r>
              <a:rPr lang="en-US" sz="1200" b="1" dirty="0">
                <a:solidFill>
                  <a:srgbClr val="70757C"/>
                </a:solidFill>
                <a:latin typeface="Arial" pitchFamily="34" charset="0"/>
                <a:ea typeface="Arial" pitchFamily="34" charset="-122"/>
                <a:cs typeface="Arial" pitchFamily="34" charset="-120"/>
              </a:rPr>
              <a:t>②</a:t>
            </a:r>
            <a:endParaRPr lang="en-US" sz="1200" dirty="0"/>
          </a:p>
        </p:txBody>
      </p:sp>
      <p:sp>
        <p:nvSpPr>
          <p:cNvPr id="16" name="Text 14"/>
          <p:cNvSpPr/>
          <p:nvPr/>
        </p:nvSpPr>
        <p:spPr>
          <a:xfrm>
            <a:off x="1261872" y="3182112"/>
            <a:ext cx="2194560" cy="351130"/>
          </a:xfrm>
          <a:prstGeom prst="rect">
            <a:avLst/>
          </a:prstGeom>
          <a:noFill/>
          <a:ln/>
        </p:spPr>
        <p:txBody>
          <a:bodyPr wrap="square" lIns="0" tIns="0" rIns="0" bIns="0" rtlCol="0" anchor="ctr"/>
          <a:lstStyle/>
          <a:p>
            <a:pPr indent="0" marL="0">
              <a:buNone/>
            </a:pPr>
            <a:r>
              <a:rPr lang="en-US" sz="1200" dirty="0">
                <a:solidFill>
                  <a:srgbClr val="1F2226"/>
                </a:solidFill>
                <a:latin typeface="Arial" pitchFamily="34" charset="0"/>
                <a:ea typeface="Arial" pitchFamily="34" charset="-122"/>
                <a:cs typeface="Arial" pitchFamily="34" charset="-120"/>
              </a:rPr>
              <a:t>산출물</a:t>
            </a:r>
            <a:endParaRPr lang="en-US" sz="1200" dirty="0"/>
          </a:p>
        </p:txBody>
      </p:sp>
      <p:sp>
        <p:nvSpPr>
          <p:cNvPr id="17" name="Text 15"/>
          <p:cNvSpPr/>
          <p:nvPr/>
        </p:nvSpPr>
        <p:spPr>
          <a:xfrm>
            <a:off x="3566160" y="3182112"/>
            <a:ext cx="6803136" cy="351130"/>
          </a:xfrm>
          <a:prstGeom prst="rect">
            <a:avLst/>
          </a:prstGeom>
          <a:noFill/>
          <a:ln/>
        </p:spPr>
        <p:txBody>
          <a:bodyPr wrap="square" lIns="0" tIns="0" rIns="0" bIns="0" rtlCol="0" anchor="ctr"/>
          <a:lstStyle/>
          <a:p>
            <a:pPr indent="0" marL="0">
              <a:buNone/>
            </a:pPr>
            <a:r>
              <a:rPr lang="en-US" sz="1200" dirty="0">
                <a:solidFill>
                  <a:srgbClr val="1F2226"/>
                </a:solidFill>
                <a:latin typeface="Arial" pitchFamily="34" charset="0"/>
                <a:ea typeface="Arial" pitchFamily="34" charset="-122"/>
                <a:cs typeface="Arial" pitchFamily="34" charset="-120"/>
              </a:rPr>
              <a:t>신규 서비스 제안서를 작성했다 (5요소)</a:t>
            </a:r>
            <a:endParaRPr lang="en-US" sz="1200" dirty="0"/>
          </a:p>
        </p:txBody>
      </p:sp>
      <p:sp>
        <p:nvSpPr>
          <p:cNvPr id="18" name="Text 16"/>
          <p:cNvSpPr/>
          <p:nvPr/>
        </p:nvSpPr>
        <p:spPr>
          <a:xfrm>
            <a:off x="10424160" y="3182112"/>
            <a:ext cx="3182112" cy="351130"/>
          </a:xfrm>
          <a:prstGeom prst="rect">
            <a:avLst/>
          </a:prstGeom>
          <a:noFill/>
          <a:ln/>
        </p:spPr>
        <p:txBody>
          <a:bodyPr wrap="square" lIns="0" tIns="0" rIns="0" bIns="0" rtlCol="0" anchor="ctr"/>
          <a:lstStyle/>
          <a:p>
            <a:pPr algn="r" indent="0" marL="0">
              <a:buNone/>
            </a:pPr>
            <a:r>
              <a:rPr lang="en-US" sz="1050" dirty="0">
                <a:solidFill>
                  <a:srgbClr val="70757C"/>
                </a:solidFill>
                <a:latin typeface="Arial" pitchFamily="34" charset="0"/>
                <a:ea typeface="Arial" pitchFamily="34" charset="-122"/>
                <a:cs typeface="Arial" pitchFamily="34" charset="-120"/>
              </a:rPr>
              <a:t>동일</a:t>
            </a:r>
            <a:endParaRPr lang="en-US" sz="1050" dirty="0"/>
          </a:p>
        </p:txBody>
      </p:sp>
      <p:sp>
        <p:nvSpPr>
          <p:cNvPr id="19" name="Shape 17"/>
          <p:cNvSpPr/>
          <p:nvPr/>
        </p:nvSpPr>
        <p:spPr>
          <a:xfrm>
            <a:off x="855878" y="3577133"/>
            <a:ext cx="12750394" cy="0"/>
          </a:xfrm>
          <a:prstGeom prst="line">
            <a:avLst/>
          </a:prstGeom>
          <a:noFill/>
          <a:ln w="9525">
            <a:solidFill>
              <a:srgbClr val="C9CDD3"/>
            </a:solidFill>
            <a:prstDash val="solid"/>
          </a:ln>
        </p:spPr>
      </p:sp>
      <p:sp>
        <p:nvSpPr>
          <p:cNvPr id="20" name="Text 18"/>
          <p:cNvSpPr/>
          <p:nvPr/>
        </p:nvSpPr>
        <p:spPr>
          <a:xfrm>
            <a:off x="855878" y="3642970"/>
            <a:ext cx="329184" cy="351130"/>
          </a:xfrm>
          <a:prstGeom prst="rect">
            <a:avLst/>
          </a:prstGeom>
          <a:noFill/>
          <a:ln/>
        </p:spPr>
        <p:txBody>
          <a:bodyPr wrap="square" lIns="0" tIns="0" rIns="0" bIns="0" rtlCol="0" anchor="ctr"/>
          <a:lstStyle/>
          <a:p>
            <a:pPr indent="0" marL="0">
              <a:buNone/>
            </a:pPr>
            <a:r>
              <a:rPr lang="en-US" sz="1200" b="1" dirty="0">
                <a:solidFill>
                  <a:srgbClr val="70757C"/>
                </a:solidFill>
                <a:latin typeface="Arial" pitchFamily="34" charset="0"/>
                <a:ea typeface="Arial" pitchFamily="34" charset="-122"/>
                <a:cs typeface="Arial" pitchFamily="34" charset="-120"/>
              </a:rPr>
              <a:t>③</a:t>
            </a:r>
            <a:endParaRPr lang="en-US" sz="1200" dirty="0"/>
          </a:p>
        </p:txBody>
      </p:sp>
      <p:sp>
        <p:nvSpPr>
          <p:cNvPr id="21" name="Text 19"/>
          <p:cNvSpPr/>
          <p:nvPr/>
        </p:nvSpPr>
        <p:spPr>
          <a:xfrm>
            <a:off x="1261872" y="3642970"/>
            <a:ext cx="2194560" cy="351130"/>
          </a:xfrm>
          <a:prstGeom prst="rect">
            <a:avLst/>
          </a:prstGeom>
          <a:noFill/>
          <a:ln/>
        </p:spPr>
        <p:txBody>
          <a:bodyPr wrap="square" lIns="0" tIns="0" rIns="0" bIns="0" rtlCol="0" anchor="ctr"/>
          <a:lstStyle/>
          <a:p>
            <a:pPr indent="0" marL="0">
              <a:buNone/>
            </a:pPr>
            <a:r>
              <a:rPr lang="en-US" sz="1200" dirty="0">
                <a:solidFill>
                  <a:srgbClr val="1F2226"/>
                </a:solidFill>
                <a:latin typeface="Arial" pitchFamily="34" charset="0"/>
                <a:ea typeface="Arial" pitchFamily="34" charset="-122"/>
                <a:cs typeface="Arial" pitchFamily="34" charset="-120"/>
              </a:rPr>
              <a:t>AI 활용 범위</a:t>
            </a:r>
            <a:endParaRPr lang="en-US" sz="1200" dirty="0"/>
          </a:p>
        </p:txBody>
      </p:sp>
      <p:sp>
        <p:nvSpPr>
          <p:cNvPr id="22" name="Text 20"/>
          <p:cNvSpPr/>
          <p:nvPr/>
        </p:nvSpPr>
        <p:spPr>
          <a:xfrm>
            <a:off x="3566160" y="3642970"/>
            <a:ext cx="6803136" cy="351130"/>
          </a:xfrm>
          <a:prstGeom prst="rect">
            <a:avLst/>
          </a:prstGeom>
          <a:noFill/>
          <a:ln/>
        </p:spPr>
        <p:txBody>
          <a:bodyPr wrap="square" lIns="0" tIns="0" rIns="0" bIns="0" rtlCol="0" anchor="ctr"/>
          <a:lstStyle/>
          <a:p>
            <a:pPr indent="0" marL="0">
              <a:buNone/>
            </a:pPr>
            <a:r>
              <a:rPr lang="en-US" sz="1200" dirty="0">
                <a:solidFill>
                  <a:srgbClr val="1F2226"/>
                </a:solidFill>
                <a:latin typeface="Arial" pitchFamily="34" charset="0"/>
                <a:ea typeface="Arial" pitchFamily="34" charset="-122"/>
                <a:cs typeface="Arial" pitchFamily="34" charset="-120"/>
              </a:rPr>
              <a:t>업무 전 과정에서 AI를 활용했다</a:t>
            </a:r>
            <a:endParaRPr lang="en-US" sz="1200" dirty="0"/>
          </a:p>
        </p:txBody>
      </p:sp>
      <p:sp>
        <p:nvSpPr>
          <p:cNvPr id="23" name="Text 21"/>
          <p:cNvSpPr/>
          <p:nvPr/>
        </p:nvSpPr>
        <p:spPr>
          <a:xfrm>
            <a:off x="10424160" y="3642970"/>
            <a:ext cx="3182112" cy="351130"/>
          </a:xfrm>
          <a:prstGeom prst="rect">
            <a:avLst/>
          </a:prstGeom>
          <a:noFill/>
          <a:ln/>
        </p:spPr>
        <p:txBody>
          <a:bodyPr wrap="square" lIns="0" tIns="0" rIns="0" bIns="0" rtlCol="0" anchor="ctr"/>
          <a:lstStyle/>
          <a:p>
            <a:pPr algn="r" indent="0" marL="0">
              <a:buNone/>
            </a:pPr>
            <a:r>
              <a:rPr lang="en-US" sz="1050" dirty="0">
                <a:solidFill>
                  <a:srgbClr val="70757C"/>
                </a:solidFill>
                <a:latin typeface="Arial" pitchFamily="34" charset="0"/>
                <a:ea typeface="Arial" pitchFamily="34" charset="-122"/>
                <a:cs typeface="Arial" pitchFamily="34" charset="-120"/>
              </a:rPr>
              <a:t>동일 (통제 3)</a:t>
            </a:r>
            <a:endParaRPr lang="en-US" sz="1050" dirty="0"/>
          </a:p>
        </p:txBody>
      </p:sp>
      <p:sp>
        <p:nvSpPr>
          <p:cNvPr id="24" name="Shape 22"/>
          <p:cNvSpPr/>
          <p:nvPr/>
        </p:nvSpPr>
        <p:spPr>
          <a:xfrm>
            <a:off x="855878" y="4037990"/>
            <a:ext cx="12750394" cy="0"/>
          </a:xfrm>
          <a:prstGeom prst="line">
            <a:avLst/>
          </a:prstGeom>
          <a:noFill/>
          <a:ln w="9525">
            <a:solidFill>
              <a:srgbClr val="C9CDD3"/>
            </a:solidFill>
            <a:prstDash val="solid"/>
          </a:ln>
        </p:spPr>
      </p:sp>
      <p:sp>
        <p:nvSpPr>
          <p:cNvPr id="25" name="Text 23"/>
          <p:cNvSpPr/>
          <p:nvPr/>
        </p:nvSpPr>
        <p:spPr>
          <a:xfrm>
            <a:off x="855878" y="4103827"/>
            <a:ext cx="329184" cy="351130"/>
          </a:xfrm>
          <a:prstGeom prst="rect">
            <a:avLst/>
          </a:prstGeom>
          <a:noFill/>
          <a:ln/>
        </p:spPr>
        <p:txBody>
          <a:bodyPr wrap="square" lIns="0" tIns="0" rIns="0" bIns="0" rtlCol="0" anchor="ctr"/>
          <a:lstStyle/>
          <a:p>
            <a:pPr indent="0" marL="0">
              <a:buNone/>
            </a:pPr>
            <a:r>
              <a:rPr lang="en-US" sz="1200" b="1" dirty="0">
                <a:solidFill>
                  <a:srgbClr val="1F2226"/>
                </a:solidFill>
                <a:latin typeface="Arial" pitchFamily="34" charset="0"/>
                <a:ea typeface="Arial" pitchFamily="34" charset="-122"/>
                <a:cs typeface="Arial" pitchFamily="34" charset="-120"/>
              </a:rPr>
              <a:t>④</a:t>
            </a:r>
            <a:endParaRPr lang="en-US" sz="1200" dirty="0"/>
          </a:p>
        </p:txBody>
      </p:sp>
      <p:sp>
        <p:nvSpPr>
          <p:cNvPr id="26" name="Text 24"/>
          <p:cNvSpPr/>
          <p:nvPr/>
        </p:nvSpPr>
        <p:spPr>
          <a:xfrm>
            <a:off x="1261872" y="4103827"/>
            <a:ext cx="2194560" cy="351130"/>
          </a:xfrm>
          <a:prstGeom prst="rect">
            <a:avLst/>
          </a:prstGeom>
          <a:noFill/>
          <a:ln/>
        </p:spPr>
        <p:txBody>
          <a:bodyPr wrap="square" lIns="0" tIns="0" rIns="0" bIns="0" rtlCol="0" anchor="ctr"/>
          <a:lstStyle/>
          <a:p>
            <a:pPr indent="0" marL="0">
              <a:buNone/>
            </a:pPr>
            <a:r>
              <a:rPr lang="en-US" sz="1200" b="1" dirty="0">
                <a:solidFill>
                  <a:srgbClr val="1F2226"/>
                </a:solidFill>
                <a:latin typeface="Arial" pitchFamily="34" charset="0"/>
                <a:ea typeface="Arial" pitchFamily="34" charset="-122"/>
                <a:cs typeface="Arial" pitchFamily="34" charset="-120"/>
              </a:rPr>
              <a:t>처리 방식</a:t>
            </a:r>
            <a:endParaRPr lang="en-US" sz="1200" dirty="0"/>
          </a:p>
        </p:txBody>
      </p:sp>
      <p:sp>
        <p:nvSpPr>
          <p:cNvPr id="27" name="Text 25"/>
          <p:cNvSpPr/>
          <p:nvPr/>
        </p:nvSpPr>
        <p:spPr>
          <a:xfrm>
            <a:off x="3566160" y="4103827"/>
            <a:ext cx="6803136" cy="351130"/>
          </a:xfrm>
          <a:prstGeom prst="rect">
            <a:avLst/>
          </a:prstGeom>
          <a:noFill/>
          <a:ln/>
        </p:spPr>
        <p:txBody>
          <a:bodyPr wrap="square" lIns="0" tIns="0" rIns="0" bIns="0" rtlCol="0" anchor="ctr"/>
          <a:lstStyle/>
          <a:p>
            <a:pPr indent="0" marL="0">
              <a:buNone/>
            </a:pPr>
            <a:r>
              <a:rPr lang="en-US" sz="1200" b="1" dirty="0">
                <a:solidFill>
                  <a:srgbClr val="1F2226"/>
                </a:solidFill>
                <a:latin typeface="Arial" pitchFamily="34" charset="0"/>
                <a:ea typeface="Arial" pitchFamily="34" charset="-122"/>
                <a:cs typeface="Arial" pitchFamily="34" charset="-120"/>
              </a:rPr>
              <a:t>[  조 작  ]</a:t>
            </a:r>
            <a:endParaRPr lang="en-US" sz="1200" dirty="0"/>
          </a:p>
        </p:txBody>
      </p:sp>
      <p:sp>
        <p:nvSpPr>
          <p:cNvPr id="28" name="Text 26"/>
          <p:cNvSpPr/>
          <p:nvPr/>
        </p:nvSpPr>
        <p:spPr>
          <a:xfrm>
            <a:off x="10424160" y="4103827"/>
            <a:ext cx="3182112" cy="351130"/>
          </a:xfrm>
          <a:prstGeom prst="rect">
            <a:avLst/>
          </a:prstGeom>
          <a:noFill/>
          <a:ln/>
        </p:spPr>
        <p:txBody>
          <a:bodyPr wrap="square" lIns="0" tIns="0" rIns="0" bIns="0" rtlCol="0" anchor="ctr"/>
          <a:lstStyle/>
          <a:p>
            <a:pPr algn="r" indent="0" marL="0">
              <a:buNone/>
            </a:pPr>
            <a:r>
              <a:rPr lang="en-US" sz="1050" dirty="0">
                <a:solidFill>
                  <a:srgbClr val="70757C"/>
                </a:solidFill>
                <a:latin typeface="Arial" pitchFamily="34" charset="0"/>
                <a:ea typeface="Arial" pitchFamily="34" charset="-122"/>
                <a:cs typeface="Arial" pitchFamily="34" charset="-120"/>
              </a:rPr>
              <a:t>조건 간 상이</a:t>
            </a:r>
            <a:endParaRPr lang="en-US" sz="1050" dirty="0"/>
          </a:p>
        </p:txBody>
      </p:sp>
      <p:sp>
        <p:nvSpPr>
          <p:cNvPr id="29" name="Shape 27"/>
          <p:cNvSpPr/>
          <p:nvPr/>
        </p:nvSpPr>
        <p:spPr>
          <a:xfrm>
            <a:off x="855878" y="4498848"/>
            <a:ext cx="12750394" cy="0"/>
          </a:xfrm>
          <a:prstGeom prst="line">
            <a:avLst/>
          </a:prstGeom>
          <a:noFill/>
          <a:ln w="9525">
            <a:solidFill>
              <a:srgbClr val="C9CDD3"/>
            </a:solidFill>
            <a:prstDash val="solid"/>
          </a:ln>
        </p:spPr>
      </p:sp>
      <p:sp>
        <p:nvSpPr>
          <p:cNvPr id="30" name="Text 28"/>
          <p:cNvSpPr/>
          <p:nvPr/>
        </p:nvSpPr>
        <p:spPr>
          <a:xfrm>
            <a:off x="855878" y="4564685"/>
            <a:ext cx="329184" cy="351130"/>
          </a:xfrm>
          <a:prstGeom prst="rect">
            <a:avLst/>
          </a:prstGeom>
          <a:noFill/>
          <a:ln/>
        </p:spPr>
        <p:txBody>
          <a:bodyPr wrap="square" lIns="0" tIns="0" rIns="0" bIns="0" rtlCol="0" anchor="ctr"/>
          <a:lstStyle/>
          <a:p>
            <a:pPr indent="0" marL="0">
              <a:buNone/>
            </a:pPr>
            <a:r>
              <a:rPr lang="en-US" sz="1200" b="1" dirty="0">
                <a:solidFill>
                  <a:srgbClr val="70757C"/>
                </a:solidFill>
                <a:latin typeface="Arial" pitchFamily="34" charset="0"/>
                <a:ea typeface="Arial" pitchFamily="34" charset="-122"/>
                <a:cs typeface="Arial" pitchFamily="34" charset="-120"/>
              </a:rPr>
              <a:t>⑤</a:t>
            </a:r>
            <a:endParaRPr lang="en-US" sz="1200" dirty="0"/>
          </a:p>
        </p:txBody>
      </p:sp>
      <p:sp>
        <p:nvSpPr>
          <p:cNvPr id="31" name="Text 29"/>
          <p:cNvSpPr/>
          <p:nvPr/>
        </p:nvSpPr>
        <p:spPr>
          <a:xfrm>
            <a:off x="1261872" y="4564685"/>
            <a:ext cx="2194560" cy="351130"/>
          </a:xfrm>
          <a:prstGeom prst="rect">
            <a:avLst/>
          </a:prstGeom>
          <a:noFill/>
          <a:ln/>
        </p:spPr>
        <p:txBody>
          <a:bodyPr wrap="square" lIns="0" tIns="0" rIns="0" bIns="0" rtlCol="0" anchor="ctr"/>
          <a:lstStyle/>
          <a:p>
            <a:pPr indent="0" marL="0">
              <a:buNone/>
            </a:pPr>
            <a:r>
              <a:rPr lang="en-US" sz="1200" dirty="0">
                <a:solidFill>
                  <a:srgbClr val="1F2226"/>
                </a:solidFill>
                <a:latin typeface="Arial" pitchFamily="34" charset="0"/>
                <a:ea typeface="Arial" pitchFamily="34" charset="-122"/>
                <a:cs typeface="Arial" pitchFamily="34" charset="-120"/>
              </a:rPr>
              <a:t>평가</a:t>
            </a:r>
            <a:endParaRPr lang="en-US" sz="1200" dirty="0"/>
          </a:p>
        </p:txBody>
      </p:sp>
      <p:sp>
        <p:nvSpPr>
          <p:cNvPr id="32" name="Text 30"/>
          <p:cNvSpPr/>
          <p:nvPr/>
        </p:nvSpPr>
        <p:spPr>
          <a:xfrm>
            <a:off x="3566160" y="4564685"/>
            <a:ext cx="6803136" cy="351130"/>
          </a:xfrm>
          <a:prstGeom prst="rect">
            <a:avLst/>
          </a:prstGeom>
          <a:noFill/>
          <a:ln/>
        </p:spPr>
        <p:txBody>
          <a:bodyPr wrap="square" lIns="0" tIns="0" rIns="0" bIns="0" rtlCol="0" anchor="ctr"/>
          <a:lstStyle/>
          <a:p>
            <a:pPr indent="0" marL="0">
              <a:buNone/>
            </a:pPr>
            <a:r>
              <a:rPr lang="en-US" sz="1200" dirty="0">
                <a:solidFill>
                  <a:srgbClr val="1F2226"/>
                </a:solidFill>
                <a:latin typeface="Arial" pitchFamily="34" charset="0"/>
                <a:ea typeface="Arial" pitchFamily="34" charset="-122"/>
                <a:cs typeface="Arial" pitchFamily="34" charset="-120"/>
              </a:rPr>
              <a:t>B사의 평가자가 성과평가에 반영한다</a:t>
            </a:r>
            <a:endParaRPr lang="en-US" sz="1200" dirty="0"/>
          </a:p>
        </p:txBody>
      </p:sp>
      <p:sp>
        <p:nvSpPr>
          <p:cNvPr id="33" name="Text 31"/>
          <p:cNvSpPr/>
          <p:nvPr/>
        </p:nvSpPr>
        <p:spPr>
          <a:xfrm>
            <a:off x="10424160" y="4564685"/>
            <a:ext cx="3182112" cy="351130"/>
          </a:xfrm>
          <a:prstGeom prst="rect">
            <a:avLst/>
          </a:prstGeom>
          <a:noFill/>
          <a:ln/>
        </p:spPr>
        <p:txBody>
          <a:bodyPr wrap="square" lIns="0" tIns="0" rIns="0" bIns="0" rtlCol="0" anchor="ctr"/>
          <a:lstStyle/>
          <a:p>
            <a:pPr algn="r" indent="0" marL="0">
              <a:buNone/>
            </a:pPr>
            <a:r>
              <a:rPr lang="en-US" sz="1050" dirty="0">
                <a:solidFill>
                  <a:srgbClr val="70757C"/>
                </a:solidFill>
                <a:latin typeface="Arial" pitchFamily="34" charset="0"/>
                <a:ea typeface="Arial" pitchFamily="34" charset="-122"/>
                <a:cs typeface="Arial" pitchFamily="34" charset="-120"/>
              </a:rPr>
              <a:t>동일 · 단정형 (통제 9)</a:t>
            </a:r>
            <a:endParaRPr lang="en-US" sz="1050" dirty="0"/>
          </a:p>
        </p:txBody>
      </p:sp>
      <p:sp>
        <p:nvSpPr>
          <p:cNvPr id="34" name="Shape 32"/>
          <p:cNvSpPr/>
          <p:nvPr/>
        </p:nvSpPr>
        <p:spPr>
          <a:xfrm>
            <a:off x="855878" y="4959706"/>
            <a:ext cx="12750394" cy="0"/>
          </a:xfrm>
          <a:prstGeom prst="line">
            <a:avLst/>
          </a:prstGeom>
          <a:noFill/>
          <a:ln w="9525">
            <a:solidFill>
              <a:srgbClr val="C9CDD3"/>
            </a:solidFill>
            <a:prstDash val="solid"/>
          </a:ln>
        </p:spPr>
      </p:sp>
      <p:sp>
        <p:nvSpPr>
          <p:cNvPr id="35" name="Text 33"/>
          <p:cNvSpPr/>
          <p:nvPr/>
        </p:nvSpPr>
        <p:spPr>
          <a:xfrm>
            <a:off x="768096" y="5179162"/>
            <a:ext cx="7132320" cy="329184"/>
          </a:xfrm>
          <a:prstGeom prst="rect">
            <a:avLst/>
          </a:prstGeom>
          <a:noFill/>
          <a:ln/>
        </p:spPr>
        <p:txBody>
          <a:bodyPr wrap="square" lIns="0" tIns="0" rIns="0" bIns="0" rtlCol="0" anchor="ctr"/>
          <a:lstStyle/>
          <a:p>
            <a:pPr algn="l" indent="0" marL="0">
              <a:buNone/>
            </a:pPr>
            <a:r>
              <a:rPr lang="en-US" sz="1300" b="1" dirty="0">
                <a:solidFill>
                  <a:srgbClr val="1F2226"/>
                </a:solidFill>
                <a:latin typeface="Arial" pitchFamily="34" charset="0"/>
                <a:ea typeface="Arial" pitchFamily="34" charset="-122"/>
                <a:cs typeface="Arial" pitchFamily="34" charset="-120"/>
              </a:rPr>
              <a:t>【 ④ 처리 방식 — 두 조건 】</a:t>
            </a:r>
            <a:endParaRPr lang="en-US" sz="1300" dirty="0"/>
          </a:p>
        </p:txBody>
      </p:sp>
      <p:sp>
        <p:nvSpPr>
          <p:cNvPr id="36" name="Shape 34"/>
          <p:cNvSpPr/>
          <p:nvPr/>
        </p:nvSpPr>
        <p:spPr>
          <a:xfrm>
            <a:off x="768096" y="5596128"/>
            <a:ext cx="6419088" cy="1426464"/>
          </a:xfrm>
          <a:prstGeom prst="rect">
            <a:avLst/>
          </a:prstGeom>
          <a:solidFill>
            <a:srgbClr val="F7F8F9"/>
          </a:solidFill>
          <a:ln w="12700">
            <a:solidFill>
              <a:srgbClr val="C9CDD3"/>
            </a:solidFill>
            <a:prstDash val="solid"/>
          </a:ln>
        </p:spPr>
      </p:sp>
      <p:sp>
        <p:nvSpPr>
          <p:cNvPr id="37" name="Text 35"/>
          <p:cNvSpPr/>
          <p:nvPr/>
        </p:nvSpPr>
        <p:spPr>
          <a:xfrm>
            <a:off x="1075334" y="5749747"/>
            <a:ext cx="5815584" cy="329184"/>
          </a:xfrm>
          <a:prstGeom prst="rect">
            <a:avLst/>
          </a:prstGeom>
          <a:noFill/>
          <a:ln/>
        </p:spPr>
        <p:txBody>
          <a:bodyPr wrap="square" lIns="0" tIns="0" rIns="0" bIns="0" rtlCol="0" anchor="ctr"/>
          <a:lstStyle/>
          <a:p>
            <a:pPr indent="0" marL="0">
              <a:buNone/>
            </a:pPr>
            <a:r>
              <a:rPr lang="en-US" sz="1300" b="1" dirty="0">
                <a:solidFill>
                  <a:srgbClr val="1F2226"/>
                </a:solidFill>
                <a:latin typeface="Arial" pitchFamily="34" charset="0"/>
                <a:ea typeface="Arial" pitchFamily="34" charset="-122"/>
                <a:cs typeface="Arial" pitchFamily="34" charset="-120"/>
              </a:rPr>
              <a:t>귀속 명확 조건</a:t>
            </a:r>
            <a:endParaRPr lang="en-US" sz="1300" dirty="0"/>
          </a:p>
        </p:txBody>
      </p:sp>
      <p:sp>
        <p:nvSpPr>
          <p:cNvPr id="38" name="Text 36"/>
          <p:cNvSpPr/>
          <p:nvPr/>
        </p:nvSpPr>
        <p:spPr>
          <a:xfrm>
            <a:off x="1075334" y="6100877"/>
            <a:ext cx="5815584" cy="548640"/>
          </a:xfrm>
          <a:prstGeom prst="rect">
            <a:avLst/>
          </a:prstGeom>
          <a:noFill/>
          <a:ln/>
        </p:spPr>
        <p:txBody>
          <a:bodyPr wrap="square" lIns="0" tIns="0" rIns="0" bIns="0" rtlCol="0" anchor="ctr"/>
          <a:lstStyle/>
          <a:p>
            <a:pPr indent="0" marL="0">
              <a:lnSpc>
                <a:spcPts val="2040"/>
              </a:lnSpc>
              <a:buNone/>
            </a:pPr>
            <a:r>
              <a:rPr lang="en-US" sz="1200" dirty="0">
                <a:solidFill>
                  <a:srgbClr val="1F2226"/>
                </a:solidFill>
                <a:latin typeface="Arial" pitchFamily="34" charset="0"/>
                <a:ea typeface="Arial" pitchFamily="34" charset="-122"/>
                <a:cs typeface="Arial" pitchFamily="34" charset="-120"/>
              </a:rPr>
              <a:t>「 AI 산출물을 각 부분 검토하고 본인의 설계 의도에 맞게 재구성했다 」</a:t>
            </a:r>
            <a:endParaRPr lang="en-US" sz="1200" dirty="0"/>
          </a:p>
        </p:txBody>
      </p:sp>
      <p:sp>
        <p:nvSpPr>
          <p:cNvPr id="39" name="Text 37"/>
          <p:cNvSpPr/>
          <p:nvPr/>
        </p:nvSpPr>
        <p:spPr>
          <a:xfrm>
            <a:off x="1075334" y="6649517"/>
            <a:ext cx="5815584" cy="285293"/>
          </a:xfrm>
          <a:prstGeom prst="rect">
            <a:avLst/>
          </a:prstGeom>
          <a:noFill/>
          <a:ln/>
        </p:spPr>
        <p:txBody>
          <a:bodyPr wrap="square" lIns="0" tIns="0" rIns="0" bIns="0" rtlCol="0" anchor="ctr"/>
          <a:lstStyle/>
          <a:p>
            <a:pPr indent="0" marL="0">
              <a:buNone/>
            </a:pPr>
            <a:r>
              <a:rPr lang="en-US" sz="1050" dirty="0">
                <a:solidFill>
                  <a:srgbClr val="70757C"/>
                </a:solidFill>
                <a:latin typeface="Arial" pitchFamily="34" charset="0"/>
                <a:ea typeface="Arial" pitchFamily="34" charset="-122"/>
                <a:cs typeface="Arial" pitchFamily="34" charset="-120"/>
              </a:rPr>
              <a:t>내 판단의 흔적이 남는다</a:t>
            </a:r>
            <a:endParaRPr lang="en-US" sz="1050" dirty="0"/>
          </a:p>
        </p:txBody>
      </p:sp>
      <p:sp>
        <p:nvSpPr>
          <p:cNvPr id="40" name="Shape 38"/>
          <p:cNvSpPr/>
          <p:nvPr/>
        </p:nvSpPr>
        <p:spPr>
          <a:xfrm>
            <a:off x="7439558" y="5596128"/>
            <a:ext cx="6419088" cy="1426464"/>
          </a:xfrm>
          <a:prstGeom prst="rect">
            <a:avLst/>
          </a:prstGeom>
          <a:solidFill>
            <a:srgbClr val="EDEEF0"/>
          </a:solidFill>
          <a:ln w="12700">
            <a:solidFill>
              <a:srgbClr val="E2D2D1"/>
            </a:solidFill>
            <a:prstDash val="solid"/>
          </a:ln>
        </p:spPr>
      </p:sp>
      <p:sp>
        <p:nvSpPr>
          <p:cNvPr id="41" name="Text 39"/>
          <p:cNvSpPr/>
          <p:nvPr/>
        </p:nvSpPr>
        <p:spPr>
          <a:xfrm>
            <a:off x="7746797" y="5749747"/>
            <a:ext cx="5815584" cy="329184"/>
          </a:xfrm>
          <a:prstGeom prst="rect">
            <a:avLst/>
          </a:prstGeom>
          <a:noFill/>
          <a:ln/>
        </p:spPr>
        <p:txBody>
          <a:bodyPr wrap="square" lIns="0" tIns="0" rIns="0" bIns="0" rtlCol="0" anchor="ctr"/>
          <a:lstStyle/>
          <a:p>
            <a:pPr indent="0" marL="0">
              <a:buNone/>
            </a:pPr>
            <a:r>
              <a:rPr lang="en-US" sz="1300" b="1" dirty="0">
                <a:solidFill>
                  <a:srgbClr val="1F2226"/>
                </a:solidFill>
                <a:latin typeface="Arial" pitchFamily="34" charset="0"/>
                <a:ea typeface="Arial" pitchFamily="34" charset="-122"/>
                <a:cs typeface="Arial" pitchFamily="34" charset="-120"/>
              </a:rPr>
              <a:t>귀속 모호 조건</a:t>
            </a:r>
            <a:endParaRPr lang="en-US" sz="1300" dirty="0"/>
          </a:p>
        </p:txBody>
      </p:sp>
      <p:sp>
        <p:nvSpPr>
          <p:cNvPr id="42" name="Text 40"/>
          <p:cNvSpPr/>
          <p:nvPr/>
        </p:nvSpPr>
        <p:spPr>
          <a:xfrm>
            <a:off x="7746797" y="6100877"/>
            <a:ext cx="5815584" cy="548640"/>
          </a:xfrm>
          <a:prstGeom prst="rect">
            <a:avLst/>
          </a:prstGeom>
          <a:noFill/>
          <a:ln/>
        </p:spPr>
        <p:txBody>
          <a:bodyPr wrap="square" lIns="0" tIns="0" rIns="0" bIns="0" rtlCol="0" anchor="ctr"/>
          <a:lstStyle/>
          <a:p>
            <a:pPr indent="0" marL="0">
              <a:lnSpc>
                <a:spcPts val="2040"/>
              </a:lnSpc>
              <a:buNone/>
            </a:pPr>
            <a:r>
              <a:rPr lang="en-US" sz="1200" dirty="0">
                <a:solidFill>
                  <a:srgbClr val="1F2226"/>
                </a:solidFill>
                <a:latin typeface="Arial" pitchFamily="34" charset="0"/>
                <a:ea typeface="Arial" pitchFamily="34" charset="-122"/>
                <a:cs typeface="Arial" pitchFamily="34" charset="-120"/>
              </a:rPr>
              <a:t>「 AI 산출물이 본인의 설계 의도에 부합하여 추가 검토 없이 활용했다 」</a:t>
            </a:r>
            <a:endParaRPr lang="en-US" sz="1200" dirty="0"/>
          </a:p>
        </p:txBody>
      </p:sp>
      <p:sp>
        <p:nvSpPr>
          <p:cNvPr id="43" name="Text 41"/>
          <p:cNvSpPr/>
          <p:nvPr/>
        </p:nvSpPr>
        <p:spPr>
          <a:xfrm>
            <a:off x="7746797" y="6649517"/>
            <a:ext cx="5815584" cy="285293"/>
          </a:xfrm>
          <a:prstGeom prst="rect">
            <a:avLst/>
          </a:prstGeom>
          <a:noFill/>
          <a:ln/>
        </p:spPr>
        <p:txBody>
          <a:bodyPr wrap="square" lIns="0" tIns="0" rIns="0" bIns="0" rtlCol="0" anchor="ctr"/>
          <a:lstStyle/>
          <a:p>
            <a:pPr indent="0" marL="0">
              <a:buNone/>
            </a:pPr>
            <a:r>
              <a:rPr lang="en-US" sz="1050" dirty="0">
                <a:solidFill>
                  <a:srgbClr val="70757C"/>
                </a:solidFill>
                <a:latin typeface="Arial" pitchFamily="34" charset="0"/>
                <a:ea typeface="Arial" pitchFamily="34" charset="-122"/>
                <a:cs typeface="Arial" pitchFamily="34" charset="-120"/>
              </a:rPr>
              <a:t>내 판단의 흔적이 옅다</a:t>
            </a:r>
            <a:endParaRPr lang="en-US" sz="1050" dirty="0"/>
          </a:p>
        </p:txBody>
      </p:sp>
      <p:sp>
        <p:nvSpPr>
          <p:cNvPr id="44" name="Text 42"/>
          <p:cNvSpPr/>
          <p:nvPr/>
        </p:nvSpPr>
        <p:spPr>
          <a:xfrm>
            <a:off x="768096" y="7154266"/>
            <a:ext cx="13112496" cy="307238"/>
          </a:xfrm>
          <a:prstGeom prst="rect">
            <a:avLst/>
          </a:prstGeom>
          <a:noFill/>
          <a:ln/>
        </p:spPr>
        <p:txBody>
          <a:bodyPr wrap="square" lIns="0" tIns="0" rIns="0" bIns="0" rtlCol="0" anchor="ctr"/>
          <a:lstStyle/>
          <a:p>
            <a:pPr indent="0" marL="0">
              <a:buNone/>
            </a:pPr>
            <a:r>
              <a:rPr lang="en-US" sz="1100" dirty="0">
                <a:solidFill>
                  <a:srgbClr val="70757C"/>
                </a:solidFill>
                <a:latin typeface="Arial" pitchFamily="34" charset="0"/>
                <a:ea typeface="Arial" pitchFamily="34" charset="-122"/>
                <a:cs typeface="Arial" pitchFamily="34" charset="-120"/>
              </a:rPr>
              <a:t>품질·난이도·평가 결과는 어느 조건에도 쓰지 않는다 — 쓰면 분배 결과가 생겨 DV가 오염된다</a:t>
            </a:r>
            <a:endParaRPr lang="en-US" sz="1100" dirty="0"/>
          </a:p>
        </p:txBody>
      </p:sp>
      <p:sp>
        <p:nvSpPr>
          <p:cNvPr id="45" name="Text 43"/>
          <p:cNvSpPr/>
          <p:nvPr/>
        </p:nvSpPr>
        <p:spPr>
          <a:xfrm>
            <a:off x="12508992" y="7626096"/>
            <a:ext cx="1448410" cy="307238"/>
          </a:xfrm>
          <a:prstGeom prst="rect">
            <a:avLst/>
          </a:prstGeom>
          <a:noFill/>
          <a:ln/>
        </p:spPr>
        <p:txBody>
          <a:bodyPr wrap="square" lIns="0" tIns="0" rIns="0" bIns="0" rtlCol="0" anchor="ctr"/>
          <a:lstStyle/>
          <a:p>
            <a:pPr algn="r" indent="0" marL="0">
              <a:buNone/>
            </a:pPr>
            <a:r>
              <a:rPr lang="en-US" sz="1000" dirty="0">
                <a:solidFill>
                  <a:srgbClr val="70757C"/>
                </a:solidFill>
                <a:latin typeface="Arial" pitchFamily="34" charset="0"/>
                <a:ea typeface="Arial" pitchFamily="34" charset="-122"/>
                <a:cs typeface="Arial" pitchFamily="34" charset="-120"/>
              </a:rPr>
              <a:t>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8339328" y="329184"/>
            <a:ext cx="4992624" cy="285293"/>
          </a:xfrm>
          <a:prstGeom prst="rect">
            <a:avLst/>
          </a:prstGeom>
          <a:noFill/>
          <a:ln/>
        </p:spPr>
        <p:txBody>
          <a:bodyPr wrap="square" lIns="0" tIns="0" rIns="0" bIns="0" rtlCol="0" anchor="ctr"/>
          <a:lstStyle/>
          <a:p>
            <a:pPr algn="r" indent="0" marL="0">
              <a:buNone/>
            </a:pPr>
            <a:r>
              <a:rPr lang="en-US" sz="1050" dirty="0">
                <a:solidFill>
                  <a:srgbClr val="70757C"/>
                </a:solidFill>
                <a:latin typeface="Arial" pitchFamily="34" charset="0"/>
                <a:ea typeface="Arial" pitchFamily="34" charset="-122"/>
                <a:cs typeface="Arial" pitchFamily="34" charset="-120"/>
              </a:rPr>
              <a:t>2026학년도 석사학위논문</a:t>
            </a:r>
            <a:endParaRPr lang="en-US" sz="1050" dirty="0"/>
          </a:p>
        </p:txBody>
      </p:sp>
      <p:sp>
        <p:nvSpPr>
          <p:cNvPr id="3" name="Text 1"/>
          <p:cNvSpPr/>
          <p:nvPr/>
        </p:nvSpPr>
        <p:spPr>
          <a:xfrm>
            <a:off x="8339328" y="603504"/>
            <a:ext cx="4992624" cy="307238"/>
          </a:xfrm>
          <a:prstGeom prst="rect">
            <a:avLst/>
          </a:prstGeom>
          <a:noFill/>
          <a:ln/>
        </p:spPr>
        <p:txBody>
          <a:bodyPr wrap="square" lIns="0" tIns="0" rIns="0" bIns="0" rtlCol="0" anchor="ctr"/>
          <a:lstStyle/>
          <a:p>
            <a:pPr algn="r" indent="0" marL="0">
              <a:buNone/>
            </a:pPr>
            <a:r>
              <a:rPr lang="en-US" sz="1200" b="1" dirty="0">
                <a:solidFill>
                  <a:srgbClr val="1F2226"/>
                </a:solidFill>
                <a:latin typeface="Arial" pitchFamily="34" charset="0"/>
                <a:ea typeface="Arial" pitchFamily="34" charset="-122"/>
                <a:cs typeface="Arial" pitchFamily="34" charset="-120"/>
              </a:rPr>
              <a:t>프로포절 심사</a:t>
            </a:r>
            <a:endParaRPr lang="en-US" sz="1200" dirty="0"/>
          </a:p>
        </p:txBody>
      </p:sp>
      <p:sp>
        <p:nvSpPr>
          <p:cNvPr id="4" name="Shape 2"/>
          <p:cNvSpPr/>
          <p:nvPr/>
        </p:nvSpPr>
        <p:spPr>
          <a:xfrm>
            <a:off x="680314" y="1009498"/>
            <a:ext cx="13277088" cy="0"/>
          </a:xfrm>
          <a:prstGeom prst="line">
            <a:avLst/>
          </a:prstGeom>
          <a:noFill/>
          <a:ln w="12700">
            <a:solidFill>
              <a:srgbClr val="C9CDD3"/>
            </a:solidFill>
            <a:prstDash val="solid"/>
          </a:ln>
        </p:spPr>
      </p:sp>
      <p:sp>
        <p:nvSpPr>
          <p:cNvPr id="5" name="Shape 3"/>
          <p:cNvSpPr/>
          <p:nvPr/>
        </p:nvSpPr>
        <p:spPr>
          <a:xfrm>
            <a:off x="8339328" y="1009498"/>
            <a:ext cx="5618074" cy="0"/>
          </a:xfrm>
          <a:prstGeom prst="line">
            <a:avLst/>
          </a:prstGeom>
          <a:noFill/>
          <a:ln w="25400">
            <a:solidFill>
              <a:srgbClr val="8C2A32"/>
            </a:solidFill>
            <a:prstDash val="solid"/>
          </a:ln>
        </p:spPr>
      </p:sp>
      <p:sp>
        <p:nvSpPr>
          <p:cNvPr id="6" name="Shape 4"/>
          <p:cNvSpPr/>
          <p:nvPr/>
        </p:nvSpPr>
        <p:spPr>
          <a:xfrm>
            <a:off x="680314" y="1207008"/>
            <a:ext cx="899770" cy="899770"/>
          </a:xfrm>
          <a:prstGeom prst="ellipse">
            <a:avLst/>
          </a:prstGeom>
          <a:solidFill>
            <a:srgbClr val="FFFFFF">
              <a:alpha val="0"/>
            </a:srgbClr>
          </a:solidFill>
          <a:ln w="63500">
            <a:solidFill>
              <a:srgbClr val="8C2A32"/>
            </a:solidFill>
            <a:prstDash val="solid"/>
          </a:ln>
        </p:spPr>
      </p:sp>
      <p:sp>
        <p:nvSpPr>
          <p:cNvPr id="7" name="Shape 5"/>
          <p:cNvSpPr/>
          <p:nvPr/>
        </p:nvSpPr>
        <p:spPr>
          <a:xfrm>
            <a:off x="1207008" y="1119226"/>
            <a:ext cx="680314" cy="1075334"/>
          </a:xfrm>
          <a:prstGeom prst="rect">
            <a:avLst/>
          </a:prstGeom>
          <a:solidFill>
            <a:srgbClr val="FFFFFF"/>
          </a:solidFill>
          <a:ln w="12700">
            <a:solidFill>
              <a:srgbClr val="FFFFFF"/>
            </a:solidFill>
            <a:prstDash val="solid"/>
          </a:ln>
        </p:spPr>
      </p:sp>
      <p:sp>
        <p:nvSpPr>
          <p:cNvPr id="8" name="Text 6"/>
          <p:cNvSpPr/>
          <p:nvPr/>
        </p:nvSpPr>
        <p:spPr>
          <a:xfrm>
            <a:off x="1119226" y="1207008"/>
            <a:ext cx="12508992" cy="899770"/>
          </a:xfrm>
          <a:prstGeom prst="rect">
            <a:avLst/>
          </a:prstGeom>
          <a:noFill/>
          <a:ln/>
        </p:spPr>
        <p:txBody>
          <a:bodyPr wrap="square" lIns="0" tIns="0" rIns="0" bIns="0" rtlCol="0" anchor="ctr"/>
          <a:lstStyle/>
          <a:p>
            <a:pPr indent="0" marL="0">
              <a:buNone/>
            </a:pPr>
            <a:r>
              <a:rPr lang="en-US" sz="2600" b="1" dirty="0">
                <a:solidFill>
                  <a:srgbClr val="1F2226"/>
                </a:solidFill>
                <a:latin typeface="Arial" pitchFamily="34" charset="0"/>
                <a:ea typeface="Arial" pitchFamily="34" charset="-122"/>
                <a:cs typeface="Arial" pitchFamily="34" charset="-120"/>
              </a:rPr>
              <a:t>Appendix F. 측정 문항</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68096" y="2370125"/>
          <a:ext cx="13112496" cy="914400"/>
        </p:xfrm>
        <a:graphic>
          <a:graphicData uri="http://schemas.openxmlformats.org/drawingml/2006/table">
            <a:tbl>
              <a:tblPr/>
              <a:tblGrid>
                <a:gridCol w="932688"/>
                <a:gridCol w="8778240"/>
                <a:gridCol w="3401568"/>
              </a:tblGrid>
              <a:tr h="345643">
                <a:tc>
                  <a:txBody>
                    <a:bodyPr/>
                    <a:lstStyle/>
                    <a:p>
                      <a:pPr indent="0" marL="0">
                        <a:buNone/>
                      </a:pPr>
                      <a:r>
                        <a:rPr lang="en-US" sz="1050" b="1" dirty="0">
                          <a:solidFill>
                            <a:srgbClr val="1F2226"/>
                          </a:solidFill>
                          <a:latin typeface="Arial" pitchFamily="34" charset="0"/>
                          <a:ea typeface="Arial" pitchFamily="34" charset="-122"/>
                          <a:cs typeface="Arial" pitchFamily="34" charset="-120"/>
                        </a:rPr>
                        <a:t>구분</a:t>
                      </a:r>
                      <a:endParaRPr lang="en-US" sz="105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050" b="1" dirty="0">
                          <a:solidFill>
                            <a:srgbClr val="1F2226"/>
                          </a:solidFill>
                          <a:latin typeface="Arial" pitchFamily="34" charset="0"/>
                          <a:ea typeface="Arial" pitchFamily="34" charset="-122"/>
                          <a:cs typeface="Arial" pitchFamily="34" charset="-120"/>
                        </a:rPr>
                        <a:t>문항</a:t>
                      </a:r>
                      <a:endParaRPr lang="en-US" sz="105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050" b="1" dirty="0">
                          <a:solidFill>
                            <a:srgbClr val="1F2226"/>
                          </a:solidFill>
                          <a:latin typeface="Arial" pitchFamily="34" charset="0"/>
                          <a:ea typeface="Arial" pitchFamily="34" charset="-122"/>
                          <a:cs typeface="Arial" pitchFamily="34" charset="-120"/>
                        </a:rPr>
                        <a:t>근거</a:t>
                      </a:r>
                      <a:endParaRPr lang="en-US" sz="105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345643">
                <a:tc>
                  <a:txBody>
                    <a:bodyPr/>
                    <a:lstStyle/>
                    <a:p>
                      <a:pPr indent="0" marL="0">
                        <a:buNone/>
                      </a:pPr>
                      <a:r>
                        <a:rPr lang="en-US" sz="1050" dirty="0">
                          <a:solidFill>
                            <a:srgbClr val="1F2226"/>
                          </a:solidFill>
                          <a:latin typeface="Arial" pitchFamily="34" charset="0"/>
                          <a:ea typeface="Arial" pitchFamily="34" charset="-122"/>
                          <a:cs typeface="Arial" pitchFamily="34" charset="-120"/>
                        </a:rPr>
                        <a:t>MC1</a:t>
                      </a:r>
                      <a:endParaRPr lang="en-US" sz="105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050" dirty="0">
                          <a:solidFill>
                            <a:srgbClr val="1F2226"/>
                          </a:solidFill>
                          <a:latin typeface="Arial" pitchFamily="34" charset="0"/>
                          <a:ea typeface="Arial" pitchFamily="34" charset="-122"/>
                          <a:cs typeface="Arial" pitchFamily="34" charset="-120"/>
                        </a:rPr>
                        <a:t>나는 이 성과가 나의 역량에서 비롯된 것인지 AI의 기여에서 비롯된 것인지 구분하기 어렵다고 느낀다</a:t>
                      </a:r>
                      <a:endParaRPr lang="en-US" sz="105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050" dirty="0">
                          <a:solidFill>
                            <a:srgbClr val="1F2226"/>
                          </a:solidFill>
                          <a:latin typeface="Arial" pitchFamily="34" charset="0"/>
                          <a:ea typeface="Arial" pitchFamily="34" charset="-122"/>
                          <a:cs typeface="Arial" pitchFamily="34" charset="-120"/>
                        </a:rPr>
                        <a:t>조작 점검 · 신규</a:t>
                      </a:r>
                      <a:endParaRPr lang="en-US" sz="105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345643">
                <a:tc>
                  <a:txBody>
                    <a:bodyPr/>
                    <a:lstStyle/>
                    <a:p>
                      <a:pPr indent="0" marL="0">
                        <a:buNone/>
                      </a:pPr>
                      <a:r>
                        <a:rPr lang="en-US" sz="1050" dirty="0">
                          <a:solidFill>
                            <a:srgbClr val="1F2226"/>
                          </a:solidFill>
                          <a:latin typeface="Arial" pitchFamily="34" charset="0"/>
                          <a:ea typeface="Arial" pitchFamily="34" charset="-122"/>
                          <a:cs typeface="Arial" pitchFamily="34" charset="-120"/>
                        </a:rPr>
                        <a:t>MC2</a:t>
                      </a:r>
                      <a:endParaRPr lang="en-US" sz="105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050" dirty="0">
                          <a:solidFill>
                            <a:srgbClr val="1F2226"/>
                          </a:solidFill>
                          <a:latin typeface="Arial" pitchFamily="34" charset="0"/>
                          <a:ea typeface="Arial" pitchFamily="34" charset="-122"/>
                          <a:cs typeface="Arial" pitchFamily="34" charset="-120"/>
                        </a:rPr>
                        <a:t>나는 이 결과물에서 나의 순수 기여분을 식별하기 어렵다고 느낀다</a:t>
                      </a:r>
                      <a:endParaRPr lang="en-US" sz="105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050" dirty="0">
                          <a:solidFill>
                            <a:srgbClr val="1F2226"/>
                          </a:solidFill>
                          <a:latin typeface="Arial" pitchFamily="34" charset="0"/>
                          <a:ea typeface="Arial" pitchFamily="34" charset="-122"/>
                          <a:cs typeface="Arial" pitchFamily="34" charset="-120"/>
                        </a:rPr>
                        <a:t>조작 점검 · 신규</a:t>
                      </a:r>
                      <a:endParaRPr lang="en-US" sz="105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345643">
                <a:tc>
                  <a:txBody>
                    <a:bodyPr/>
                    <a:lstStyle/>
                    <a:p>
                      <a:pPr indent="0" marL="0">
                        <a:buNone/>
                      </a:pPr>
                      <a:r>
                        <a:rPr lang="en-US" sz="1050" dirty="0">
                          <a:solidFill>
                            <a:srgbClr val="1F2226"/>
                          </a:solidFill>
                          <a:latin typeface="Arial" pitchFamily="34" charset="0"/>
                          <a:ea typeface="Arial" pitchFamily="34" charset="-122"/>
                          <a:cs typeface="Arial" pitchFamily="34" charset="-120"/>
                        </a:rPr>
                        <a:t>MC3</a:t>
                      </a:r>
                      <a:endParaRPr lang="en-US" sz="105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050" dirty="0">
                          <a:solidFill>
                            <a:srgbClr val="1F2226"/>
                          </a:solidFill>
                          <a:latin typeface="Arial" pitchFamily="34" charset="0"/>
                          <a:ea typeface="Arial" pitchFamily="34" charset="-122"/>
                          <a:cs typeface="Arial" pitchFamily="34" charset="-120"/>
                        </a:rPr>
                        <a:t>나는 이 성과가 나의 기여와 AI의 기여가 분리하기 어렵게 결합되어 있다고 느낀다</a:t>
                      </a:r>
                      <a:endParaRPr lang="en-US" sz="105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050" dirty="0">
                          <a:solidFill>
                            <a:srgbClr val="1F2226"/>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345643">
                <a:tc>
                  <a:txBody>
                    <a:bodyPr/>
                    <a:lstStyle/>
                    <a:p>
                      <a:pPr indent="0" marL="0">
                        <a:buNone/>
                      </a:pPr>
                      <a:r>
                        <a:rPr lang="en-US" sz="1050" dirty="0">
                          <a:solidFill>
                            <a:srgbClr val="1F2226"/>
                          </a:solidFill>
                          <a:latin typeface="Arial" pitchFamily="34" charset="0"/>
                          <a:ea typeface="Arial" pitchFamily="34" charset="-122"/>
                          <a:cs typeface="Arial" pitchFamily="34" charset="-120"/>
                        </a:rPr>
                        <a:t>MC4</a:t>
                      </a:r>
                      <a:endParaRPr lang="en-US" sz="105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050" dirty="0">
                          <a:solidFill>
                            <a:srgbClr val="1F2226"/>
                          </a:solidFill>
                          <a:latin typeface="Arial" pitchFamily="34" charset="0"/>
                          <a:ea typeface="Arial" pitchFamily="34" charset="-122"/>
                          <a:cs typeface="Arial" pitchFamily="34" charset="-120"/>
                        </a:rPr>
                        <a:t>나는 이 성과의 실제 기여 주체를 명확히 판단하기 어렵다고 느낀다</a:t>
                      </a:r>
                      <a:endParaRPr lang="en-US" sz="105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050" dirty="0">
                          <a:solidFill>
                            <a:srgbClr val="1F2226"/>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345643">
                <a:tc>
                  <a:txBody>
                    <a:bodyPr/>
                    <a:lstStyle/>
                    <a:p>
                      <a:pPr indent="0" marL="0">
                        <a:buNone/>
                      </a:pPr>
                      <a:r>
                        <a:rPr lang="en-US" sz="1050" dirty="0">
                          <a:solidFill>
                            <a:srgbClr val="1F2226"/>
                          </a:solidFill>
                          <a:latin typeface="Arial" pitchFamily="34" charset="0"/>
                          <a:ea typeface="Arial" pitchFamily="34" charset="-122"/>
                          <a:cs typeface="Arial" pitchFamily="34" charset="-120"/>
                        </a:rPr>
                        <a:t>MV1</a:t>
                      </a:r>
                      <a:endParaRPr lang="en-US" sz="105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050" dirty="0">
                          <a:solidFill>
                            <a:srgbClr val="1F2226"/>
                          </a:solidFill>
                          <a:latin typeface="Arial" pitchFamily="34" charset="0"/>
                          <a:ea typeface="Arial" pitchFamily="34" charset="-122"/>
                          <a:cs typeface="Arial" pitchFamily="34" charset="-120"/>
                        </a:rPr>
                        <a:t>이 성과에 대해 내가 어떤 평가를 받을지 확신할 수 없다</a:t>
                      </a:r>
                      <a:endParaRPr lang="en-US" sz="105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050" dirty="0">
                          <a:solidFill>
                            <a:srgbClr val="1F2226"/>
                          </a:solidFill>
                          <a:latin typeface="Arial" pitchFamily="34" charset="0"/>
                          <a:ea typeface="Arial" pitchFamily="34" charset="-122"/>
                          <a:cs typeface="Arial" pitchFamily="34" charset="-120"/>
                        </a:rPr>
                        <a:t>Rizzo(1970) 정의 ⑴ (p.155)</a:t>
                      </a:r>
                      <a:endParaRPr lang="en-US" sz="105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345643">
                <a:tc>
                  <a:txBody>
                    <a:bodyPr/>
                    <a:lstStyle/>
                    <a:p>
                      <a:pPr indent="0" marL="0">
                        <a:buNone/>
                      </a:pPr>
                      <a:r>
                        <a:rPr lang="en-US" sz="1050" dirty="0">
                          <a:solidFill>
                            <a:srgbClr val="1F2226"/>
                          </a:solidFill>
                          <a:latin typeface="Arial" pitchFamily="34" charset="0"/>
                          <a:ea typeface="Arial" pitchFamily="34" charset="-122"/>
                          <a:cs typeface="Arial" pitchFamily="34" charset="-120"/>
                        </a:rPr>
                        <a:t>MV2</a:t>
                      </a:r>
                      <a:endParaRPr lang="en-US" sz="105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050" dirty="0">
                          <a:solidFill>
                            <a:srgbClr val="1F2226"/>
                          </a:solidFill>
                          <a:latin typeface="Arial" pitchFamily="34" charset="0"/>
                          <a:ea typeface="Arial" pitchFamily="34" charset="-122"/>
                          <a:cs typeface="Arial" pitchFamily="34" charset="-120"/>
                        </a:rPr>
                        <a:t>이 성과에 대한 평가 결과가 어느 수준일지 가늠하기 어렵다</a:t>
                      </a:r>
                      <a:endParaRPr lang="en-US" sz="105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050" dirty="0">
                          <a:solidFill>
                            <a:srgbClr val="1F2226"/>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345643">
                <a:tc>
                  <a:txBody>
                    <a:bodyPr/>
                    <a:lstStyle/>
                    <a:p>
                      <a:pPr indent="0" marL="0">
                        <a:buNone/>
                      </a:pPr>
                      <a:r>
                        <a:rPr lang="en-US" sz="1050" dirty="0">
                          <a:solidFill>
                            <a:srgbClr val="1F2226"/>
                          </a:solidFill>
                          <a:latin typeface="Arial" pitchFamily="34" charset="0"/>
                          <a:ea typeface="Arial" pitchFamily="34" charset="-122"/>
                          <a:cs typeface="Arial" pitchFamily="34" charset="-120"/>
                        </a:rPr>
                        <a:t>MV3</a:t>
                      </a:r>
                      <a:endParaRPr lang="en-US" sz="105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050" dirty="0">
                          <a:solidFill>
                            <a:srgbClr val="1F2226"/>
                          </a:solidFill>
                          <a:latin typeface="Arial" pitchFamily="34" charset="0"/>
                          <a:ea typeface="Arial" pitchFamily="34" charset="-122"/>
                          <a:cs typeface="Arial" pitchFamily="34" charset="-120"/>
                        </a:rPr>
                        <a:t>나의 업무에 대한 노력이 어떤 평가로 귀결될지 예상하기 어렵다</a:t>
                      </a:r>
                      <a:endParaRPr lang="en-US" sz="105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050" dirty="0">
                          <a:solidFill>
                            <a:srgbClr val="1F2226"/>
                          </a:solidFill>
                          <a:latin typeface="Arial" pitchFamily="34" charset="0"/>
                          <a:ea typeface="Arial" pitchFamily="34" charset="-122"/>
                          <a:cs typeface="Arial" pitchFamily="34" charset="-120"/>
                        </a:rPr>
                        <a:t>Rizzo ⑴ + Weiner(1985)</a:t>
                      </a:r>
                      <a:endParaRPr lang="en-US" sz="105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345643">
                <a:tc>
                  <a:txBody>
                    <a:bodyPr/>
                    <a:lstStyle/>
                    <a:p>
                      <a:pPr indent="0" marL="0">
                        <a:buNone/>
                      </a:pPr>
                      <a:r>
                        <a:rPr lang="en-US" sz="1050" dirty="0">
                          <a:solidFill>
                            <a:srgbClr val="1F2226"/>
                          </a:solidFill>
                          <a:latin typeface="Arial" pitchFamily="34" charset="0"/>
                          <a:ea typeface="Arial" pitchFamily="34" charset="-122"/>
                          <a:cs typeface="Arial" pitchFamily="34" charset="-120"/>
                        </a:rPr>
                        <a:t>MV4</a:t>
                      </a:r>
                      <a:endParaRPr lang="en-US" sz="105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050" dirty="0">
                          <a:solidFill>
                            <a:srgbClr val="1F2226"/>
                          </a:solidFill>
                          <a:latin typeface="Arial" pitchFamily="34" charset="0"/>
                          <a:ea typeface="Arial" pitchFamily="34" charset="-122"/>
                          <a:cs typeface="Arial" pitchFamily="34" charset="-120"/>
                        </a:rPr>
                        <a:t>나의 업무 투입 시간이 어떤 평가로 귀결될지 예상하기 어렵다</a:t>
                      </a:r>
                      <a:endParaRPr lang="en-US" sz="105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050" dirty="0">
                          <a:solidFill>
                            <a:srgbClr val="1F2226"/>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345643">
                <a:tc>
                  <a:txBody>
                    <a:bodyPr/>
                    <a:lstStyle/>
                    <a:p>
                      <a:pPr indent="0" marL="0">
                        <a:buNone/>
                      </a:pPr>
                      <a:r>
                        <a:rPr lang="en-US" sz="1050" dirty="0">
                          <a:solidFill>
                            <a:srgbClr val="1F2226"/>
                          </a:solidFill>
                          <a:latin typeface="Arial" pitchFamily="34" charset="0"/>
                          <a:ea typeface="Arial" pitchFamily="34" charset="-122"/>
                          <a:cs typeface="Arial" pitchFamily="34" charset="-120"/>
                        </a:rPr>
                        <a:t>DV1</a:t>
                      </a:r>
                      <a:endParaRPr lang="en-US" sz="105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050" dirty="0">
                          <a:solidFill>
                            <a:srgbClr val="1F2226"/>
                          </a:solidFill>
                          <a:latin typeface="Arial" pitchFamily="34" charset="0"/>
                          <a:ea typeface="Arial" pitchFamily="34" charset="-122"/>
                          <a:cs typeface="Arial" pitchFamily="34" charset="-120"/>
                        </a:rPr>
                        <a:t>이 성과평가 절차는 모든 구성원에게 동일한 기준으로 적용된다</a:t>
                      </a:r>
                      <a:endParaRPr lang="en-US" sz="105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050" dirty="0">
                          <a:solidFill>
                            <a:srgbClr val="1F2226"/>
                          </a:solidFill>
                          <a:latin typeface="Arial" pitchFamily="34" charset="0"/>
                          <a:ea typeface="Arial" pitchFamily="34" charset="-122"/>
                          <a:cs typeface="Arial" pitchFamily="34" charset="-120"/>
                        </a:rPr>
                        <a:t>N&amp;M(1993) Table 1 p.541 item 5 (λ=.901)</a:t>
                      </a:r>
                      <a:endParaRPr lang="en-US" sz="105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345643">
                <a:tc>
                  <a:txBody>
                    <a:bodyPr/>
                    <a:lstStyle/>
                    <a:p>
                      <a:pPr indent="0" marL="0">
                        <a:buNone/>
                      </a:pPr>
                      <a:r>
                        <a:rPr lang="en-US" sz="1050" dirty="0">
                          <a:solidFill>
                            <a:srgbClr val="1F2226"/>
                          </a:solidFill>
                          <a:latin typeface="Arial" pitchFamily="34" charset="0"/>
                          <a:ea typeface="Arial" pitchFamily="34" charset="-122"/>
                          <a:cs typeface="Arial" pitchFamily="34" charset="-120"/>
                        </a:rPr>
                        <a:t>DV3</a:t>
                      </a:r>
                      <a:endParaRPr lang="en-US" sz="105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050" dirty="0">
                          <a:solidFill>
                            <a:srgbClr val="1F2226"/>
                          </a:solidFill>
                          <a:latin typeface="Arial" pitchFamily="34" charset="0"/>
                          <a:ea typeface="Arial" pitchFamily="34" charset="-122"/>
                          <a:cs typeface="Arial" pitchFamily="34" charset="-120"/>
                        </a:rPr>
                        <a:t>이 성과평가 절차는 특정인에게 유리하거나 불리하게 편향되지 않는다</a:t>
                      </a:r>
                      <a:endParaRPr lang="en-US" sz="105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050" dirty="0">
                          <a:solidFill>
                            <a:srgbClr val="1F2226"/>
                          </a:solidFill>
                          <a:latin typeface="Arial" pitchFamily="34" charset="0"/>
                          <a:ea typeface="Arial" pitchFamily="34" charset="-122"/>
                          <a:cs typeface="Arial" pitchFamily="34" charset="-120"/>
                        </a:rPr>
                        <a:t>Colquitt(2001) Table 1 p.389 item 4</a:t>
                      </a:r>
                      <a:endParaRPr lang="en-US" sz="105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345643">
                <a:tc>
                  <a:txBody>
                    <a:bodyPr/>
                    <a:lstStyle/>
                    <a:p>
                      <a:pPr indent="0" marL="0">
                        <a:buNone/>
                      </a:pPr>
                      <a:r>
                        <a:rPr lang="en-US" sz="1050" dirty="0">
                          <a:solidFill>
                            <a:srgbClr val="1F2226"/>
                          </a:solidFill>
                          <a:latin typeface="Arial" pitchFamily="34" charset="0"/>
                          <a:ea typeface="Arial" pitchFamily="34" charset="-122"/>
                          <a:cs typeface="Arial" pitchFamily="34" charset="-120"/>
                        </a:rPr>
                        <a:t>DV4</a:t>
                      </a:r>
                      <a:endParaRPr lang="en-US" sz="105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050" dirty="0">
                          <a:solidFill>
                            <a:srgbClr val="1F2226"/>
                          </a:solidFill>
                          <a:latin typeface="Arial" pitchFamily="34" charset="0"/>
                          <a:ea typeface="Arial" pitchFamily="34" charset="-122"/>
                          <a:cs typeface="Arial" pitchFamily="34" charset="-120"/>
                        </a:rPr>
                        <a:t>이 평가는 평가자의 개인적 편견 없이 이루어진다</a:t>
                      </a:r>
                      <a:endParaRPr lang="en-US" sz="105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050" dirty="0">
                          <a:solidFill>
                            <a:srgbClr val="1F2226"/>
                          </a:solidFill>
                          <a:latin typeface="Arial" pitchFamily="34" charset="0"/>
                          <a:ea typeface="Arial" pitchFamily="34" charset="-122"/>
                          <a:cs typeface="Arial" pitchFamily="34" charset="-120"/>
                        </a:rPr>
                        <a:t>N&amp;M(1993) Table 1 p.541 item 1 (λ=.897)</a:t>
                      </a:r>
                      <a:endParaRPr lang="en-US" sz="1050" dirty="0">
                        <a:latin typeface="Arial" charset="0"/>
                        <a:ea typeface="Arial" charset="0"/>
                        <a:cs typeface="Arial" charset="0"/>
                      </a:endParaRPr>
                    </a:p>
                  </a:txBody>
                  <a:tcPr marL="88900" marR="88900" marT="25400" marB="254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bl>
          </a:graphicData>
        </a:graphic>
      </p:graphicFrame>
      <p:sp>
        <p:nvSpPr>
          <p:cNvPr id="10" name="Text 7"/>
          <p:cNvSpPr/>
          <p:nvPr/>
        </p:nvSpPr>
        <p:spPr>
          <a:xfrm>
            <a:off x="768096" y="6956755"/>
            <a:ext cx="13112496" cy="307238"/>
          </a:xfrm>
          <a:prstGeom prst="rect">
            <a:avLst/>
          </a:prstGeom>
          <a:noFill/>
          <a:ln/>
        </p:spPr>
        <p:txBody>
          <a:bodyPr wrap="square" lIns="0" tIns="0" rIns="0" bIns="0" rtlCol="0" anchor="ctr"/>
          <a:lstStyle/>
          <a:p>
            <a:pPr indent="0" marL="0">
              <a:buNone/>
            </a:pPr>
            <a:r>
              <a:rPr lang="en-US" sz="1100" dirty="0">
                <a:solidFill>
                  <a:srgbClr val="70757C"/>
                </a:solidFill>
                <a:latin typeface="Arial" pitchFamily="34" charset="0"/>
                <a:ea typeface="Arial" pitchFamily="34" charset="-122"/>
                <a:cs typeface="Arial" pitchFamily="34" charset="-120"/>
              </a:rPr>
              <a:t>DV 3문항은 전원 검증된 원문항에 대응하며 신규 문항이 없다 · MOD 4문항은 재설계 검토 중이라 싣지 않았다</a:t>
            </a:r>
            <a:endParaRPr lang="en-US" sz="1100" dirty="0"/>
          </a:p>
        </p:txBody>
      </p:sp>
      <p:sp>
        <p:nvSpPr>
          <p:cNvPr id="11" name="Text 8"/>
          <p:cNvSpPr/>
          <p:nvPr/>
        </p:nvSpPr>
        <p:spPr>
          <a:xfrm>
            <a:off x="12508992" y="7626096"/>
            <a:ext cx="1448410" cy="307238"/>
          </a:xfrm>
          <a:prstGeom prst="rect">
            <a:avLst/>
          </a:prstGeom>
          <a:noFill/>
          <a:ln/>
        </p:spPr>
        <p:txBody>
          <a:bodyPr wrap="square" lIns="0" tIns="0" rIns="0" bIns="0" rtlCol="0" anchor="ctr"/>
          <a:lstStyle/>
          <a:p>
            <a:pPr algn="r" indent="0" marL="0">
              <a:buNone/>
            </a:pPr>
            <a:r>
              <a:rPr lang="en-US" sz="1000" dirty="0">
                <a:solidFill>
                  <a:srgbClr val="70757C"/>
                </a:solidFill>
                <a:latin typeface="Arial" pitchFamily="34" charset="0"/>
                <a:ea typeface="Arial" pitchFamily="34" charset="-122"/>
                <a:cs typeface="Arial" pitchFamily="34" charset="-120"/>
              </a:rPr>
              <a:t>F</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8339328" y="329184"/>
            <a:ext cx="4992624" cy="285293"/>
          </a:xfrm>
          <a:prstGeom prst="rect">
            <a:avLst/>
          </a:prstGeom>
          <a:noFill/>
          <a:ln/>
        </p:spPr>
        <p:txBody>
          <a:bodyPr wrap="square" lIns="0" tIns="0" rIns="0" bIns="0" rtlCol="0" anchor="ctr"/>
          <a:lstStyle/>
          <a:p>
            <a:pPr algn="r" indent="0" marL="0">
              <a:buNone/>
            </a:pPr>
            <a:r>
              <a:rPr lang="en-US" sz="1050" dirty="0">
                <a:solidFill>
                  <a:srgbClr val="70757C"/>
                </a:solidFill>
                <a:latin typeface="Arial" pitchFamily="34" charset="0"/>
                <a:ea typeface="Arial" pitchFamily="34" charset="-122"/>
                <a:cs typeface="Arial" pitchFamily="34" charset="-120"/>
              </a:rPr>
              <a:t>2026학년도 석사학위논문</a:t>
            </a:r>
            <a:endParaRPr lang="en-US" sz="1050" dirty="0"/>
          </a:p>
        </p:txBody>
      </p:sp>
      <p:sp>
        <p:nvSpPr>
          <p:cNvPr id="3" name="Text 1"/>
          <p:cNvSpPr/>
          <p:nvPr/>
        </p:nvSpPr>
        <p:spPr>
          <a:xfrm>
            <a:off x="8339328" y="603504"/>
            <a:ext cx="4992624" cy="307238"/>
          </a:xfrm>
          <a:prstGeom prst="rect">
            <a:avLst/>
          </a:prstGeom>
          <a:noFill/>
          <a:ln/>
        </p:spPr>
        <p:txBody>
          <a:bodyPr wrap="square" lIns="0" tIns="0" rIns="0" bIns="0" rtlCol="0" anchor="ctr"/>
          <a:lstStyle/>
          <a:p>
            <a:pPr algn="r" indent="0" marL="0">
              <a:buNone/>
            </a:pPr>
            <a:r>
              <a:rPr lang="en-US" sz="1200" b="1" dirty="0">
                <a:solidFill>
                  <a:srgbClr val="1F2226"/>
                </a:solidFill>
                <a:latin typeface="Arial" pitchFamily="34" charset="0"/>
                <a:ea typeface="Arial" pitchFamily="34" charset="-122"/>
                <a:cs typeface="Arial" pitchFamily="34" charset="-120"/>
              </a:rPr>
              <a:t>프로포절 심사</a:t>
            </a:r>
            <a:endParaRPr lang="en-US" sz="1200" dirty="0"/>
          </a:p>
        </p:txBody>
      </p:sp>
      <p:sp>
        <p:nvSpPr>
          <p:cNvPr id="4" name="Shape 2"/>
          <p:cNvSpPr/>
          <p:nvPr/>
        </p:nvSpPr>
        <p:spPr>
          <a:xfrm>
            <a:off x="680314" y="1009498"/>
            <a:ext cx="13277088" cy="0"/>
          </a:xfrm>
          <a:prstGeom prst="line">
            <a:avLst/>
          </a:prstGeom>
          <a:noFill/>
          <a:ln w="12700">
            <a:solidFill>
              <a:srgbClr val="C9CDD3"/>
            </a:solidFill>
            <a:prstDash val="solid"/>
          </a:ln>
        </p:spPr>
      </p:sp>
      <p:sp>
        <p:nvSpPr>
          <p:cNvPr id="5" name="Shape 3"/>
          <p:cNvSpPr/>
          <p:nvPr/>
        </p:nvSpPr>
        <p:spPr>
          <a:xfrm>
            <a:off x="8339328" y="1009498"/>
            <a:ext cx="5618074" cy="0"/>
          </a:xfrm>
          <a:prstGeom prst="line">
            <a:avLst/>
          </a:prstGeom>
          <a:noFill/>
          <a:ln w="25400">
            <a:solidFill>
              <a:srgbClr val="8C2A32"/>
            </a:solidFill>
            <a:prstDash val="solid"/>
          </a:ln>
        </p:spPr>
      </p:sp>
      <p:sp>
        <p:nvSpPr>
          <p:cNvPr id="6" name="Shape 4"/>
          <p:cNvSpPr/>
          <p:nvPr/>
        </p:nvSpPr>
        <p:spPr>
          <a:xfrm>
            <a:off x="680314" y="1207008"/>
            <a:ext cx="899770" cy="899770"/>
          </a:xfrm>
          <a:prstGeom prst="ellipse">
            <a:avLst/>
          </a:prstGeom>
          <a:solidFill>
            <a:srgbClr val="FFFFFF">
              <a:alpha val="0"/>
            </a:srgbClr>
          </a:solidFill>
          <a:ln w="63500">
            <a:solidFill>
              <a:srgbClr val="8C2A32"/>
            </a:solidFill>
            <a:prstDash val="solid"/>
          </a:ln>
        </p:spPr>
      </p:sp>
      <p:sp>
        <p:nvSpPr>
          <p:cNvPr id="7" name="Shape 5"/>
          <p:cNvSpPr/>
          <p:nvPr/>
        </p:nvSpPr>
        <p:spPr>
          <a:xfrm>
            <a:off x="1207008" y="1119226"/>
            <a:ext cx="680314" cy="1075334"/>
          </a:xfrm>
          <a:prstGeom prst="rect">
            <a:avLst/>
          </a:prstGeom>
          <a:solidFill>
            <a:srgbClr val="FFFFFF"/>
          </a:solidFill>
          <a:ln w="12700">
            <a:solidFill>
              <a:srgbClr val="FFFFFF"/>
            </a:solidFill>
            <a:prstDash val="solid"/>
          </a:ln>
        </p:spPr>
      </p:sp>
      <p:sp>
        <p:nvSpPr>
          <p:cNvPr id="8" name="Text 6"/>
          <p:cNvSpPr/>
          <p:nvPr/>
        </p:nvSpPr>
        <p:spPr>
          <a:xfrm>
            <a:off x="1119226" y="1207008"/>
            <a:ext cx="12508992" cy="899770"/>
          </a:xfrm>
          <a:prstGeom prst="rect">
            <a:avLst/>
          </a:prstGeom>
          <a:noFill/>
          <a:ln/>
        </p:spPr>
        <p:txBody>
          <a:bodyPr wrap="square" lIns="0" tIns="0" rIns="0" bIns="0" rtlCol="0" anchor="ctr"/>
          <a:lstStyle/>
          <a:p>
            <a:pPr indent="0" marL="0">
              <a:buNone/>
            </a:pPr>
            <a:r>
              <a:rPr lang="en-US" sz="2600" b="1" dirty="0">
                <a:solidFill>
                  <a:srgbClr val="1F2226"/>
                </a:solidFill>
                <a:latin typeface="Arial" pitchFamily="34" charset="0"/>
                <a:ea typeface="Arial" pitchFamily="34" charset="-122"/>
                <a:cs typeface="Arial" pitchFamily="34" charset="-120"/>
              </a:rPr>
              <a:t>Appendix G. 이론 층 선택의 근거</a:t>
            </a:r>
            <a:endParaRPr lang="en-US" sz="2600" dirty="0"/>
          </a:p>
        </p:txBody>
      </p:sp>
      <p:sp>
        <p:nvSpPr>
          <p:cNvPr id="9" name="Text 7"/>
          <p:cNvSpPr/>
          <p:nvPr/>
        </p:nvSpPr>
        <p:spPr>
          <a:xfrm>
            <a:off x="768096" y="2304288"/>
            <a:ext cx="7680960" cy="329184"/>
          </a:xfrm>
          <a:prstGeom prst="rect">
            <a:avLst/>
          </a:prstGeom>
          <a:noFill/>
          <a:ln/>
        </p:spPr>
        <p:txBody>
          <a:bodyPr wrap="square" lIns="0" tIns="0" rIns="0" bIns="0" rtlCol="0" anchor="ctr"/>
          <a:lstStyle/>
          <a:p>
            <a:pPr algn="l" indent="0" marL="0">
              <a:buNone/>
            </a:pPr>
            <a:r>
              <a:rPr lang="en-US" sz="1300" b="1" dirty="0">
                <a:solidFill>
                  <a:srgbClr val="1F2226"/>
                </a:solidFill>
                <a:latin typeface="Arial" pitchFamily="34" charset="0"/>
                <a:ea typeface="Arial" pitchFamily="34" charset="-122"/>
                <a:cs typeface="Arial" pitchFamily="34" charset="-120"/>
              </a:rPr>
              <a:t>【 UMT 계열 실증 5편 — 불확실성의 배치 】</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68096" y="2699309"/>
          <a:ext cx="13112496" cy="914400"/>
        </p:xfrm>
        <a:graphic>
          <a:graphicData uri="http://schemas.openxmlformats.org/drawingml/2006/table">
            <a:tbl>
              <a:tblPr/>
              <a:tblGrid>
                <a:gridCol w="4718304"/>
                <a:gridCol w="8394192"/>
              </a:tblGrid>
              <a:tr h="416966">
                <a:tc>
                  <a:txBody>
                    <a:bodyPr/>
                    <a:lstStyle/>
                    <a:p>
                      <a:pPr indent="0" marL="0">
                        <a:buNone/>
                      </a:pPr>
                      <a:r>
                        <a:rPr lang="en-US" sz="1150" b="1" dirty="0">
                          <a:solidFill>
                            <a:srgbClr val="1F2226"/>
                          </a:solidFill>
                          <a:latin typeface="Arial" pitchFamily="34" charset="0"/>
                          <a:ea typeface="Arial" pitchFamily="34" charset="-122"/>
                          <a:cs typeface="Arial" pitchFamily="34" charset="-120"/>
                        </a:rPr>
                        <a:t>문헌</a:t>
                      </a:r>
                      <a:endParaRPr lang="en-US" sz="1150" dirty="0">
                        <a:latin typeface="Arial" charset="0"/>
                        <a:ea typeface="Arial" charset="0"/>
                        <a:cs typeface="Arial" charset="0"/>
                      </a:endParaRPr>
                    </a:p>
                  </a:txBody>
                  <a:tcPr marL="101600" marR="1016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b="1" dirty="0">
                          <a:solidFill>
                            <a:srgbClr val="1F2226"/>
                          </a:solidFill>
                          <a:latin typeface="Arial" pitchFamily="34" charset="0"/>
                          <a:ea typeface="Arial" pitchFamily="34" charset="-122"/>
                          <a:cs typeface="Arial" pitchFamily="34" charset="-120"/>
                        </a:rPr>
                        <a:t>불확실성의 배치</a:t>
                      </a:r>
                      <a:endParaRPr lang="en-US" sz="1150" dirty="0">
                        <a:latin typeface="Arial" charset="0"/>
                        <a:ea typeface="Arial" charset="0"/>
                        <a:cs typeface="Arial" charset="0"/>
                      </a:endParaRPr>
                    </a:p>
                  </a:txBody>
                  <a:tcPr marL="101600" marR="1016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416966">
                <a:tc>
                  <a:txBody>
                    <a:bodyPr/>
                    <a:lstStyle/>
                    <a:p>
                      <a:pPr indent="0" marL="0">
                        <a:buNone/>
                      </a:pPr>
                      <a:r>
                        <a:rPr lang="en-US" sz="1150" dirty="0">
                          <a:solidFill>
                            <a:srgbClr val="1F2226"/>
                          </a:solidFill>
                          <a:latin typeface="Arial" pitchFamily="34" charset="0"/>
                          <a:ea typeface="Arial" pitchFamily="34" charset="-122"/>
                          <a:cs typeface="Arial" pitchFamily="34" charset="-120"/>
                        </a:rPr>
                        <a:t>van den Bos (2001) JPSP</a:t>
                      </a:r>
                      <a:endParaRPr lang="en-US" sz="1150" dirty="0">
                        <a:latin typeface="Arial" charset="0"/>
                        <a:ea typeface="Arial" charset="0"/>
                        <a:cs typeface="Arial" charset="0"/>
                      </a:endParaRPr>
                    </a:p>
                  </a:txBody>
                  <a:tcPr marL="101600" marR="1016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불확실성 현저성을 조작 → 절차공정성 반응 강화   ·   조절</a:t>
                      </a:r>
                      <a:endParaRPr lang="en-US" sz="1150" dirty="0">
                        <a:latin typeface="Arial" charset="0"/>
                        <a:ea typeface="Arial" charset="0"/>
                        <a:cs typeface="Arial" charset="0"/>
                      </a:endParaRPr>
                    </a:p>
                  </a:txBody>
                  <a:tcPr marL="101600" marR="1016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416966">
                <a:tc>
                  <a:txBody>
                    <a:bodyPr/>
                    <a:lstStyle/>
                    <a:p>
                      <a:pPr indent="0" marL="0">
                        <a:buNone/>
                      </a:pPr>
                      <a:r>
                        <a:rPr lang="en-US" sz="1150" dirty="0">
                          <a:solidFill>
                            <a:srgbClr val="1F2226"/>
                          </a:solidFill>
                          <a:latin typeface="Arial" pitchFamily="34" charset="0"/>
                          <a:ea typeface="Arial" pitchFamily="34" charset="-122"/>
                          <a:cs typeface="Arial" pitchFamily="34" charset="-120"/>
                        </a:rPr>
                        <a:t>van den Bos &amp; Miedema (2000) JPSP</a:t>
                      </a:r>
                      <a:endParaRPr lang="en-US" sz="1150" dirty="0">
                        <a:latin typeface="Arial" charset="0"/>
                        <a:ea typeface="Arial" charset="0"/>
                        <a:cs typeface="Arial" charset="0"/>
                      </a:endParaRPr>
                    </a:p>
                  </a:txBody>
                  <a:tcPr marL="101600" marR="1016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죽음 현저성 조작 → 절차공정성 반응 변화   ·   조절</a:t>
                      </a:r>
                      <a:endParaRPr lang="en-US" sz="1150" dirty="0">
                        <a:latin typeface="Arial" charset="0"/>
                        <a:ea typeface="Arial" charset="0"/>
                        <a:cs typeface="Arial" charset="0"/>
                      </a:endParaRPr>
                    </a:p>
                  </a:txBody>
                  <a:tcPr marL="101600" marR="1016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416966">
                <a:tc>
                  <a:txBody>
                    <a:bodyPr/>
                    <a:lstStyle/>
                    <a:p>
                      <a:pPr indent="0" marL="0">
                        <a:buNone/>
                      </a:pPr>
                      <a:r>
                        <a:rPr lang="en-US" sz="1150" dirty="0">
                          <a:solidFill>
                            <a:srgbClr val="1F2226"/>
                          </a:solidFill>
                          <a:latin typeface="Arial" pitchFamily="34" charset="0"/>
                          <a:ea typeface="Arial" pitchFamily="34" charset="-122"/>
                          <a:cs typeface="Arial" pitchFamily="34" charset="-120"/>
                        </a:rPr>
                        <a:t>De Cremer &amp; Sedikides (2004) JEP</a:t>
                      </a:r>
                      <a:endParaRPr lang="en-US" sz="1150" dirty="0">
                        <a:latin typeface="Arial" charset="0"/>
                        <a:ea typeface="Arial" charset="0"/>
                        <a:cs typeface="Arial" charset="0"/>
                      </a:endParaRPr>
                    </a:p>
                  </a:txBody>
                  <a:tcPr marL="101600" marR="1016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자기 불확실성이 절차공정성 욕구에 영향   ·   조절 · 개인 특성</a:t>
                      </a:r>
                      <a:endParaRPr lang="en-US" sz="1150" dirty="0">
                        <a:latin typeface="Arial" charset="0"/>
                        <a:ea typeface="Arial" charset="0"/>
                        <a:cs typeface="Arial" charset="0"/>
                      </a:endParaRPr>
                    </a:p>
                  </a:txBody>
                  <a:tcPr marL="101600" marR="1016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416966">
                <a:tc>
                  <a:txBody>
                    <a:bodyPr/>
                    <a:lstStyle/>
                    <a:p>
                      <a:pPr indent="0" marL="0">
                        <a:buNone/>
                      </a:pPr>
                      <a:r>
                        <a:rPr lang="en-US" sz="1150" dirty="0">
                          <a:solidFill>
                            <a:srgbClr val="1F2226"/>
                          </a:solidFill>
                          <a:latin typeface="Arial" pitchFamily="34" charset="0"/>
                          <a:ea typeface="Arial" pitchFamily="34" charset="-122"/>
                          <a:cs typeface="Arial" pitchFamily="34" charset="-120"/>
                        </a:rPr>
                        <a:t>Diekmann, Barsness &amp; Sondak (2004) SJR</a:t>
                      </a:r>
                      <a:endParaRPr lang="en-US" sz="1150" dirty="0">
                        <a:latin typeface="Arial" charset="0"/>
                        <a:ea typeface="Arial" charset="0"/>
                        <a:cs typeface="Arial" charset="0"/>
                      </a:endParaRPr>
                    </a:p>
                  </a:txBody>
                  <a:tcPr marL="101600" marR="1016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평가 기준 불확실성이 높을 때 절차공정성이 직무만족의 더 나은 예측자   ·   조절 · DV=직무만족</a:t>
                      </a:r>
                      <a:endParaRPr lang="en-US" sz="1150" dirty="0">
                        <a:latin typeface="Arial" charset="0"/>
                        <a:ea typeface="Arial" charset="0"/>
                        <a:cs typeface="Arial" charset="0"/>
                      </a:endParaRPr>
                    </a:p>
                  </a:txBody>
                  <a:tcPr marL="101600" marR="1016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416966">
                <a:tc>
                  <a:txBody>
                    <a:bodyPr/>
                    <a:lstStyle/>
                    <a:p>
                      <a:pPr indent="0" marL="0">
                        <a:buNone/>
                      </a:pPr>
                      <a:r>
                        <a:rPr lang="en-US" sz="1150" dirty="0">
                          <a:solidFill>
                            <a:srgbClr val="1F2226"/>
                          </a:solidFill>
                          <a:latin typeface="Arial" pitchFamily="34" charset="0"/>
                          <a:ea typeface="Arial" pitchFamily="34" charset="-122"/>
                          <a:cs typeface="Arial" pitchFamily="34" charset="-120"/>
                        </a:rPr>
                        <a:t>Thau et al. (2009) OBHDP</a:t>
                      </a:r>
                      <a:endParaRPr lang="en-US" sz="1150" dirty="0">
                        <a:latin typeface="Arial" charset="0"/>
                        <a:ea typeface="Arial" charset="0"/>
                        <a:cs typeface="Arial" charset="0"/>
                      </a:endParaRPr>
                    </a:p>
                  </a:txBody>
                  <a:tcPr marL="101600" marR="1016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맥락 불확실성이 학대적 감독 반응을 악화   ·   조절</a:t>
                      </a:r>
                      <a:endParaRPr lang="en-US" sz="1150" dirty="0">
                        <a:latin typeface="Arial" charset="0"/>
                        <a:ea typeface="Arial" charset="0"/>
                        <a:cs typeface="Arial" charset="0"/>
                      </a:endParaRPr>
                    </a:p>
                  </a:txBody>
                  <a:tcPr marL="101600" marR="1016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bl>
          </a:graphicData>
        </a:graphic>
      </p:graphicFrame>
      <p:sp>
        <p:nvSpPr>
          <p:cNvPr id="11" name="Text 8"/>
          <p:cNvSpPr/>
          <p:nvPr/>
        </p:nvSpPr>
        <p:spPr>
          <a:xfrm>
            <a:off x="822960" y="5310835"/>
            <a:ext cx="13002768" cy="329184"/>
          </a:xfrm>
          <a:prstGeom prst="rect">
            <a:avLst/>
          </a:prstGeom>
          <a:noFill/>
          <a:ln/>
        </p:spPr>
        <p:txBody>
          <a:bodyPr wrap="square" lIns="0" tIns="0" rIns="0" bIns="0" rtlCol="0" anchor="ctr"/>
          <a:lstStyle/>
          <a:p>
            <a:pPr indent="0" marL="0">
              <a:buNone/>
            </a:pPr>
            <a:r>
              <a:rPr lang="en-US" sz="1150" b="1" dirty="0">
                <a:solidFill>
                  <a:srgbClr val="1F2226"/>
                </a:solidFill>
                <a:latin typeface="Arial" pitchFamily="34" charset="0"/>
                <a:ea typeface="Arial" pitchFamily="34" charset="-122"/>
                <a:cs typeface="Arial" pitchFamily="34" charset="-120"/>
              </a:rPr>
              <a:t>다섯 편 모두 불확실성을 조절변수 또는 조작된 외생 조건으로 놓는다 — 조직 내 선행요인이 불확실성을 유발하고 공정성 지각으로 이어지는 매개 경로를 검증한 연구는 확인되지 않는다</a:t>
            </a:r>
            <a:endParaRPr lang="en-US" sz="1150" dirty="0"/>
          </a:p>
        </p:txBody>
      </p:sp>
      <p:sp>
        <p:nvSpPr>
          <p:cNvPr id="12" name="Text 9"/>
          <p:cNvSpPr/>
          <p:nvPr/>
        </p:nvSpPr>
        <p:spPr>
          <a:xfrm>
            <a:off x="768096" y="5815584"/>
            <a:ext cx="7680960" cy="329184"/>
          </a:xfrm>
          <a:prstGeom prst="rect">
            <a:avLst/>
          </a:prstGeom>
          <a:noFill/>
          <a:ln/>
        </p:spPr>
        <p:txBody>
          <a:bodyPr wrap="square" lIns="0" tIns="0" rIns="0" bIns="0" rtlCol="0" anchor="ctr"/>
          <a:lstStyle/>
          <a:p>
            <a:pPr algn="l" indent="0" marL="0">
              <a:buNone/>
            </a:pPr>
            <a:r>
              <a:rPr lang="en-US" sz="1300" b="1" dirty="0">
                <a:solidFill>
                  <a:srgbClr val="1F2226"/>
                </a:solidFill>
                <a:latin typeface="Arial" pitchFamily="34" charset="0"/>
                <a:ea typeface="Arial" pitchFamily="34" charset="-122"/>
                <a:cs typeface="Arial" pitchFamily="34" charset="-120"/>
              </a:rPr>
              <a:t>【 Leventhal 규칙 층을 쓰는 방식 】</a:t>
            </a:r>
            <a:endParaRPr lang="en-US" sz="1300" dirty="0"/>
          </a:p>
        </p:txBody>
      </p:sp>
      <p:sp>
        <p:nvSpPr>
          <p:cNvPr id="13" name="Shape 10"/>
          <p:cNvSpPr/>
          <p:nvPr/>
        </p:nvSpPr>
        <p:spPr>
          <a:xfrm>
            <a:off x="768096" y="6210605"/>
            <a:ext cx="6419088" cy="1185062"/>
          </a:xfrm>
          <a:prstGeom prst="rect">
            <a:avLst/>
          </a:prstGeom>
          <a:solidFill>
            <a:srgbClr val="F7F8F9"/>
          </a:solidFill>
          <a:ln w="12700">
            <a:solidFill>
              <a:srgbClr val="C9CDD3"/>
            </a:solidFill>
            <a:prstDash val="solid"/>
          </a:ln>
        </p:spPr>
      </p:sp>
      <p:sp>
        <p:nvSpPr>
          <p:cNvPr id="14" name="Text 11"/>
          <p:cNvSpPr/>
          <p:nvPr/>
        </p:nvSpPr>
        <p:spPr>
          <a:xfrm>
            <a:off x="1053389" y="6331306"/>
            <a:ext cx="5870448" cy="307238"/>
          </a:xfrm>
          <a:prstGeom prst="rect">
            <a:avLst/>
          </a:prstGeom>
          <a:noFill/>
          <a:ln/>
        </p:spPr>
        <p:txBody>
          <a:bodyPr wrap="square" lIns="0" tIns="0" rIns="0" bIns="0" rtlCol="0" anchor="ctr"/>
          <a:lstStyle/>
          <a:p>
            <a:pPr indent="0" marL="0">
              <a:buNone/>
            </a:pPr>
            <a:r>
              <a:rPr lang="en-US" sz="1250" b="1" dirty="0">
                <a:solidFill>
                  <a:srgbClr val="70757C"/>
                </a:solidFill>
                <a:latin typeface="Arial" pitchFamily="34" charset="0"/>
                <a:ea typeface="Arial" pitchFamily="34" charset="-122"/>
                <a:cs typeface="Arial" pitchFamily="34" charset="-120"/>
              </a:rPr>
              <a:t>Hartmann이 비판한 용법</a:t>
            </a:r>
            <a:endParaRPr lang="en-US" sz="1250" dirty="0"/>
          </a:p>
        </p:txBody>
      </p:sp>
      <p:sp>
        <p:nvSpPr>
          <p:cNvPr id="15" name="Text 12"/>
          <p:cNvSpPr/>
          <p:nvPr/>
        </p:nvSpPr>
        <p:spPr>
          <a:xfrm>
            <a:off x="1053389" y="6638544"/>
            <a:ext cx="5870448" cy="373075"/>
          </a:xfrm>
          <a:prstGeom prst="rect">
            <a:avLst/>
          </a:prstGeom>
          <a:noFill/>
          <a:ln/>
        </p:spPr>
        <p:txBody>
          <a:bodyPr wrap="square" lIns="0" tIns="0" rIns="0" bIns="0" rtlCol="0" anchor="ctr"/>
          <a:lstStyle/>
          <a:p>
            <a:pPr indent="0" marL="0">
              <a:lnSpc>
                <a:spcPts val="1800"/>
              </a:lnSpc>
              <a:buNone/>
            </a:pPr>
            <a:r>
              <a:rPr lang="en-US" sz="1100" dirty="0">
                <a:solidFill>
                  <a:srgbClr val="1F2226"/>
                </a:solidFill>
                <a:latin typeface="Arial" pitchFamily="34" charset="0"/>
                <a:ea typeface="Arial" pitchFamily="34" charset="-122"/>
                <a:cs typeface="Arial" pitchFamily="34" charset="-120"/>
              </a:rPr>
              <a:t>Leventhal 원칙을 공정성의 원인을 설명하는 이론으로 사용</a:t>
            </a:r>
            <a:endParaRPr lang="en-US" sz="1100" dirty="0"/>
          </a:p>
        </p:txBody>
      </p:sp>
      <p:sp>
        <p:nvSpPr>
          <p:cNvPr id="16" name="Text 13"/>
          <p:cNvSpPr/>
          <p:nvPr/>
        </p:nvSpPr>
        <p:spPr>
          <a:xfrm>
            <a:off x="1053389" y="7011619"/>
            <a:ext cx="5870448" cy="307238"/>
          </a:xfrm>
          <a:prstGeom prst="rect">
            <a:avLst/>
          </a:prstGeom>
          <a:noFill/>
          <a:ln/>
        </p:spPr>
        <p:txBody>
          <a:bodyPr wrap="square" lIns="0" tIns="0" rIns="0" bIns="0" rtlCol="0" anchor="ctr"/>
          <a:lstStyle/>
          <a:p>
            <a:pPr indent="0" marL="0">
              <a:buNone/>
            </a:pPr>
            <a:r>
              <a:rPr lang="en-US" sz="1100" b="1" dirty="0">
                <a:solidFill>
                  <a:srgbClr val="1F2226"/>
                </a:solidFill>
                <a:latin typeface="Arial" pitchFamily="34" charset="0"/>
                <a:ea typeface="Arial" pitchFamily="34" charset="-122"/>
                <a:cs typeface="Arial" pitchFamily="34" charset="-120"/>
              </a:rPr>
              <a:t>→ 「일관되게 행동하면 공정해 보인다」 (동어반복)</a:t>
            </a:r>
            <a:endParaRPr lang="en-US" sz="1100" dirty="0"/>
          </a:p>
        </p:txBody>
      </p:sp>
      <p:sp>
        <p:nvSpPr>
          <p:cNvPr id="17" name="Shape 14"/>
          <p:cNvSpPr/>
          <p:nvPr/>
        </p:nvSpPr>
        <p:spPr>
          <a:xfrm>
            <a:off x="7439558" y="6210605"/>
            <a:ext cx="6419088" cy="1185062"/>
          </a:xfrm>
          <a:prstGeom prst="rect">
            <a:avLst/>
          </a:prstGeom>
          <a:solidFill>
            <a:srgbClr val="EDEEF0"/>
          </a:solidFill>
          <a:ln w="12700">
            <a:solidFill>
              <a:srgbClr val="E2D2D1"/>
            </a:solidFill>
            <a:prstDash val="solid"/>
          </a:ln>
        </p:spPr>
      </p:sp>
      <p:sp>
        <p:nvSpPr>
          <p:cNvPr id="18" name="Text 15"/>
          <p:cNvSpPr/>
          <p:nvPr/>
        </p:nvSpPr>
        <p:spPr>
          <a:xfrm>
            <a:off x="7724851" y="6331306"/>
            <a:ext cx="5870448" cy="307238"/>
          </a:xfrm>
          <a:prstGeom prst="rect">
            <a:avLst/>
          </a:prstGeom>
          <a:noFill/>
          <a:ln/>
        </p:spPr>
        <p:txBody>
          <a:bodyPr wrap="square" lIns="0" tIns="0" rIns="0" bIns="0" rtlCol="0" anchor="ctr"/>
          <a:lstStyle/>
          <a:p>
            <a:pPr indent="0" marL="0">
              <a:buNone/>
            </a:pPr>
            <a:r>
              <a:rPr lang="en-US" sz="1250" b="1" dirty="0">
                <a:solidFill>
                  <a:srgbClr val="1F2226"/>
                </a:solidFill>
                <a:latin typeface="Arial" pitchFamily="34" charset="0"/>
                <a:ea typeface="Arial" pitchFamily="34" charset="-122"/>
                <a:cs typeface="Arial" pitchFamily="34" charset="-120"/>
              </a:rPr>
              <a:t>본 연구의 용법</a:t>
            </a:r>
            <a:endParaRPr lang="en-US" sz="1250" dirty="0"/>
          </a:p>
        </p:txBody>
      </p:sp>
      <p:sp>
        <p:nvSpPr>
          <p:cNvPr id="19" name="Text 16"/>
          <p:cNvSpPr/>
          <p:nvPr/>
        </p:nvSpPr>
        <p:spPr>
          <a:xfrm>
            <a:off x="7724851" y="6638544"/>
            <a:ext cx="5870448" cy="373075"/>
          </a:xfrm>
          <a:prstGeom prst="rect">
            <a:avLst/>
          </a:prstGeom>
          <a:noFill/>
          <a:ln/>
        </p:spPr>
        <p:txBody>
          <a:bodyPr wrap="square" lIns="0" tIns="0" rIns="0" bIns="0" rtlCol="0" anchor="ctr"/>
          <a:lstStyle/>
          <a:p>
            <a:pPr indent="0" marL="0">
              <a:lnSpc>
                <a:spcPts val="1800"/>
              </a:lnSpc>
              <a:buNone/>
            </a:pPr>
            <a:r>
              <a:rPr lang="en-US" sz="1100" dirty="0">
                <a:solidFill>
                  <a:srgbClr val="1F2226"/>
                </a:solidFill>
                <a:latin typeface="Arial" pitchFamily="34" charset="0"/>
                <a:ea typeface="Arial" pitchFamily="34" charset="-122"/>
                <a:cs typeface="Arial" pitchFamily="34" charset="-120"/>
              </a:rPr>
              <a:t>인과 동력은 귀인이론 기대원리 · Leventhal은 판단의 내용을 규정</a:t>
            </a:r>
            <a:endParaRPr lang="en-US" sz="1100" dirty="0"/>
          </a:p>
        </p:txBody>
      </p:sp>
      <p:sp>
        <p:nvSpPr>
          <p:cNvPr id="20" name="Text 17"/>
          <p:cNvSpPr/>
          <p:nvPr/>
        </p:nvSpPr>
        <p:spPr>
          <a:xfrm>
            <a:off x="7724851" y="7011619"/>
            <a:ext cx="5870448" cy="307238"/>
          </a:xfrm>
          <a:prstGeom prst="rect">
            <a:avLst/>
          </a:prstGeom>
          <a:noFill/>
          <a:ln/>
        </p:spPr>
        <p:txBody>
          <a:bodyPr wrap="square" lIns="0" tIns="0" rIns="0" bIns="0" rtlCol="0" anchor="ctr"/>
          <a:lstStyle/>
          <a:p>
            <a:pPr indent="0" marL="0">
              <a:buNone/>
            </a:pPr>
            <a:r>
              <a:rPr lang="en-US" sz="1100" b="1" dirty="0">
                <a:solidFill>
                  <a:srgbClr val="1F2226"/>
                </a:solidFill>
                <a:latin typeface="Arial" pitchFamily="34" charset="0"/>
                <a:ea typeface="Arial" pitchFamily="34" charset="-122"/>
                <a:cs typeface="Arial" pitchFamily="34" charset="-120"/>
              </a:rPr>
              <a:t>→ 「예측할 수 없으면 규칙 충족 여부를 판단할 근거를 잃는다」</a:t>
            </a:r>
            <a:endParaRPr lang="en-US" sz="1100" dirty="0"/>
          </a:p>
        </p:txBody>
      </p:sp>
      <p:sp>
        <p:nvSpPr>
          <p:cNvPr id="21" name="Text 18"/>
          <p:cNvSpPr/>
          <p:nvPr/>
        </p:nvSpPr>
        <p:spPr>
          <a:xfrm>
            <a:off x="12508992" y="7626096"/>
            <a:ext cx="1448410" cy="307238"/>
          </a:xfrm>
          <a:prstGeom prst="rect">
            <a:avLst/>
          </a:prstGeom>
          <a:noFill/>
          <a:ln/>
        </p:spPr>
        <p:txBody>
          <a:bodyPr wrap="square" lIns="0" tIns="0" rIns="0" bIns="0" rtlCol="0" anchor="ctr"/>
          <a:lstStyle/>
          <a:p>
            <a:pPr algn="r" indent="0" marL="0">
              <a:buNone/>
            </a:pPr>
            <a:r>
              <a:rPr lang="en-US" sz="1000" dirty="0">
                <a:solidFill>
                  <a:srgbClr val="70757C"/>
                </a:solidFill>
                <a:latin typeface="Arial" pitchFamily="34" charset="0"/>
                <a:ea typeface="Arial" pitchFamily="34" charset="-122"/>
                <a:cs typeface="Arial" pitchFamily="34" charset="-120"/>
              </a:rPr>
              <a:t>G</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2026-08-24T00:08:17Z</dcterms:created>
  <dcterms:modified xsi:type="dcterms:W3CDTF">2026-08-24T00:08:17Z</dcterms:modified>
</cp:coreProperties>
</file>