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발표자료는 제출했고, 오늘은 9월 이후 설계에 대해 판단을 구하고자 합니다.
현행 설계로는 학과 9월 일정을 소화하기 어렵다고 스스로 보고 있습니다. 그래서 대안을 하나 준비했습니다.
[ 주의 ] 「두 개를 하고 싶습니다」로 말하지 않는다. 「A로 가고 싶은데 일정이 안 되면 대안입니다」로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병목은 척도입니다. 넷 중 셋이 신규이거나 미확정입니다.
특히 조작이 들어가면 파일럿으로 조작 점검을 해야 하고, 그 결과로 문항을 다시 써야 합니다. 이 두 단계가 3주를 먹습니다.
다 합치면 6~7주이고, 9월에 시작하면 10월 중순에 본조사가 끝납니다.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대안은 Tsai &amp; Wang(2013)의 정확성 지각 모형에 AI 귀속 모호성을 한 층 얹는 것입니다.
그 논문이 검토한 선행요인은 여섯 개인데 모두 평가 제도와 평가자에 관한 것입니다. 평가 대상인 산출물의 속성에서 선행요인을 찾은 연구는 없습니다.
AI 협업에서는 산출물 자체가 개인 기여로 분해되지 않습니다. 제도가 아무리 공정해도 가려낼 것이 없으면 정확성 지각이 성립하지 않을 수 있습니다. 이것이 대안의 공백입니다.
핵심 가설은 H2입니다. 기존 여섯 개를 통제한 뒤에도 남는 설명력이 있는지, 그것이 기여의 크기를 그대로 보여줍니다.
[ 주의 ] 이 논문은 절차공정성을 독립변수로, 정확성 지각을 종속변수로 놓았다. 현행 설계와 방향이 반대다. 물으면 「그 논문은 평가 3~5개월 후 측정이고 제 현행 설계는 평가 전이라 국면이 다릅니다」로 답한다.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신규로 만들어야 하는 것은 독립변수 하나입니다. 나머지는 검증된 척도를 번안합니다.
종속변수는 Vest 등이 1995년에 만든 네 문항이고, Tsai &amp; Wang이 번안해 알파 .91을 보고했습니다.
특히 첫 문항이 이 연구의 관심축과 같습니다. 내가 느낀 기여와 평가의 일치를 묻습니다.
[ 주의 ] 이 문항은 사후형이다. 실제 평가를 받은 응답자에게 물어야 하며, 그래서 대안은 시나리오를 버린다.
[ 주의 ] 「기여가 평가에 정확히 반영되는가」로 말하면 형평 판단으로 읽힌다. 예측 가능성과 구분해서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두 갈래입니다.
현행은 무작위 배정으로 인과를 확보하고 경로를 신설하지만 6~7주가 걸립니다.
대안은 3~4주에 들어가지만 매개 구조를 포기하고 기여가 선행요인 추가로 줄어듭니다.
네 가지를 여쭙고 싶습니다.
[ 주의 ] 1번 답을 먼저 받는다. 그 답에 따라 2~4가 달라진다.
[ 주의 ] 「제가 확인한 범위에서는」을 붙인다. 원문 대조는 Tsai &amp; Wang 한 편뿐이다.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26742" cy="2084832"/>
          </a:xfrm>
          <a:prstGeom prst="rect">
            <a:avLst/>
          </a:prstGeom>
          <a:solidFill>
            <a:srgbClr val="6B1F26"/>
          </a:solidFill>
          <a:ln/>
        </p:spPr>
      </p:sp>
      <p:sp>
        <p:nvSpPr>
          <p:cNvPr id="3" name="Text 1"/>
          <p:cNvSpPr/>
          <p:nvPr/>
        </p:nvSpPr>
        <p:spPr>
          <a:xfrm>
            <a:off x="987552" y="855878"/>
            <a:ext cx="12618720" cy="373075"/>
          </a:xfrm>
          <a:prstGeom prst="rect">
            <a:avLst/>
          </a:prstGeom>
          <a:noFill/>
          <a:ln/>
        </p:spPr>
        <p:txBody>
          <a:bodyPr wrap="square" lIns="0" tIns="0" rIns="0" bIns="0" rtlCol="0" anchor="ctr"/>
          <a:lstStyle/>
          <a:p>
            <a:pPr indent="0" marL="0">
              <a:buNone/>
            </a:pPr>
            <a:r>
              <a:rPr lang="en-US" sz="1300" b="1" spc="200" kern="0" dirty="0">
                <a:solidFill>
                  <a:srgbClr val="E6CFCC"/>
                </a:solidFill>
                <a:latin typeface="Arial" pitchFamily="34" charset="0"/>
                <a:ea typeface="Arial" pitchFamily="34" charset="-122"/>
                <a:cs typeface="Arial" pitchFamily="34" charset="-120"/>
              </a:rPr>
              <a:t>지도교수 면담  ·  2026. 08. 26.</a:t>
            </a:r>
            <a:endParaRPr lang="en-US" sz="1300" dirty="0"/>
          </a:p>
        </p:txBody>
      </p:sp>
      <p:sp>
        <p:nvSpPr>
          <p:cNvPr id="4" name="Text 2"/>
          <p:cNvSpPr/>
          <p:nvPr/>
        </p:nvSpPr>
        <p:spPr>
          <a:xfrm>
            <a:off x="987552" y="2962656"/>
            <a:ext cx="12618720" cy="768096"/>
          </a:xfrm>
          <a:prstGeom prst="rect">
            <a:avLst/>
          </a:prstGeom>
          <a:noFill/>
          <a:ln/>
        </p:spPr>
        <p:txBody>
          <a:bodyPr wrap="square" lIns="0" tIns="0" rIns="0" bIns="0" rtlCol="0" anchor="ctr"/>
          <a:lstStyle/>
          <a:p>
            <a:pPr indent="0" marL="0">
              <a:buNone/>
            </a:pPr>
            <a:r>
              <a:rPr lang="en-US" sz="3400" b="1" dirty="0">
                <a:solidFill>
                  <a:srgbClr val="1F2226"/>
                </a:solidFill>
                <a:latin typeface="Arial" pitchFamily="34" charset="0"/>
                <a:ea typeface="Arial" pitchFamily="34" charset="-122"/>
                <a:cs typeface="Arial" pitchFamily="34" charset="-120"/>
              </a:rPr>
              <a:t>연구 설계 방향에 대한 판단 요청</a:t>
            </a:r>
            <a:endParaRPr lang="en-US" sz="3400" dirty="0"/>
          </a:p>
        </p:txBody>
      </p:sp>
      <p:sp>
        <p:nvSpPr>
          <p:cNvPr id="5" name="Shape 3"/>
          <p:cNvSpPr/>
          <p:nvPr/>
        </p:nvSpPr>
        <p:spPr>
          <a:xfrm>
            <a:off x="1009498" y="3972154"/>
            <a:ext cx="1645920" cy="0"/>
          </a:xfrm>
          <a:prstGeom prst="line">
            <a:avLst/>
          </a:prstGeom>
          <a:noFill/>
          <a:ln w="38100">
            <a:solidFill>
              <a:srgbClr val="8C2A32"/>
            </a:solidFill>
            <a:prstDash val="solid"/>
          </a:ln>
        </p:spPr>
      </p:sp>
      <p:sp>
        <p:nvSpPr>
          <p:cNvPr id="6" name="Text 4"/>
          <p:cNvSpPr/>
          <p:nvPr/>
        </p:nvSpPr>
        <p:spPr>
          <a:xfrm>
            <a:off x="987552" y="4213555"/>
            <a:ext cx="12618720" cy="438912"/>
          </a:xfrm>
          <a:prstGeom prst="rect">
            <a:avLst/>
          </a:prstGeom>
          <a:noFill/>
          <a:ln/>
        </p:spPr>
        <p:txBody>
          <a:bodyPr wrap="square" lIns="0" tIns="0" rIns="0" bIns="0" rtlCol="0" anchor="ctr"/>
          <a:lstStyle/>
          <a:p>
            <a:pPr indent="0" marL="0">
              <a:buNone/>
            </a:pPr>
            <a:r>
              <a:rPr lang="en-US" sz="1600" dirty="0">
                <a:solidFill>
                  <a:srgbClr val="1F2226"/>
                </a:solidFill>
                <a:latin typeface="Arial" pitchFamily="34" charset="0"/>
                <a:ea typeface="Arial" pitchFamily="34" charset="-122"/>
                <a:cs typeface="Arial" pitchFamily="34" charset="-120"/>
              </a:rPr>
              <a:t>— 9월 일정과 대안 설계</a:t>
            </a:r>
            <a:endParaRPr lang="en-US" sz="1600" dirty="0"/>
          </a:p>
        </p:txBody>
      </p:sp>
      <p:sp>
        <p:nvSpPr>
          <p:cNvPr id="7" name="Shape 5"/>
          <p:cNvSpPr/>
          <p:nvPr/>
        </p:nvSpPr>
        <p:spPr>
          <a:xfrm>
            <a:off x="987552" y="5047488"/>
            <a:ext cx="12618720" cy="1426464"/>
          </a:xfrm>
          <a:prstGeom prst="rect">
            <a:avLst/>
          </a:prstGeom>
          <a:solidFill>
            <a:srgbClr val="EDEEF0"/>
          </a:solidFill>
          <a:ln w="12700">
            <a:solidFill>
              <a:srgbClr val="C9CDD3"/>
            </a:solidFill>
            <a:prstDash val="solid"/>
          </a:ln>
        </p:spPr>
      </p:sp>
      <p:sp>
        <p:nvSpPr>
          <p:cNvPr id="8" name="Text 6"/>
          <p:cNvSpPr/>
          <p:nvPr/>
        </p:nvSpPr>
        <p:spPr>
          <a:xfrm>
            <a:off x="1316736" y="5047488"/>
            <a:ext cx="11960352" cy="1426464"/>
          </a:xfrm>
          <a:prstGeom prst="rect">
            <a:avLst/>
          </a:prstGeom>
          <a:noFill/>
          <a:ln/>
        </p:spPr>
        <p:txBody>
          <a:bodyPr wrap="square" lIns="0" tIns="0" rIns="0" bIns="0" rtlCol="0" anchor="ctr"/>
          <a:lstStyle/>
          <a:p>
            <a:pPr indent="0" marL="0">
              <a:lnSpc>
                <a:spcPts val="3120"/>
              </a:lnSpc>
              <a:buNone/>
            </a:pPr>
            <a:r>
              <a:rPr lang="en-US" sz="1200" b="1" dirty="0">
                <a:solidFill>
                  <a:srgbClr val="1F2226"/>
                </a:solidFill>
                <a:latin typeface="Arial" pitchFamily="34" charset="0"/>
                <a:ea typeface="Arial" pitchFamily="34" charset="-122"/>
                <a:cs typeface="Arial" pitchFamily="34" charset="-120"/>
              </a:rPr>
              <a:t>오늘 여쭐 것
</a:t>
            </a:r>
            <a:pPr indent="0" marL="0">
              <a:lnSpc>
                <a:spcPts val="3120"/>
              </a:lnSpc>
              <a:buNone/>
            </a:pPr>
            <a:r>
              <a:rPr lang="en-US" sz="1500" b="1" dirty="0">
                <a:solidFill>
                  <a:srgbClr val="1F2226"/>
                </a:solidFill>
                <a:latin typeface="Arial" pitchFamily="34" charset="0"/>
                <a:ea typeface="Arial" pitchFamily="34" charset="-122"/>
                <a:cs typeface="Arial" pitchFamily="34" charset="-120"/>
              </a:rPr>
              <a:t>발표한 설계로 9월 일정을 가는 것이 맞는지, 아니면 대안 구조로 옮겨야 하는지 판단을 구하고자 합니다</a:t>
            </a:r>
            <a:endParaRPr lang="en-US" sz="1200" dirty="0"/>
          </a:p>
        </p:txBody>
      </p:sp>
      <p:sp>
        <p:nvSpPr>
          <p:cNvPr id="9" name="Shape 7"/>
          <p:cNvSpPr/>
          <p:nvPr/>
        </p:nvSpPr>
        <p:spPr>
          <a:xfrm>
            <a:off x="1009498" y="6912864"/>
            <a:ext cx="6144768" cy="0"/>
          </a:xfrm>
          <a:prstGeom prst="line">
            <a:avLst/>
          </a:prstGeom>
          <a:noFill/>
          <a:ln w="12700">
            <a:solidFill>
              <a:srgbClr val="C9CDD3"/>
            </a:solidFill>
            <a:prstDash val="solid"/>
          </a:ln>
        </p:spPr>
      </p:sp>
      <p:sp>
        <p:nvSpPr>
          <p:cNvPr id="10" name="Text 8"/>
          <p:cNvSpPr/>
          <p:nvPr/>
        </p:nvSpPr>
        <p:spPr>
          <a:xfrm>
            <a:off x="1009498" y="7088429"/>
            <a:ext cx="1261872" cy="307238"/>
          </a:xfrm>
          <a:prstGeom prst="rect">
            <a:avLst/>
          </a:prstGeom>
          <a:noFill/>
          <a:ln/>
        </p:spPr>
        <p:txBody>
          <a:bodyPr wrap="square" lIns="0" tIns="0" rIns="0" bIns="0" rtlCol="0" anchor="ctr"/>
          <a:lstStyle/>
          <a:p>
            <a:pPr indent="0" marL="0">
              <a:buNone/>
            </a:pPr>
            <a:r>
              <a:rPr lang="en-US" sz="1150" dirty="0">
                <a:solidFill>
                  <a:srgbClr val="70757C"/>
                </a:solidFill>
                <a:latin typeface="Arial" pitchFamily="34" charset="0"/>
                <a:ea typeface="Arial" pitchFamily="34" charset="-122"/>
                <a:cs typeface="Arial" pitchFamily="34" charset="-120"/>
              </a:rPr>
              <a:t>발표자</a:t>
            </a:r>
            <a:endParaRPr lang="en-US" sz="1150" dirty="0"/>
          </a:p>
        </p:txBody>
      </p:sp>
      <p:sp>
        <p:nvSpPr>
          <p:cNvPr id="11" name="Text 9"/>
          <p:cNvSpPr/>
          <p:nvPr/>
        </p:nvSpPr>
        <p:spPr>
          <a:xfrm>
            <a:off x="2304288" y="7088429"/>
            <a:ext cx="8778240" cy="307238"/>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이성준</a:t>
            </a:r>
            <a:endParaRPr lang="en-US" sz="1250" dirty="0"/>
          </a:p>
        </p:txBody>
      </p:sp>
      <p:sp>
        <p:nvSpPr>
          <p:cNvPr id="12" name="Text 10"/>
          <p:cNvSpPr/>
          <p:nvPr/>
        </p:nvSpPr>
        <p:spPr>
          <a:xfrm>
            <a:off x="1009498" y="7428586"/>
            <a:ext cx="1261872" cy="307238"/>
          </a:xfrm>
          <a:prstGeom prst="rect">
            <a:avLst/>
          </a:prstGeom>
          <a:noFill/>
          <a:ln/>
        </p:spPr>
        <p:txBody>
          <a:bodyPr wrap="square" lIns="0" tIns="0" rIns="0" bIns="0" rtlCol="0" anchor="ctr"/>
          <a:lstStyle/>
          <a:p>
            <a:pPr indent="0" marL="0">
              <a:buNone/>
            </a:pPr>
            <a:r>
              <a:rPr lang="en-US" sz="1150" dirty="0">
                <a:solidFill>
                  <a:srgbClr val="70757C"/>
                </a:solidFill>
                <a:latin typeface="Arial" pitchFamily="34" charset="0"/>
                <a:ea typeface="Arial" pitchFamily="34" charset="-122"/>
                <a:cs typeface="Arial" pitchFamily="34" charset="-120"/>
              </a:rPr>
              <a:t>소속</a:t>
            </a:r>
            <a:endParaRPr lang="en-US" sz="1150" dirty="0"/>
          </a:p>
        </p:txBody>
      </p:sp>
      <p:sp>
        <p:nvSpPr>
          <p:cNvPr id="13" name="Text 11"/>
          <p:cNvSpPr/>
          <p:nvPr/>
        </p:nvSpPr>
        <p:spPr>
          <a:xfrm>
            <a:off x="2304288" y="7428586"/>
            <a:ext cx="8778240" cy="307238"/>
          </a:xfrm>
          <a:prstGeom prst="rect">
            <a:avLst/>
          </a:prstGeom>
          <a:noFill/>
          <a:ln/>
        </p:spPr>
        <p:txBody>
          <a:bodyPr wrap="square" lIns="0" tIns="0" rIns="0" bIns="0" rtlCol="0" anchor="ctr"/>
          <a:lstStyle/>
          <a:p>
            <a:pPr indent="0" marL="0">
              <a:buNone/>
            </a:pPr>
            <a:r>
              <a:rPr lang="en-US" sz="1250" dirty="0">
                <a:solidFill>
                  <a:srgbClr val="1F2226"/>
                </a:solidFill>
                <a:latin typeface="Arial" pitchFamily="34" charset="0"/>
                <a:ea typeface="Arial" pitchFamily="34" charset="-122"/>
                <a:cs typeface="Arial" pitchFamily="34" charset="-120"/>
              </a:rPr>
              <a:t>기술경영전문대학원 기술경영전공 석사과정</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680314" y="263347"/>
            <a:ext cx="504749" cy="504749"/>
          </a:xfrm>
          <a:prstGeom prst="ellipse">
            <a:avLst/>
          </a:prstGeom>
          <a:solidFill>
            <a:srgbClr val="FFFFFF">
              <a:alpha val="0"/>
            </a:srgbClr>
          </a:solidFill>
          <a:ln w="44450">
            <a:solidFill>
              <a:srgbClr val="8C2A32"/>
            </a:solidFill>
            <a:prstDash val="solid"/>
          </a:ln>
        </p:spPr>
      </p:sp>
      <p:sp>
        <p:nvSpPr>
          <p:cNvPr id="3" name="Shape 1"/>
          <p:cNvSpPr/>
          <p:nvPr/>
        </p:nvSpPr>
        <p:spPr>
          <a:xfrm>
            <a:off x="976579" y="219456"/>
            <a:ext cx="373075" cy="614477"/>
          </a:xfrm>
          <a:prstGeom prst="rect">
            <a:avLst/>
          </a:prstGeom>
          <a:solidFill>
            <a:srgbClr val="FFFFFF"/>
          </a:solidFill>
          <a:ln w="12700">
            <a:solidFill>
              <a:srgbClr val="FFFFFF"/>
            </a:solidFill>
            <a:prstDash val="solid"/>
          </a:ln>
        </p:spPr>
      </p:sp>
      <p:sp>
        <p:nvSpPr>
          <p:cNvPr id="4" name="Text 2"/>
          <p:cNvSpPr/>
          <p:nvPr/>
        </p:nvSpPr>
        <p:spPr>
          <a:xfrm>
            <a:off x="943661" y="263347"/>
            <a:ext cx="8778240" cy="504749"/>
          </a:xfrm>
          <a:prstGeom prst="rect">
            <a:avLst/>
          </a:prstGeom>
          <a:noFill/>
          <a:ln/>
        </p:spPr>
        <p:txBody>
          <a:bodyPr wrap="square" lIns="0" tIns="0" rIns="0" bIns="0" rtlCol="0" anchor="ctr"/>
          <a:lstStyle/>
          <a:p>
            <a:pPr indent="0" marL="0">
              <a:buNone/>
            </a:pPr>
            <a:r>
              <a:rPr lang="en-US" sz="1900" b="1" dirty="0">
                <a:solidFill>
                  <a:srgbClr val="1F2226"/>
                </a:solidFill>
                <a:latin typeface="Arial" pitchFamily="34" charset="0"/>
                <a:ea typeface="Arial" pitchFamily="34" charset="-122"/>
                <a:cs typeface="Arial" pitchFamily="34" charset="-120"/>
              </a:rPr>
              <a:t>01.  현행 설계의 병목</a:t>
            </a:r>
            <a:endParaRPr lang="en-US" sz="1900" dirty="0"/>
          </a:p>
        </p:txBody>
      </p:sp>
      <p:sp>
        <p:nvSpPr>
          <p:cNvPr id="5" name="Text 3"/>
          <p:cNvSpPr/>
          <p:nvPr/>
        </p:nvSpPr>
        <p:spPr>
          <a:xfrm>
            <a:off x="9765792" y="263347"/>
            <a:ext cx="4191610" cy="504749"/>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지도교수 면담  ·  2026. 08. 26.</a:t>
            </a:r>
            <a:endParaRPr lang="en-US" sz="1050" dirty="0"/>
          </a:p>
        </p:txBody>
      </p:sp>
      <p:sp>
        <p:nvSpPr>
          <p:cNvPr id="6" name="Shape 4"/>
          <p:cNvSpPr/>
          <p:nvPr/>
        </p:nvSpPr>
        <p:spPr>
          <a:xfrm>
            <a:off x="680314" y="877824"/>
            <a:ext cx="13277088" cy="0"/>
          </a:xfrm>
          <a:prstGeom prst="line">
            <a:avLst/>
          </a:prstGeom>
          <a:noFill/>
          <a:ln w="12700">
            <a:solidFill>
              <a:srgbClr val="C9CDD3"/>
            </a:solidFill>
            <a:prstDash val="solid"/>
          </a:ln>
        </p:spPr>
      </p:sp>
      <p:sp>
        <p:nvSpPr>
          <p:cNvPr id="7" name="Shape 5"/>
          <p:cNvSpPr/>
          <p:nvPr/>
        </p:nvSpPr>
        <p:spPr>
          <a:xfrm>
            <a:off x="9765792" y="877824"/>
            <a:ext cx="4191610" cy="0"/>
          </a:xfrm>
          <a:prstGeom prst="line">
            <a:avLst/>
          </a:prstGeom>
          <a:noFill/>
          <a:ln w="25400">
            <a:solidFill>
              <a:srgbClr val="8C2A32"/>
            </a:solidFill>
            <a:prstDash val="solid"/>
          </a:ln>
        </p:spPr>
      </p:sp>
      <p:sp>
        <p:nvSpPr>
          <p:cNvPr id="8" name="Text 6"/>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01 / 04</a:t>
            </a:r>
            <a:endParaRPr lang="en-US" sz="1000" dirty="0"/>
          </a:p>
        </p:txBody>
      </p:sp>
      <p:sp>
        <p:nvSpPr>
          <p:cNvPr id="9" name="Shape 7"/>
          <p:cNvSpPr/>
          <p:nvPr/>
        </p:nvSpPr>
        <p:spPr>
          <a:xfrm>
            <a:off x="768096" y="1207008"/>
            <a:ext cx="13112496" cy="658368"/>
          </a:xfrm>
          <a:prstGeom prst="rect">
            <a:avLst/>
          </a:prstGeom>
          <a:solidFill>
            <a:srgbClr val="2A2D31"/>
          </a:solidFill>
          <a:ln/>
        </p:spPr>
      </p:sp>
      <p:sp>
        <p:nvSpPr>
          <p:cNvPr id="10" name="Text 8"/>
          <p:cNvSpPr/>
          <p:nvPr/>
        </p:nvSpPr>
        <p:spPr>
          <a:xfrm>
            <a:off x="1097280" y="1207008"/>
            <a:ext cx="12508992" cy="658368"/>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척도 셋을 새로 만들고 검증한 뒤 본조사까지 최소 6~7주 — 9월 착수 시 10월 중순 종료</a:t>
            </a:r>
            <a:endParaRPr lang="en-US" sz="1600" dirty="0"/>
          </a:p>
        </p:txBody>
      </p:sp>
      <p:sp>
        <p:nvSpPr>
          <p:cNvPr id="11" name="Text 9"/>
          <p:cNvSpPr/>
          <p:nvPr/>
        </p:nvSpPr>
        <p:spPr>
          <a:xfrm>
            <a:off x="768096" y="2084832"/>
            <a:ext cx="3291840" cy="307238"/>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 확보 상태 】</a:t>
            </a:r>
            <a:endParaRPr lang="en-US" sz="12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68096" y="2457907"/>
          <a:ext cx="13112496" cy="914400"/>
        </p:xfrm>
        <a:graphic>
          <a:graphicData uri="http://schemas.openxmlformats.org/drawingml/2006/table">
            <a:tbl>
              <a:tblPr/>
              <a:tblGrid>
                <a:gridCol w="2852928"/>
                <a:gridCol w="3840480"/>
                <a:gridCol w="1645920"/>
                <a:gridCol w="4773168"/>
              </a:tblGrid>
              <a:tr h="548640">
                <a:tc>
                  <a:txBody>
                    <a:bodyPr/>
                    <a:lstStyle/>
                    <a:p>
                      <a:pPr indent="0" marL="0">
                        <a:buNone/>
                      </a:pPr>
                      <a:r>
                        <a:rPr lang="en-US" sz="1150" b="1" dirty="0">
                          <a:solidFill>
                            <a:srgbClr val="1F2226"/>
                          </a:solidFill>
                          <a:latin typeface="Arial" pitchFamily="34" charset="0"/>
                          <a:ea typeface="Arial" pitchFamily="34" charset="-122"/>
                          <a:cs typeface="Arial" pitchFamily="34" charset="-120"/>
                        </a:rPr>
                        <a:t>변수</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226"/>
                          </a:solidFill>
                          <a:latin typeface="Arial" pitchFamily="34" charset="0"/>
                          <a:ea typeface="Arial" pitchFamily="34" charset="-122"/>
                          <a:cs typeface="Arial" pitchFamily="34" charset="-120"/>
                        </a:rPr>
                        <a:t>측정</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226"/>
                          </a:solidFill>
                          <a:latin typeface="Arial" pitchFamily="34" charset="0"/>
                          <a:ea typeface="Arial" pitchFamily="34" charset="-122"/>
                          <a:cs typeface="Arial" pitchFamily="34" charset="-120"/>
                        </a:rPr>
                        <a:t>상태</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226"/>
                          </a:solidFill>
                          <a:latin typeface="Arial" pitchFamily="34" charset="0"/>
                          <a:ea typeface="Arial" pitchFamily="34" charset="-122"/>
                          <a:cs typeface="Arial" pitchFamily="34" charset="-120"/>
                        </a:rPr>
                        <a:t>남은 일</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48640">
                <a:tc>
                  <a:txBody>
                    <a:bodyPr/>
                    <a:lstStyle/>
                    <a:p>
                      <a:pPr indent="0" marL="0">
                        <a:buNone/>
                      </a:pPr>
                      <a:r>
                        <a:rPr lang="en-US" sz="1150" dirty="0">
                          <a:solidFill>
                            <a:srgbClr val="1F2226"/>
                          </a:solidFill>
                          <a:latin typeface="Arial" pitchFamily="34" charset="0"/>
                          <a:ea typeface="Arial" pitchFamily="34" charset="-122"/>
                          <a:cs typeface="Arial" pitchFamily="34" charset="-120"/>
                        </a:rPr>
                        <a:t>IV  귀속 모호성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시나리오 조작 + 조작 점검 4문항</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 신규</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시나리오 확정 · 파일럿으로 조작 점검</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48640">
                <a:tc>
                  <a:txBody>
                    <a:bodyPr/>
                    <a:lstStyle/>
                    <a:p>
                      <a:pPr indent="0" marL="0">
                        <a:buNone/>
                      </a:pPr>
                      <a:r>
                        <a:rPr lang="en-US" sz="1150" dirty="0">
                          <a:solidFill>
                            <a:srgbClr val="1F2226"/>
                          </a:solidFill>
                          <a:latin typeface="Arial" pitchFamily="34" charset="0"/>
                          <a:ea typeface="Arial" pitchFamily="34" charset="-122"/>
                          <a:cs typeface="Arial" pitchFamily="34" charset="-120"/>
                        </a:rPr>
                        <a:t>MV  평가 불확실성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측정 4문항</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 신규</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Rizzo 정의 ⑴ 계열 복원 · 타당도 미축적</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48640">
                <a:tc>
                  <a:txBody>
                    <a:bodyPr/>
                    <a:lstStyle/>
                    <a:p>
                      <a:pPr indent="0" marL="0">
                        <a:buNone/>
                      </a:pPr>
                      <a:r>
                        <a:rPr lang="en-US" sz="1150" dirty="0">
                          <a:solidFill>
                            <a:srgbClr val="1F2226"/>
                          </a:solidFill>
                          <a:latin typeface="Arial" pitchFamily="34" charset="0"/>
                          <a:ea typeface="Arial" pitchFamily="34" charset="-122"/>
                          <a:cs typeface="Arial" pitchFamily="34" charset="-120"/>
                        </a:rPr>
                        <a:t>MOD  평가 절차 명확성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측정 4문항</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 미확정</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측정/조작 결정 후 문항 재설계</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48640">
                <a:tc>
                  <a:txBody>
                    <a:bodyPr/>
                    <a:lstStyle/>
                    <a:p>
                      <a:pPr indent="0" marL="0">
                        <a:buNone/>
                      </a:pPr>
                      <a:r>
                        <a:rPr lang="en-US" sz="1150" dirty="0">
                          <a:solidFill>
                            <a:srgbClr val="1F2226"/>
                          </a:solidFill>
                          <a:latin typeface="Arial" pitchFamily="34" charset="0"/>
                          <a:ea typeface="Arial" pitchFamily="34" charset="-122"/>
                          <a:cs typeface="Arial" pitchFamily="34" charset="-120"/>
                        </a:rPr>
                        <a:t>DV  절차공정성 지각</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측정 3문항</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 확보</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N&amp;M(1993) · Colquitt(2001)</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bl>
          </a:graphicData>
        </a:graphic>
      </p:graphicFrame>
      <p:sp>
        <p:nvSpPr>
          <p:cNvPr id="13" name="Text 10"/>
          <p:cNvSpPr/>
          <p:nvPr/>
        </p:nvSpPr>
        <p:spPr>
          <a:xfrm>
            <a:off x="768096" y="5596128"/>
            <a:ext cx="3291840" cy="307238"/>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 일정 계산 】</a:t>
            </a:r>
            <a:endParaRPr lang="en-US" sz="1250" dirty="0"/>
          </a:p>
        </p:txBody>
      </p:sp>
      <p:sp>
        <p:nvSpPr>
          <p:cNvPr id="14" name="Shape 11"/>
          <p:cNvSpPr/>
          <p:nvPr/>
        </p:nvSpPr>
        <p:spPr>
          <a:xfrm>
            <a:off x="768096" y="5969203"/>
            <a:ext cx="3138221" cy="592531"/>
          </a:xfrm>
          <a:prstGeom prst="rect">
            <a:avLst/>
          </a:prstGeom>
          <a:solidFill>
            <a:srgbClr val="F7F8F9"/>
          </a:solidFill>
          <a:ln w="12700">
            <a:solidFill>
              <a:srgbClr val="C9CDD3"/>
            </a:solidFill>
            <a:prstDash val="solid"/>
          </a:ln>
        </p:spPr>
      </p:sp>
      <p:sp>
        <p:nvSpPr>
          <p:cNvPr id="15" name="Text 12"/>
          <p:cNvSpPr/>
          <p:nvPr/>
        </p:nvSpPr>
        <p:spPr>
          <a:xfrm>
            <a:off x="965606" y="5969203"/>
            <a:ext cx="2084832" cy="592531"/>
          </a:xfrm>
          <a:prstGeom prst="rect">
            <a:avLst/>
          </a:prstGeom>
          <a:noFill/>
          <a:ln/>
        </p:spPr>
        <p:txBody>
          <a:bodyPr wrap="square" lIns="0" tIns="0" rIns="0" bIns="0" rtlCol="0" anchor="ctr"/>
          <a:lstStyle/>
          <a:p>
            <a:pPr indent="0" marL="0">
              <a:buNone/>
            </a:pPr>
            <a:r>
              <a:rPr lang="en-US" sz="1050" dirty="0">
                <a:solidFill>
                  <a:srgbClr val="1F2226"/>
                </a:solidFill>
                <a:latin typeface="Arial" pitchFamily="34" charset="0"/>
                <a:ea typeface="Arial" pitchFamily="34" charset="-122"/>
                <a:cs typeface="Arial" pitchFamily="34" charset="-120"/>
              </a:rPr>
              <a:t>어휘 정비 · 문항 분류</a:t>
            </a:r>
            <a:endParaRPr lang="en-US" sz="1050" dirty="0"/>
          </a:p>
        </p:txBody>
      </p:sp>
      <p:sp>
        <p:nvSpPr>
          <p:cNvPr id="16" name="Text 13"/>
          <p:cNvSpPr/>
          <p:nvPr/>
        </p:nvSpPr>
        <p:spPr>
          <a:xfrm>
            <a:off x="2962656" y="5969203"/>
            <a:ext cx="790042" cy="592531"/>
          </a:xfrm>
          <a:prstGeom prst="rect">
            <a:avLst/>
          </a:prstGeom>
          <a:noFill/>
          <a:ln/>
        </p:spPr>
        <p:txBody>
          <a:bodyPr wrap="square" lIns="0" tIns="0" rIns="0" bIns="0" rtlCol="0" anchor="ctr"/>
          <a:lstStyle/>
          <a:p>
            <a:pPr algn="r" indent="0" marL="0">
              <a:buNone/>
            </a:pPr>
            <a:r>
              <a:rPr lang="en-US" sz="1050" b="1" dirty="0">
                <a:solidFill>
                  <a:srgbClr val="1F2226"/>
                </a:solidFill>
                <a:latin typeface="Arial" pitchFamily="34" charset="0"/>
                <a:ea typeface="Arial" pitchFamily="34" charset="-122"/>
                <a:cs typeface="Arial" pitchFamily="34" charset="-120"/>
              </a:rPr>
              <a:t>1.5일</a:t>
            </a:r>
            <a:endParaRPr lang="en-US" sz="1050" dirty="0"/>
          </a:p>
        </p:txBody>
      </p:sp>
      <p:sp>
        <p:nvSpPr>
          <p:cNvPr id="17" name="Shape 14"/>
          <p:cNvSpPr/>
          <p:nvPr/>
        </p:nvSpPr>
        <p:spPr>
          <a:xfrm>
            <a:off x="4081882" y="5969203"/>
            <a:ext cx="3138221" cy="592531"/>
          </a:xfrm>
          <a:prstGeom prst="rect">
            <a:avLst/>
          </a:prstGeom>
          <a:solidFill>
            <a:srgbClr val="F7F8F9"/>
          </a:solidFill>
          <a:ln w="12700">
            <a:solidFill>
              <a:srgbClr val="C9CDD3"/>
            </a:solidFill>
            <a:prstDash val="solid"/>
          </a:ln>
        </p:spPr>
      </p:sp>
      <p:sp>
        <p:nvSpPr>
          <p:cNvPr id="18" name="Text 15"/>
          <p:cNvSpPr/>
          <p:nvPr/>
        </p:nvSpPr>
        <p:spPr>
          <a:xfrm>
            <a:off x="4279392" y="5969203"/>
            <a:ext cx="2084832" cy="592531"/>
          </a:xfrm>
          <a:prstGeom prst="rect">
            <a:avLst/>
          </a:prstGeom>
          <a:noFill/>
          <a:ln/>
        </p:spPr>
        <p:txBody>
          <a:bodyPr wrap="square" lIns="0" tIns="0" rIns="0" bIns="0" rtlCol="0" anchor="ctr"/>
          <a:lstStyle/>
          <a:p>
            <a:pPr indent="0" marL="0">
              <a:buNone/>
            </a:pPr>
            <a:r>
              <a:rPr lang="en-US" sz="1050" dirty="0">
                <a:solidFill>
                  <a:srgbClr val="1F2226"/>
                </a:solidFill>
                <a:latin typeface="Arial" pitchFamily="34" charset="0"/>
                <a:ea typeface="Arial" pitchFamily="34" charset="-122"/>
                <a:cs typeface="Arial" pitchFamily="34" charset="-120"/>
              </a:rPr>
              <a:t>사전 검정력 분석</a:t>
            </a:r>
            <a:endParaRPr lang="en-US" sz="1050" dirty="0"/>
          </a:p>
        </p:txBody>
      </p:sp>
      <p:sp>
        <p:nvSpPr>
          <p:cNvPr id="19" name="Text 16"/>
          <p:cNvSpPr/>
          <p:nvPr/>
        </p:nvSpPr>
        <p:spPr>
          <a:xfrm>
            <a:off x="6276442" y="5969203"/>
            <a:ext cx="790042" cy="592531"/>
          </a:xfrm>
          <a:prstGeom prst="rect">
            <a:avLst/>
          </a:prstGeom>
          <a:noFill/>
          <a:ln/>
        </p:spPr>
        <p:txBody>
          <a:bodyPr wrap="square" lIns="0" tIns="0" rIns="0" bIns="0" rtlCol="0" anchor="ctr"/>
          <a:lstStyle/>
          <a:p>
            <a:pPr algn="r" indent="0" marL="0">
              <a:buNone/>
            </a:pPr>
            <a:r>
              <a:rPr lang="en-US" sz="1050" b="1" dirty="0">
                <a:solidFill>
                  <a:srgbClr val="1F2226"/>
                </a:solidFill>
                <a:latin typeface="Arial" pitchFamily="34" charset="0"/>
                <a:ea typeface="Arial" pitchFamily="34" charset="-122"/>
                <a:cs typeface="Arial" pitchFamily="34" charset="-120"/>
              </a:rPr>
              <a:t>1일</a:t>
            </a:r>
            <a:endParaRPr lang="en-US" sz="1050" dirty="0"/>
          </a:p>
        </p:txBody>
      </p:sp>
      <p:sp>
        <p:nvSpPr>
          <p:cNvPr id="20" name="Shape 17"/>
          <p:cNvSpPr/>
          <p:nvPr/>
        </p:nvSpPr>
        <p:spPr>
          <a:xfrm>
            <a:off x="7395667" y="5969203"/>
            <a:ext cx="3138221" cy="592531"/>
          </a:xfrm>
          <a:prstGeom prst="rect">
            <a:avLst/>
          </a:prstGeom>
          <a:solidFill>
            <a:srgbClr val="F7F8F9"/>
          </a:solidFill>
          <a:ln w="12700">
            <a:solidFill>
              <a:srgbClr val="C9CDD3"/>
            </a:solidFill>
            <a:prstDash val="solid"/>
          </a:ln>
        </p:spPr>
      </p:sp>
      <p:sp>
        <p:nvSpPr>
          <p:cNvPr id="21" name="Text 18"/>
          <p:cNvSpPr/>
          <p:nvPr/>
        </p:nvSpPr>
        <p:spPr>
          <a:xfrm>
            <a:off x="7593178" y="5969203"/>
            <a:ext cx="2084832" cy="592531"/>
          </a:xfrm>
          <a:prstGeom prst="rect">
            <a:avLst/>
          </a:prstGeom>
          <a:noFill/>
          <a:ln/>
        </p:spPr>
        <p:txBody>
          <a:bodyPr wrap="square" lIns="0" tIns="0" rIns="0" bIns="0" rtlCol="0" anchor="ctr"/>
          <a:lstStyle/>
          <a:p>
            <a:pPr indent="0" marL="0">
              <a:buNone/>
            </a:pPr>
            <a:r>
              <a:rPr lang="en-US" sz="1050" dirty="0">
                <a:solidFill>
                  <a:srgbClr val="1F2226"/>
                </a:solidFill>
                <a:latin typeface="Arial" pitchFamily="34" charset="0"/>
                <a:ea typeface="Arial" pitchFamily="34" charset="-122"/>
                <a:cs typeface="Arial" pitchFamily="34" charset="-120"/>
              </a:rPr>
              <a:t>시나리오 확정</a:t>
            </a:r>
            <a:endParaRPr lang="en-US" sz="1050" dirty="0"/>
          </a:p>
        </p:txBody>
      </p:sp>
      <p:sp>
        <p:nvSpPr>
          <p:cNvPr id="22" name="Text 19"/>
          <p:cNvSpPr/>
          <p:nvPr/>
        </p:nvSpPr>
        <p:spPr>
          <a:xfrm>
            <a:off x="9590227" y="5969203"/>
            <a:ext cx="790042" cy="592531"/>
          </a:xfrm>
          <a:prstGeom prst="rect">
            <a:avLst/>
          </a:prstGeom>
          <a:noFill/>
          <a:ln/>
        </p:spPr>
        <p:txBody>
          <a:bodyPr wrap="square" lIns="0" tIns="0" rIns="0" bIns="0" rtlCol="0" anchor="ctr"/>
          <a:lstStyle/>
          <a:p>
            <a:pPr algn="r" indent="0" marL="0">
              <a:buNone/>
            </a:pPr>
            <a:r>
              <a:rPr lang="en-US" sz="1050" b="1" dirty="0">
                <a:solidFill>
                  <a:srgbClr val="1F2226"/>
                </a:solidFill>
                <a:latin typeface="Arial" pitchFamily="34" charset="0"/>
                <a:ea typeface="Arial" pitchFamily="34" charset="-122"/>
                <a:cs typeface="Arial" pitchFamily="34" charset="-120"/>
              </a:rPr>
              <a:t>1일</a:t>
            </a:r>
            <a:endParaRPr lang="en-US" sz="1050" dirty="0"/>
          </a:p>
        </p:txBody>
      </p:sp>
      <p:sp>
        <p:nvSpPr>
          <p:cNvPr id="23" name="Shape 20"/>
          <p:cNvSpPr/>
          <p:nvPr/>
        </p:nvSpPr>
        <p:spPr>
          <a:xfrm>
            <a:off x="10709453" y="5969203"/>
            <a:ext cx="3138221" cy="592531"/>
          </a:xfrm>
          <a:prstGeom prst="rect">
            <a:avLst/>
          </a:prstGeom>
          <a:solidFill>
            <a:srgbClr val="EDEEF0"/>
          </a:solidFill>
          <a:ln w="12700">
            <a:solidFill>
              <a:srgbClr val="C9CDD3"/>
            </a:solidFill>
            <a:prstDash val="solid"/>
          </a:ln>
        </p:spPr>
      </p:sp>
      <p:sp>
        <p:nvSpPr>
          <p:cNvPr id="24" name="Text 21"/>
          <p:cNvSpPr/>
          <p:nvPr/>
        </p:nvSpPr>
        <p:spPr>
          <a:xfrm>
            <a:off x="10906963" y="5969203"/>
            <a:ext cx="2084832" cy="592531"/>
          </a:xfrm>
          <a:prstGeom prst="rect">
            <a:avLst/>
          </a:prstGeom>
          <a:noFill/>
          <a:ln/>
        </p:spPr>
        <p:txBody>
          <a:bodyPr wrap="square" lIns="0" tIns="0" rIns="0" bIns="0" rtlCol="0" anchor="ctr"/>
          <a:lstStyle/>
          <a:p>
            <a:pPr indent="0" marL="0">
              <a:buNone/>
            </a:pPr>
            <a:r>
              <a:rPr lang="en-US" sz="1050" dirty="0">
                <a:solidFill>
                  <a:srgbClr val="1F2226"/>
                </a:solidFill>
                <a:latin typeface="Arial" pitchFamily="34" charset="0"/>
                <a:ea typeface="Arial" pitchFamily="34" charset="-122"/>
                <a:cs typeface="Arial" pitchFamily="34" charset="-120"/>
              </a:rPr>
              <a:t>파일럿 30~50명</a:t>
            </a:r>
            <a:endParaRPr lang="en-US" sz="1050" dirty="0"/>
          </a:p>
        </p:txBody>
      </p:sp>
      <p:sp>
        <p:nvSpPr>
          <p:cNvPr id="25" name="Text 22"/>
          <p:cNvSpPr/>
          <p:nvPr/>
        </p:nvSpPr>
        <p:spPr>
          <a:xfrm>
            <a:off x="12904013" y="5969203"/>
            <a:ext cx="790042" cy="592531"/>
          </a:xfrm>
          <a:prstGeom prst="rect">
            <a:avLst/>
          </a:prstGeom>
          <a:noFill/>
          <a:ln/>
        </p:spPr>
        <p:txBody>
          <a:bodyPr wrap="square" lIns="0" tIns="0" rIns="0" bIns="0" rtlCol="0" anchor="ctr"/>
          <a:lstStyle/>
          <a:p>
            <a:pPr algn="r" indent="0" marL="0">
              <a:buNone/>
            </a:pPr>
            <a:r>
              <a:rPr lang="en-US" sz="1050" b="1" dirty="0">
                <a:solidFill>
                  <a:srgbClr val="1F2226"/>
                </a:solidFill>
                <a:latin typeface="Arial" pitchFamily="34" charset="0"/>
                <a:ea typeface="Arial" pitchFamily="34" charset="-122"/>
                <a:cs typeface="Arial" pitchFamily="34" charset="-120"/>
              </a:rPr>
              <a:t>1~2주</a:t>
            </a:r>
            <a:endParaRPr lang="en-US" sz="1050" dirty="0"/>
          </a:p>
        </p:txBody>
      </p:sp>
      <p:sp>
        <p:nvSpPr>
          <p:cNvPr id="26" name="Shape 23"/>
          <p:cNvSpPr/>
          <p:nvPr/>
        </p:nvSpPr>
        <p:spPr>
          <a:xfrm>
            <a:off x="768096" y="6649517"/>
            <a:ext cx="3138221" cy="592531"/>
          </a:xfrm>
          <a:prstGeom prst="rect">
            <a:avLst/>
          </a:prstGeom>
          <a:solidFill>
            <a:srgbClr val="EDEEF0"/>
          </a:solidFill>
          <a:ln w="12700">
            <a:solidFill>
              <a:srgbClr val="C9CDD3"/>
            </a:solidFill>
            <a:prstDash val="solid"/>
          </a:ln>
        </p:spPr>
      </p:sp>
      <p:sp>
        <p:nvSpPr>
          <p:cNvPr id="27" name="Text 24"/>
          <p:cNvSpPr/>
          <p:nvPr/>
        </p:nvSpPr>
        <p:spPr>
          <a:xfrm>
            <a:off x="965606" y="6649517"/>
            <a:ext cx="2084832" cy="592531"/>
          </a:xfrm>
          <a:prstGeom prst="rect">
            <a:avLst/>
          </a:prstGeom>
          <a:noFill/>
          <a:ln/>
        </p:spPr>
        <p:txBody>
          <a:bodyPr wrap="square" lIns="0" tIns="0" rIns="0" bIns="0" rtlCol="0" anchor="ctr"/>
          <a:lstStyle/>
          <a:p>
            <a:pPr indent="0" marL="0">
              <a:buNone/>
            </a:pPr>
            <a:r>
              <a:rPr lang="en-US" sz="1050" dirty="0">
                <a:solidFill>
                  <a:srgbClr val="1F2226"/>
                </a:solidFill>
                <a:latin typeface="Arial" pitchFamily="34" charset="0"/>
                <a:ea typeface="Arial" pitchFamily="34" charset="-122"/>
                <a:cs typeface="Arial" pitchFamily="34" charset="-120"/>
              </a:rPr>
              <a:t>문항 재작성</a:t>
            </a:r>
            <a:endParaRPr lang="en-US" sz="1050" dirty="0"/>
          </a:p>
        </p:txBody>
      </p:sp>
      <p:sp>
        <p:nvSpPr>
          <p:cNvPr id="28" name="Text 25"/>
          <p:cNvSpPr/>
          <p:nvPr/>
        </p:nvSpPr>
        <p:spPr>
          <a:xfrm>
            <a:off x="2962656" y="6649517"/>
            <a:ext cx="790042" cy="592531"/>
          </a:xfrm>
          <a:prstGeom prst="rect">
            <a:avLst/>
          </a:prstGeom>
          <a:noFill/>
          <a:ln/>
        </p:spPr>
        <p:txBody>
          <a:bodyPr wrap="square" lIns="0" tIns="0" rIns="0" bIns="0" rtlCol="0" anchor="ctr"/>
          <a:lstStyle/>
          <a:p>
            <a:pPr algn="r" indent="0" marL="0">
              <a:buNone/>
            </a:pPr>
            <a:r>
              <a:rPr lang="en-US" sz="1050" b="1" dirty="0">
                <a:solidFill>
                  <a:srgbClr val="1F2226"/>
                </a:solidFill>
                <a:latin typeface="Arial" pitchFamily="34" charset="0"/>
                <a:ea typeface="Arial" pitchFamily="34" charset="-122"/>
                <a:cs typeface="Arial" pitchFamily="34" charset="-120"/>
              </a:rPr>
              <a:t>3일</a:t>
            </a:r>
            <a:endParaRPr lang="en-US" sz="1050" dirty="0"/>
          </a:p>
        </p:txBody>
      </p:sp>
      <p:sp>
        <p:nvSpPr>
          <p:cNvPr id="29" name="Shape 26"/>
          <p:cNvSpPr/>
          <p:nvPr/>
        </p:nvSpPr>
        <p:spPr>
          <a:xfrm>
            <a:off x="4081882" y="6649517"/>
            <a:ext cx="3138221" cy="592531"/>
          </a:xfrm>
          <a:prstGeom prst="rect">
            <a:avLst/>
          </a:prstGeom>
          <a:solidFill>
            <a:srgbClr val="EDEEF0"/>
          </a:solidFill>
          <a:ln w="12700">
            <a:solidFill>
              <a:srgbClr val="C9CDD3"/>
            </a:solidFill>
            <a:prstDash val="solid"/>
          </a:ln>
        </p:spPr>
      </p:sp>
      <p:sp>
        <p:nvSpPr>
          <p:cNvPr id="30" name="Text 27"/>
          <p:cNvSpPr/>
          <p:nvPr/>
        </p:nvSpPr>
        <p:spPr>
          <a:xfrm>
            <a:off x="4279392" y="6649517"/>
            <a:ext cx="2084832" cy="592531"/>
          </a:xfrm>
          <a:prstGeom prst="rect">
            <a:avLst/>
          </a:prstGeom>
          <a:noFill/>
          <a:ln/>
        </p:spPr>
        <p:txBody>
          <a:bodyPr wrap="square" lIns="0" tIns="0" rIns="0" bIns="0" rtlCol="0" anchor="ctr"/>
          <a:lstStyle/>
          <a:p>
            <a:pPr indent="0" marL="0">
              <a:buNone/>
            </a:pPr>
            <a:r>
              <a:rPr lang="en-US" sz="1050" dirty="0">
                <a:solidFill>
                  <a:srgbClr val="1F2226"/>
                </a:solidFill>
                <a:latin typeface="Arial" pitchFamily="34" charset="0"/>
                <a:ea typeface="Arial" pitchFamily="34" charset="-122"/>
                <a:cs typeface="Arial" pitchFamily="34" charset="-120"/>
              </a:rPr>
              <a:t>본조사 250명</a:t>
            </a:r>
            <a:endParaRPr lang="en-US" sz="1050" dirty="0"/>
          </a:p>
        </p:txBody>
      </p:sp>
      <p:sp>
        <p:nvSpPr>
          <p:cNvPr id="31" name="Text 28"/>
          <p:cNvSpPr/>
          <p:nvPr/>
        </p:nvSpPr>
        <p:spPr>
          <a:xfrm>
            <a:off x="6276442" y="6649517"/>
            <a:ext cx="790042" cy="592531"/>
          </a:xfrm>
          <a:prstGeom prst="rect">
            <a:avLst/>
          </a:prstGeom>
          <a:noFill/>
          <a:ln/>
        </p:spPr>
        <p:txBody>
          <a:bodyPr wrap="square" lIns="0" tIns="0" rIns="0" bIns="0" rtlCol="0" anchor="ctr"/>
          <a:lstStyle/>
          <a:p>
            <a:pPr algn="r" indent="0" marL="0">
              <a:buNone/>
            </a:pPr>
            <a:r>
              <a:rPr lang="en-US" sz="1050" b="1" dirty="0">
                <a:solidFill>
                  <a:srgbClr val="1F2226"/>
                </a:solidFill>
                <a:latin typeface="Arial" pitchFamily="34" charset="0"/>
                <a:ea typeface="Arial" pitchFamily="34" charset="-122"/>
                <a:cs typeface="Arial" pitchFamily="34" charset="-120"/>
              </a:rPr>
              <a:t>2주</a:t>
            </a:r>
            <a:endParaRPr lang="en-US" sz="1050" dirty="0"/>
          </a:p>
        </p:txBody>
      </p:sp>
      <p:sp>
        <p:nvSpPr>
          <p:cNvPr id="32" name="Shape 29"/>
          <p:cNvSpPr/>
          <p:nvPr/>
        </p:nvSpPr>
        <p:spPr>
          <a:xfrm>
            <a:off x="7395667" y="6649517"/>
            <a:ext cx="3138221" cy="592531"/>
          </a:xfrm>
          <a:prstGeom prst="rect">
            <a:avLst/>
          </a:prstGeom>
          <a:solidFill>
            <a:srgbClr val="F7F8F9"/>
          </a:solidFill>
          <a:ln w="12700">
            <a:solidFill>
              <a:srgbClr val="C9CDD3"/>
            </a:solidFill>
            <a:prstDash val="solid"/>
          </a:ln>
        </p:spPr>
      </p:sp>
      <p:sp>
        <p:nvSpPr>
          <p:cNvPr id="33" name="Text 30"/>
          <p:cNvSpPr/>
          <p:nvPr/>
        </p:nvSpPr>
        <p:spPr>
          <a:xfrm>
            <a:off x="7593178" y="6649517"/>
            <a:ext cx="2084832" cy="592531"/>
          </a:xfrm>
          <a:prstGeom prst="rect">
            <a:avLst/>
          </a:prstGeom>
          <a:noFill/>
          <a:ln/>
        </p:spPr>
        <p:txBody>
          <a:bodyPr wrap="square" lIns="0" tIns="0" rIns="0" bIns="0" rtlCol="0" anchor="ctr"/>
          <a:lstStyle/>
          <a:p>
            <a:pPr indent="0" marL="0">
              <a:buNone/>
            </a:pPr>
            <a:r>
              <a:rPr lang="en-US" sz="1050" dirty="0">
                <a:solidFill>
                  <a:srgbClr val="1F2226"/>
                </a:solidFill>
                <a:latin typeface="Arial" pitchFamily="34" charset="0"/>
                <a:ea typeface="Arial" pitchFamily="34" charset="-122"/>
                <a:cs typeface="Arial" pitchFamily="34" charset="-120"/>
              </a:rPr>
              <a:t>분석</a:t>
            </a:r>
            <a:endParaRPr lang="en-US" sz="1050" dirty="0"/>
          </a:p>
        </p:txBody>
      </p:sp>
      <p:sp>
        <p:nvSpPr>
          <p:cNvPr id="34" name="Text 31"/>
          <p:cNvSpPr/>
          <p:nvPr/>
        </p:nvSpPr>
        <p:spPr>
          <a:xfrm>
            <a:off x="9590227" y="6649517"/>
            <a:ext cx="790042" cy="592531"/>
          </a:xfrm>
          <a:prstGeom prst="rect">
            <a:avLst/>
          </a:prstGeom>
          <a:noFill/>
          <a:ln/>
        </p:spPr>
        <p:txBody>
          <a:bodyPr wrap="square" lIns="0" tIns="0" rIns="0" bIns="0" rtlCol="0" anchor="ctr"/>
          <a:lstStyle/>
          <a:p>
            <a:pPr algn="r" indent="0" marL="0">
              <a:buNone/>
            </a:pPr>
            <a:r>
              <a:rPr lang="en-US" sz="1050" b="1" dirty="0">
                <a:solidFill>
                  <a:srgbClr val="1F2226"/>
                </a:solidFill>
                <a:latin typeface="Arial" pitchFamily="34" charset="0"/>
                <a:ea typeface="Arial" pitchFamily="34" charset="-122"/>
                <a:cs typeface="Arial" pitchFamily="34" charset="-120"/>
              </a:rPr>
              <a:t>1주</a:t>
            </a:r>
            <a:endParaRPr lang="en-US" sz="1050" dirty="0"/>
          </a:p>
        </p:txBody>
      </p:sp>
      <p:sp>
        <p:nvSpPr>
          <p:cNvPr id="35" name="Text 32"/>
          <p:cNvSpPr/>
          <p:nvPr/>
        </p:nvSpPr>
        <p:spPr>
          <a:xfrm>
            <a:off x="10753344" y="6649517"/>
            <a:ext cx="3138221" cy="592531"/>
          </a:xfrm>
          <a:prstGeom prst="rect">
            <a:avLst/>
          </a:prstGeom>
          <a:noFill/>
          <a:ln/>
        </p:spPr>
        <p:txBody>
          <a:bodyPr wrap="square" lIns="0" tIns="0" rIns="0" bIns="0" rtlCol="0" anchor="ctr"/>
          <a:lstStyle/>
          <a:p>
            <a:pPr algn="ctr" indent="0" marL="0">
              <a:buNone/>
            </a:pPr>
            <a:r>
              <a:rPr lang="en-US" sz="1400" b="1" dirty="0">
                <a:solidFill>
                  <a:srgbClr val="1F2226"/>
                </a:solidFill>
                <a:latin typeface="Arial" pitchFamily="34" charset="0"/>
                <a:ea typeface="Arial" pitchFamily="34" charset="-122"/>
                <a:cs typeface="Arial" pitchFamily="34" charset="-120"/>
              </a:rPr>
              <a:t>합계  6~7주</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80314" y="263347"/>
            <a:ext cx="504749" cy="504749"/>
          </a:xfrm>
          <a:prstGeom prst="ellipse">
            <a:avLst/>
          </a:prstGeom>
          <a:solidFill>
            <a:srgbClr val="FFFFFF">
              <a:alpha val="0"/>
            </a:srgbClr>
          </a:solidFill>
          <a:ln w="44450">
            <a:solidFill>
              <a:srgbClr val="8C2A32"/>
            </a:solidFill>
            <a:prstDash val="solid"/>
          </a:ln>
        </p:spPr>
      </p:sp>
      <p:sp>
        <p:nvSpPr>
          <p:cNvPr id="3" name="Shape 1"/>
          <p:cNvSpPr/>
          <p:nvPr/>
        </p:nvSpPr>
        <p:spPr>
          <a:xfrm>
            <a:off x="976579" y="219456"/>
            <a:ext cx="373075" cy="614477"/>
          </a:xfrm>
          <a:prstGeom prst="rect">
            <a:avLst/>
          </a:prstGeom>
          <a:solidFill>
            <a:srgbClr val="FFFFFF"/>
          </a:solidFill>
          <a:ln w="12700">
            <a:solidFill>
              <a:srgbClr val="FFFFFF"/>
            </a:solidFill>
            <a:prstDash val="solid"/>
          </a:ln>
        </p:spPr>
      </p:sp>
      <p:sp>
        <p:nvSpPr>
          <p:cNvPr id="4" name="Text 2"/>
          <p:cNvSpPr/>
          <p:nvPr/>
        </p:nvSpPr>
        <p:spPr>
          <a:xfrm>
            <a:off x="943661" y="263347"/>
            <a:ext cx="8778240" cy="504749"/>
          </a:xfrm>
          <a:prstGeom prst="rect">
            <a:avLst/>
          </a:prstGeom>
          <a:noFill/>
          <a:ln/>
        </p:spPr>
        <p:txBody>
          <a:bodyPr wrap="square" lIns="0" tIns="0" rIns="0" bIns="0" rtlCol="0" anchor="ctr"/>
          <a:lstStyle/>
          <a:p>
            <a:pPr indent="0" marL="0">
              <a:buNone/>
            </a:pPr>
            <a:r>
              <a:rPr lang="en-US" sz="1900" b="1" dirty="0">
                <a:solidFill>
                  <a:srgbClr val="1F2226"/>
                </a:solidFill>
                <a:latin typeface="Arial" pitchFamily="34" charset="0"/>
                <a:ea typeface="Arial" pitchFamily="34" charset="-122"/>
                <a:cs typeface="Arial" pitchFamily="34" charset="-120"/>
              </a:rPr>
              <a:t>02.  대안 — 기존 모형에 한 층</a:t>
            </a:r>
            <a:endParaRPr lang="en-US" sz="1900" dirty="0"/>
          </a:p>
        </p:txBody>
      </p:sp>
      <p:sp>
        <p:nvSpPr>
          <p:cNvPr id="5" name="Text 3"/>
          <p:cNvSpPr/>
          <p:nvPr/>
        </p:nvSpPr>
        <p:spPr>
          <a:xfrm>
            <a:off x="9765792" y="263347"/>
            <a:ext cx="4191610" cy="504749"/>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지도교수 면담  ·  2026. 08. 26.</a:t>
            </a:r>
            <a:endParaRPr lang="en-US" sz="1050" dirty="0"/>
          </a:p>
        </p:txBody>
      </p:sp>
      <p:sp>
        <p:nvSpPr>
          <p:cNvPr id="6" name="Shape 4"/>
          <p:cNvSpPr/>
          <p:nvPr/>
        </p:nvSpPr>
        <p:spPr>
          <a:xfrm>
            <a:off x="680314" y="877824"/>
            <a:ext cx="13277088" cy="0"/>
          </a:xfrm>
          <a:prstGeom prst="line">
            <a:avLst/>
          </a:prstGeom>
          <a:noFill/>
          <a:ln w="12700">
            <a:solidFill>
              <a:srgbClr val="C9CDD3"/>
            </a:solidFill>
            <a:prstDash val="solid"/>
          </a:ln>
        </p:spPr>
      </p:sp>
      <p:sp>
        <p:nvSpPr>
          <p:cNvPr id="7" name="Shape 5"/>
          <p:cNvSpPr/>
          <p:nvPr/>
        </p:nvSpPr>
        <p:spPr>
          <a:xfrm>
            <a:off x="9765792" y="877824"/>
            <a:ext cx="4191610" cy="0"/>
          </a:xfrm>
          <a:prstGeom prst="line">
            <a:avLst/>
          </a:prstGeom>
          <a:noFill/>
          <a:ln w="25400">
            <a:solidFill>
              <a:srgbClr val="8C2A32"/>
            </a:solidFill>
            <a:prstDash val="solid"/>
          </a:ln>
        </p:spPr>
      </p:sp>
      <p:sp>
        <p:nvSpPr>
          <p:cNvPr id="8" name="Text 6"/>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02 / 04</a:t>
            </a:r>
            <a:endParaRPr lang="en-US" sz="1000" dirty="0"/>
          </a:p>
        </p:txBody>
      </p:sp>
      <p:sp>
        <p:nvSpPr>
          <p:cNvPr id="9" name="Text 7"/>
          <p:cNvSpPr/>
          <p:nvPr/>
        </p:nvSpPr>
        <p:spPr>
          <a:xfrm>
            <a:off x="790042" y="1207008"/>
            <a:ext cx="13057632" cy="285293"/>
          </a:xfrm>
          <a:prstGeom prst="rect">
            <a:avLst/>
          </a:prstGeom>
          <a:noFill/>
          <a:ln/>
        </p:spPr>
        <p:txBody>
          <a:bodyPr wrap="square" lIns="0" tIns="0" rIns="0" bIns="0" rtlCol="0" anchor="ctr"/>
          <a:lstStyle/>
          <a:p>
            <a:pPr indent="0" marL="0">
              <a:buNone/>
            </a:pPr>
            <a:r>
              <a:rPr lang="en-US" sz="1100" b="1" dirty="0">
                <a:solidFill>
                  <a:srgbClr val="1F2226"/>
                </a:solidFill>
                <a:latin typeface="Arial" pitchFamily="34" charset="0"/>
                <a:ea typeface="Arial" pitchFamily="34" charset="-122"/>
                <a:cs typeface="Arial" pitchFamily="34" charset="-120"/>
              </a:rPr>
              <a:t>기준 연구   </a:t>
            </a:r>
            <a:pPr indent="0" marL="0">
              <a:buNone/>
            </a:pPr>
            <a:r>
              <a:rPr lang="en-US" sz="1100" dirty="0">
                <a:solidFill>
                  <a:srgbClr val="1F2226"/>
                </a:solidFill>
                <a:latin typeface="Arial" pitchFamily="34" charset="0"/>
                <a:ea typeface="Arial" pitchFamily="34" charset="-122"/>
                <a:cs typeface="Arial" pitchFamily="34" charset="-120"/>
              </a:rPr>
              <a:t>Tsai &amp; Wang (2013). Exploring the factors associated with employees' perceived appraisal accuracy. </a:t>
            </a:r>
            <a:pPr indent="0" marL="0">
              <a:buNone/>
            </a:pPr>
            <a:r>
              <a:rPr lang="en-US" sz="1100" i="1" dirty="0">
                <a:solidFill>
                  <a:srgbClr val="70757C"/>
                </a:solidFill>
                <a:latin typeface="Arial" pitchFamily="34" charset="0"/>
                <a:ea typeface="Arial" pitchFamily="34" charset="-122"/>
                <a:cs typeface="Arial" pitchFamily="34" charset="-120"/>
              </a:rPr>
              <a:t>International Journal of Human Resource Management, 24(11), 2197–2220.</a:t>
            </a:r>
            <a:pPr indent="0" marL="0">
              <a:buNone/>
            </a:pPr>
            <a:r>
              <a:rPr lang="en-US" sz="1100" b="1" dirty="0">
                <a:solidFill>
                  <a:srgbClr val="1F2226"/>
                </a:solidFill>
                <a:latin typeface="Arial" pitchFamily="34" charset="0"/>
                <a:ea typeface="Arial" pitchFamily="34" charset="-122"/>
                <a:cs typeface="Arial" pitchFamily="34" charset="-120"/>
              </a:rPr>
              <a:t>    N=194 · R²=.714</a:t>
            </a:r>
            <a:endParaRPr lang="en-US" sz="1100" dirty="0"/>
          </a:p>
        </p:txBody>
      </p:sp>
      <p:sp>
        <p:nvSpPr>
          <p:cNvPr id="10" name="Text 8"/>
          <p:cNvSpPr/>
          <p:nvPr/>
        </p:nvSpPr>
        <p:spPr>
          <a:xfrm>
            <a:off x="768096" y="1602029"/>
            <a:ext cx="7132320" cy="307238"/>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 그 연구가 검토한 선행요인 — 그리고 비운 자리 】</a:t>
            </a:r>
            <a:endParaRPr lang="en-US" sz="1250" dirty="0"/>
          </a:p>
        </p:txBody>
      </p:sp>
      <p:sp>
        <p:nvSpPr>
          <p:cNvPr id="11" name="Shape 9"/>
          <p:cNvSpPr/>
          <p:nvPr/>
        </p:nvSpPr>
        <p:spPr>
          <a:xfrm>
            <a:off x="768096" y="1975104"/>
            <a:ext cx="6419088" cy="1492301"/>
          </a:xfrm>
          <a:prstGeom prst="rect">
            <a:avLst/>
          </a:prstGeom>
          <a:solidFill>
            <a:srgbClr val="F7F8F9"/>
          </a:solidFill>
          <a:ln w="12700">
            <a:solidFill>
              <a:srgbClr val="C9CDD3"/>
            </a:solidFill>
            <a:prstDash val="solid"/>
          </a:ln>
        </p:spPr>
      </p:sp>
      <p:sp>
        <p:nvSpPr>
          <p:cNvPr id="12" name="Text 10"/>
          <p:cNvSpPr/>
          <p:nvPr/>
        </p:nvSpPr>
        <p:spPr>
          <a:xfrm>
            <a:off x="1042416" y="2084832"/>
            <a:ext cx="5815584" cy="263347"/>
          </a:xfrm>
          <a:prstGeom prst="rect">
            <a:avLst/>
          </a:prstGeom>
          <a:noFill/>
          <a:ln/>
        </p:spPr>
        <p:txBody>
          <a:bodyPr wrap="square" lIns="0" tIns="0" rIns="0" bIns="0" rtlCol="0" anchor="ctr"/>
          <a:lstStyle/>
          <a:p>
            <a:pPr indent="0" marL="0">
              <a:buNone/>
            </a:pPr>
            <a:r>
              <a:rPr lang="en-US" sz="1000" b="1" dirty="0">
                <a:solidFill>
                  <a:srgbClr val="70757C"/>
                </a:solidFill>
                <a:latin typeface="Arial" pitchFamily="34" charset="0"/>
                <a:ea typeface="Arial" pitchFamily="34" charset="-122"/>
                <a:cs typeface="Arial" pitchFamily="34" charset="-120"/>
              </a:rPr>
              <a:t>검토한 선행요인 6</a:t>
            </a:r>
            <a:endParaRPr lang="en-US" sz="1000" dirty="0"/>
          </a:p>
        </p:txBody>
      </p:sp>
      <p:sp>
        <p:nvSpPr>
          <p:cNvPr id="13" name="Text 11"/>
          <p:cNvSpPr/>
          <p:nvPr/>
        </p:nvSpPr>
        <p:spPr>
          <a:xfrm>
            <a:off x="1042416" y="2370125"/>
            <a:ext cx="5925312" cy="987552"/>
          </a:xfrm>
          <a:prstGeom prst="rect">
            <a:avLst/>
          </a:prstGeom>
          <a:noFill/>
          <a:ln/>
        </p:spPr>
        <p:txBody>
          <a:bodyPr wrap="square" lIns="0" tIns="0" rIns="0" bIns="0" rtlCol="0" anchor="ctr"/>
          <a:lstStyle/>
          <a:p>
            <a:pPr indent="0" marL="0">
              <a:lnSpc>
                <a:spcPts val="2280"/>
              </a:lnSpc>
              <a:buNone/>
            </a:pPr>
            <a:r>
              <a:rPr lang="en-US" sz="1150" dirty="0">
                <a:solidFill>
                  <a:srgbClr val="1F2226"/>
                </a:solidFill>
                <a:latin typeface="Arial" pitchFamily="34" charset="0"/>
                <a:ea typeface="Arial" pitchFamily="34" charset="-122"/>
                <a:cs typeface="Arial" pitchFamily="34" charset="-120"/>
              </a:rPr>
              <a:t>분배공정성 · 절차공정성 · 상호작용공정성</a:t>
            </a:r>
            <a:endParaRPr lang="en-US" sz="1150" dirty="0"/>
          </a:p>
          <a:p>
            <a:pPr indent="0" marL="0">
              <a:lnSpc>
                <a:spcPts val="2280"/>
              </a:lnSpc>
              <a:buNone/>
            </a:pPr>
            <a:r>
              <a:rPr lang="en-US" sz="1150" dirty="0">
                <a:solidFill>
                  <a:srgbClr val="1F2226"/>
                </a:solidFill>
                <a:latin typeface="Arial" pitchFamily="34" charset="0"/>
                <a:ea typeface="Arial" pitchFamily="34" charset="-122"/>
                <a:cs typeface="Arial" pitchFamily="34" charset="-120"/>
              </a:rPr>
              <a:t>관리 목적 · 개발 목적 · 다중 평가자</a:t>
            </a:r>
            <a:endParaRPr lang="en-US" sz="1150" dirty="0"/>
          </a:p>
          <a:p>
            <a:pPr indent="0" marL="0">
              <a:lnSpc>
                <a:spcPts val="2280"/>
              </a:lnSpc>
              <a:buNone/>
            </a:pPr>
            <a:r>
              <a:rPr lang="en-US" sz="1150" dirty="0">
                <a:solidFill>
                  <a:srgbClr val="1F2226"/>
                </a:solidFill>
                <a:latin typeface="Arial" pitchFamily="34" charset="0"/>
                <a:ea typeface="Arial" pitchFamily="34" charset="-122"/>
                <a:cs typeface="Arial" pitchFamily="34" charset="-120"/>
              </a:rPr>
              <a:t>(인터뷰 추가 — 평가 기준·목표의 명확성)</a:t>
            </a:r>
            <a:endParaRPr lang="en-US" sz="1150" dirty="0"/>
          </a:p>
        </p:txBody>
      </p:sp>
      <p:sp>
        <p:nvSpPr>
          <p:cNvPr id="14" name="Shape 12"/>
          <p:cNvSpPr/>
          <p:nvPr/>
        </p:nvSpPr>
        <p:spPr>
          <a:xfrm>
            <a:off x="7439558" y="1975104"/>
            <a:ext cx="6441034" cy="1492301"/>
          </a:xfrm>
          <a:prstGeom prst="rect">
            <a:avLst/>
          </a:prstGeom>
          <a:solidFill>
            <a:srgbClr val="EDEEF0"/>
          </a:solidFill>
          <a:ln w="15875">
            <a:solidFill>
              <a:srgbClr val="1F2226"/>
            </a:solidFill>
            <a:prstDash val="solid"/>
          </a:ln>
        </p:spPr>
      </p:sp>
      <p:sp>
        <p:nvSpPr>
          <p:cNvPr id="15" name="Text 13"/>
          <p:cNvSpPr/>
          <p:nvPr/>
        </p:nvSpPr>
        <p:spPr>
          <a:xfrm>
            <a:off x="7713878" y="2084832"/>
            <a:ext cx="5815584" cy="263347"/>
          </a:xfrm>
          <a:prstGeom prst="rect">
            <a:avLst/>
          </a:prstGeom>
          <a:noFill/>
          <a:ln/>
        </p:spPr>
        <p:txBody>
          <a:bodyPr wrap="square" lIns="0" tIns="0" rIns="0" bIns="0" rtlCol="0" anchor="ctr"/>
          <a:lstStyle/>
          <a:p>
            <a:pPr indent="0" marL="0">
              <a:buNone/>
            </a:pPr>
            <a:r>
              <a:rPr lang="en-US" sz="1000" b="1" dirty="0">
                <a:solidFill>
                  <a:srgbClr val="1F2226"/>
                </a:solidFill>
                <a:latin typeface="Arial" pitchFamily="34" charset="0"/>
                <a:ea typeface="Arial" pitchFamily="34" charset="-122"/>
                <a:cs typeface="Arial" pitchFamily="34" charset="-120"/>
              </a:rPr>
              <a:t>비운 자리</a:t>
            </a:r>
            <a:endParaRPr lang="en-US" sz="1000" dirty="0"/>
          </a:p>
        </p:txBody>
      </p:sp>
      <p:sp>
        <p:nvSpPr>
          <p:cNvPr id="16" name="Text 14"/>
          <p:cNvSpPr/>
          <p:nvPr/>
        </p:nvSpPr>
        <p:spPr>
          <a:xfrm>
            <a:off x="7713878" y="2370125"/>
            <a:ext cx="5925312" cy="987552"/>
          </a:xfrm>
          <a:prstGeom prst="rect">
            <a:avLst/>
          </a:prstGeom>
          <a:noFill/>
          <a:ln/>
        </p:spPr>
        <p:txBody>
          <a:bodyPr wrap="square" lIns="0" tIns="0" rIns="0" bIns="0" rtlCol="0" anchor="ctr"/>
          <a:lstStyle/>
          <a:p>
            <a:pPr indent="0" marL="0">
              <a:lnSpc>
                <a:spcPts val="2280"/>
              </a:lnSpc>
              <a:buNone/>
            </a:pPr>
            <a:r>
              <a:rPr lang="en-US" sz="1200" b="1" dirty="0">
                <a:solidFill>
                  <a:srgbClr val="1F2226"/>
                </a:solidFill>
                <a:latin typeface="Arial" pitchFamily="34" charset="0"/>
                <a:ea typeface="Arial" pitchFamily="34" charset="-122"/>
                <a:cs typeface="Arial" pitchFamily="34" charset="-120"/>
              </a:rPr>
              <a:t>모두 「평가 제도와 평가자」에 관한 것이다</a:t>
            </a:r>
            <a:endParaRPr lang="en-US" sz="1200" dirty="0"/>
          </a:p>
          <a:p>
            <a:pPr indent="0" marL="0">
              <a:lnSpc>
                <a:spcPts val="2280"/>
              </a:lnSpc>
              <a:buNone/>
            </a:pPr>
            <a:r>
              <a:rPr lang="en-US" sz="1200" b="1" dirty="0">
                <a:solidFill>
                  <a:srgbClr val="1F2226"/>
                </a:solidFill>
                <a:latin typeface="Arial" pitchFamily="34" charset="0"/>
                <a:ea typeface="Arial" pitchFamily="34" charset="-122"/>
                <a:cs typeface="Arial" pitchFamily="34" charset="-120"/>
              </a:rPr>
              <a:t>평가 대상인 산출물의 속성에서 선행요인을 찾은 연구는 없다</a:t>
            </a:r>
            <a:endParaRPr lang="en-US" sz="1200" dirty="0"/>
          </a:p>
        </p:txBody>
      </p:sp>
      <p:sp>
        <p:nvSpPr>
          <p:cNvPr id="17" name="Text 15"/>
          <p:cNvSpPr/>
          <p:nvPr/>
        </p:nvSpPr>
        <p:spPr>
          <a:xfrm>
            <a:off x="768096" y="3664915"/>
            <a:ext cx="3291840" cy="307238"/>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 대안 모형 】</a:t>
            </a:r>
            <a:endParaRPr lang="en-US" sz="1250" dirty="0"/>
          </a:p>
        </p:txBody>
      </p:sp>
      <p:sp>
        <p:nvSpPr>
          <p:cNvPr id="18" name="Shape 16"/>
          <p:cNvSpPr/>
          <p:nvPr/>
        </p:nvSpPr>
        <p:spPr>
          <a:xfrm>
            <a:off x="1426464" y="4279392"/>
            <a:ext cx="3621024" cy="1009498"/>
          </a:xfrm>
          <a:prstGeom prst="rect">
            <a:avLst/>
          </a:prstGeom>
          <a:solidFill>
            <a:srgbClr val="FFFFFF"/>
          </a:solidFill>
          <a:ln w="19050">
            <a:solidFill>
              <a:srgbClr val="1F2226"/>
            </a:solidFill>
            <a:prstDash val="solid"/>
          </a:ln>
        </p:spPr>
      </p:sp>
      <p:sp>
        <p:nvSpPr>
          <p:cNvPr id="19" name="Text 17"/>
          <p:cNvSpPr/>
          <p:nvPr/>
        </p:nvSpPr>
        <p:spPr>
          <a:xfrm>
            <a:off x="1426464" y="4279392"/>
            <a:ext cx="3621024" cy="1009498"/>
          </a:xfrm>
          <a:prstGeom prst="rect">
            <a:avLst/>
          </a:prstGeom>
          <a:noFill/>
          <a:ln/>
        </p:spPr>
        <p:txBody>
          <a:bodyPr wrap="square" lIns="0" tIns="0" rIns="0" bIns="0" rtlCol="0" anchor="ctr"/>
          <a:lstStyle/>
          <a:p>
            <a:pPr algn="ctr" indent="0" marL="0">
              <a:lnSpc>
                <a:spcPts val="2400"/>
              </a:lnSpc>
              <a:buNone/>
            </a:pPr>
            <a:r>
              <a:rPr lang="en-US" sz="1400" b="1" dirty="0">
                <a:solidFill>
                  <a:srgbClr val="1F2226"/>
                </a:solidFill>
                <a:latin typeface="Arial" pitchFamily="34" charset="0"/>
                <a:ea typeface="Arial" pitchFamily="34" charset="-122"/>
                <a:cs typeface="Arial" pitchFamily="34" charset="-120"/>
              </a:rPr>
              <a:t>성과 기여</a:t>
            </a:r>
            <a:endParaRPr lang="en-US" sz="1400" dirty="0"/>
          </a:p>
          <a:p>
            <a:pPr algn="ctr" indent="0" marL="0">
              <a:lnSpc>
                <a:spcPts val="2400"/>
              </a:lnSpc>
              <a:buNone/>
            </a:pPr>
            <a:r>
              <a:rPr lang="en-US" sz="1400" b="1" dirty="0">
                <a:solidFill>
                  <a:srgbClr val="1F2226"/>
                </a:solidFill>
                <a:latin typeface="Arial" pitchFamily="34" charset="0"/>
                <a:ea typeface="Arial" pitchFamily="34" charset="-122"/>
                <a:cs typeface="Arial" pitchFamily="34" charset="-120"/>
              </a:rPr>
              <a:t>귀속 모호성</a:t>
            </a:r>
            <a:endParaRPr lang="en-US" sz="1400" dirty="0"/>
          </a:p>
        </p:txBody>
      </p:sp>
      <p:sp>
        <p:nvSpPr>
          <p:cNvPr id="20" name="Text 18"/>
          <p:cNvSpPr/>
          <p:nvPr/>
        </p:nvSpPr>
        <p:spPr>
          <a:xfrm>
            <a:off x="1426464" y="5332781"/>
            <a:ext cx="3621024" cy="263347"/>
          </a:xfrm>
          <a:prstGeom prst="rect">
            <a:avLst/>
          </a:prstGeom>
          <a:noFill/>
          <a:ln/>
        </p:spPr>
        <p:txBody>
          <a:bodyPr wrap="square" lIns="0" tIns="0" rIns="0" bIns="0" rtlCol="0" anchor="ctr"/>
          <a:lstStyle/>
          <a:p>
            <a:pPr algn="ctr" indent="0" marL="0">
              <a:buNone/>
            </a:pPr>
            <a:r>
              <a:rPr lang="en-US" sz="950" dirty="0">
                <a:solidFill>
                  <a:srgbClr val="70757C"/>
                </a:solidFill>
                <a:latin typeface="Arial" pitchFamily="34" charset="0"/>
                <a:ea typeface="Arial" pitchFamily="34" charset="-122"/>
                <a:cs typeface="Arial" pitchFamily="34" charset="-120"/>
              </a:rPr>
              <a:t>IV · 신규 선행요인</a:t>
            </a:r>
            <a:endParaRPr lang="en-US" sz="950" dirty="0"/>
          </a:p>
        </p:txBody>
      </p:sp>
      <p:sp>
        <p:nvSpPr>
          <p:cNvPr id="21" name="Shape 19"/>
          <p:cNvSpPr/>
          <p:nvPr/>
        </p:nvSpPr>
        <p:spPr>
          <a:xfrm>
            <a:off x="5212080" y="4784141"/>
            <a:ext cx="2798064" cy="0"/>
          </a:xfrm>
          <a:prstGeom prst="line">
            <a:avLst/>
          </a:prstGeom>
          <a:noFill/>
          <a:ln w="22225">
            <a:solidFill>
              <a:srgbClr val="1F2226"/>
            </a:solidFill>
            <a:prstDash val="solid"/>
            <a:tailEnd type="triangle"/>
          </a:ln>
        </p:spPr>
      </p:sp>
      <p:sp>
        <p:nvSpPr>
          <p:cNvPr id="22" name="Text 20"/>
          <p:cNvSpPr/>
          <p:nvPr/>
        </p:nvSpPr>
        <p:spPr>
          <a:xfrm>
            <a:off x="5212080" y="4849978"/>
            <a:ext cx="2798064" cy="285293"/>
          </a:xfrm>
          <a:prstGeom prst="rect">
            <a:avLst/>
          </a:prstGeom>
          <a:noFill/>
          <a:ln/>
        </p:spPr>
        <p:txBody>
          <a:bodyPr wrap="square" lIns="0" tIns="0" rIns="0" bIns="0" rtlCol="0" anchor="ctr"/>
          <a:lstStyle/>
          <a:p>
            <a:pPr algn="ctr" indent="0" marL="0">
              <a:buNone/>
            </a:pPr>
            <a:r>
              <a:rPr lang="en-US" sz="1150" b="1" dirty="0">
                <a:solidFill>
                  <a:srgbClr val="1F2226"/>
                </a:solidFill>
                <a:latin typeface="Arial" pitchFamily="34" charset="0"/>
                <a:ea typeface="Arial" pitchFamily="34" charset="-122"/>
                <a:cs typeface="Arial" pitchFamily="34" charset="-120"/>
              </a:rPr>
              <a:t>H1 · H2</a:t>
            </a:r>
            <a:endParaRPr lang="en-US" sz="1150" dirty="0"/>
          </a:p>
        </p:txBody>
      </p:sp>
      <p:sp>
        <p:nvSpPr>
          <p:cNvPr id="23" name="Shape 21"/>
          <p:cNvSpPr/>
          <p:nvPr/>
        </p:nvSpPr>
        <p:spPr>
          <a:xfrm>
            <a:off x="8174736" y="4279392"/>
            <a:ext cx="3621024" cy="1009498"/>
          </a:xfrm>
          <a:prstGeom prst="rect">
            <a:avLst/>
          </a:prstGeom>
          <a:solidFill>
            <a:srgbClr val="FFFFFF"/>
          </a:solidFill>
          <a:ln w="19050">
            <a:solidFill>
              <a:srgbClr val="1F2226"/>
            </a:solidFill>
            <a:prstDash val="solid"/>
          </a:ln>
        </p:spPr>
      </p:sp>
      <p:sp>
        <p:nvSpPr>
          <p:cNvPr id="24" name="Text 22"/>
          <p:cNvSpPr/>
          <p:nvPr/>
        </p:nvSpPr>
        <p:spPr>
          <a:xfrm>
            <a:off x="8174736" y="4279392"/>
            <a:ext cx="3621024" cy="1009498"/>
          </a:xfrm>
          <a:prstGeom prst="rect">
            <a:avLst/>
          </a:prstGeom>
          <a:noFill/>
          <a:ln/>
        </p:spPr>
        <p:txBody>
          <a:bodyPr wrap="square" lIns="0" tIns="0" rIns="0" bIns="0" rtlCol="0" anchor="ctr"/>
          <a:lstStyle/>
          <a:p>
            <a:pPr algn="ctr" indent="0" marL="0">
              <a:lnSpc>
                <a:spcPts val="2400"/>
              </a:lnSpc>
              <a:buNone/>
            </a:pPr>
            <a:r>
              <a:rPr lang="en-US" sz="1400" b="1" dirty="0">
                <a:solidFill>
                  <a:srgbClr val="1F2226"/>
                </a:solidFill>
                <a:latin typeface="Arial" pitchFamily="34" charset="0"/>
                <a:ea typeface="Arial" pitchFamily="34" charset="-122"/>
                <a:cs typeface="Arial" pitchFamily="34" charset="-120"/>
              </a:rPr>
              <a:t>지각된</a:t>
            </a:r>
            <a:endParaRPr lang="en-US" sz="1400" dirty="0"/>
          </a:p>
          <a:p>
            <a:pPr algn="ctr" indent="0" marL="0">
              <a:lnSpc>
                <a:spcPts val="2400"/>
              </a:lnSpc>
              <a:buNone/>
            </a:pPr>
            <a:r>
              <a:rPr lang="en-US" sz="1400" b="1" dirty="0">
                <a:solidFill>
                  <a:srgbClr val="1F2226"/>
                </a:solidFill>
                <a:latin typeface="Arial" pitchFamily="34" charset="0"/>
                <a:ea typeface="Arial" pitchFamily="34" charset="-122"/>
                <a:cs typeface="Arial" pitchFamily="34" charset="-120"/>
              </a:rPr>
              <a:t>평가 정확성</a:t>
            </a:r>
            <a:endParaRPr lang="en-US" sz="1400" dirty="0"/>
          </a:p>
        </p:txBody>
      </p:sp>
      <p:sp>
        <p:nvSpPr>
          <p:cNvPr id="25" name="Text 23"/>
          <p:cNvSpPr/>
          <p:nvPr/>
        </p:nvSpPr>
        <p:spPr>
          <a:xfrm>
            <a:off x="8174736" y="5332781"/>
            <a:ext cx="3621024" cy="263347"/>
          </a:xfrm>
          <a:prstGeom prst="rect">
            <a:avLst/>
          </a:prstGeom>
          <a:noFill/>
          <a:ln/>
        </p:spPr>
        <p:txBody>
          <a:bodyPr wrap="square" lIns="0" tIns="0" rIns="0" bIns="0" rtlCol="0" anchor="ctr"/>
          <a:lstStyle/>
          <a:p>
            <a:pPr algn="ctr" indent="0" marL="0">
              <a:buNone/>
            </a:pPr>
            <a:r>
              <a:rPr lang="en-US" sz="950" dirty="0">
                <a:solidFill>
                  <a:srgbClr val="70757C"/>
                </a:solidFill>
                <a:latin typeface="Arial" pitchFamily="34" charset="0"/>
                <a:ea typeface="Arial" pitchFamily="34" charset="-122"/>
                <a:cs typeface="Arial" pitchFamily="34" charset="-120"/>
              </a:rPr>
              <a:t>DV · Vest et al.(1995) 4문항</a:t>
            </a:r>
            <a:endParaRPr lang="en-US" sz="950" dirty="0"/>
          </a:p>
        </p:txBody>
      </p:sp>
      <p:sp>
        <p:nvSpPr>
          <p:cNvPr id="26" name="Shape 24"/>
          <p:cNvSpPr/>
          <p:nvPr/>
        </p:nvSpPr>
        <p:spPr>
          <a:xfrm>
            <a:off x="8174736" y="3642970"/>
            <a:ext cx="3621024" cy="460858"/>
          </a:xfrm>
          <a:prstGeom prst="rect">
            <a:avLst/>
          </a:prstGeom>
          <a:solidFill>
            <a:srgbClr val="F7F8F9"/>
          </a:solidFill>
          <a:ln w="12700">
            <a:solidFill>
              <a:srgbClr val="70757C"/>
            </a:solidFill>
            <a:prstDash val="dash"/>
          </a:ln>
        </p:spPr>
      </p:sp>
      <p:sp>
        <p:nvSpPr>
          <p:cNvPr id="27" name="Text 25"/>
          <p:cNvSpPr/>
          <p:nvPr/>
        </p:nvSpPr>
        <p:spPr>
          <a:xfrm>
            <a:off x="8174736" y="3642970"/>
            <a:ext cx="3621024" cy="460858"/>
          </a:xfrm>
          <a:prstGeom prst="rect">
            <a:avLst/>
          </a:prstGeom>
          <a:noFill/>
          <a:ln/>
        </p:spPr>
        <p:txBody>
          <a:bodyPr wrap="square" lIns="0" tIns="0" rIns="0" bIns="0" rtlCol="0" anchor="ctr"/>
          <a:lstStyle/>
          <a:p>
            <a:pPr algn="ctr" indent="0" marL="0">
              <a:buNone/>
            </a:pPr>
            <a:r>
              <a:rPr lang="en-US" sz="1050" dirty="0">
                <a:solidFill>
                  <a:srgbClr val="70757C"/>
                </a:solidFill>
                <a:latin typeface="Arial" pitchFamily="34" charset="0"/>
                <a:ea typeface="Arial" pitchFamily="34" charset="-122"/>
                <a:cs typeface="Arial" pitchFamily="34" charset="-120"/>
              </a:rPr>
              <a:t>기존 선행요인 6  통제</a:t>
            </a:r>
            <a:endParaRPr lang="en-US" sz="1050" dirty="0"/>
          </a:p>
        </p:txBody>
      </p:sp>
      <p:sp>
        <p:nvSpPr>
          <p:cNvPr id="28" name="Shape 26"/>
          <p:cNvSpPr/>
          <p:nvPr/>
        </p:nvSpPr>
        <p:spPr>
          <a:xfrm>
            <a:off x="9985248" y="4103827"/>
            <a:ext cx="0" cy="153619"/>
          </a:xfrm>
          <a:prstGeom prst="line">
            <a:avLst/>
          </a:prstGeom>
          <a:noFill/>
          <a:ln w="15875">
            <a:solidFill>
              <a:srgbClr val="70757C"/>
            </a:solidFill>
            <a:prstDash val="dash"/>
            <a:tailEnd type="triangle"/>
          </a:ln>
        </p:spPr>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68096" y="5881421"/>
          <a:ext cx="13112496" cy="914400"/>
        </p:xfrm>
        <a:graphic>
          <a:graphicData uri="http://schemas.openxmlformats.org/drawingml/2006/table">
            <a:tbl>
              <a:tblPr/>
              <a:tblGrid>
                <a:gridCol w="790042"/>
                <a:gridCol w="8668512"/>
                <a:gridCol w="3653942"/>
              </a:tblGrid>
              <a:tr h="373075">
                <a:tc>
                  <a:txBody>
                    <a:bodyPr/>
                    <a:lstStyle/>
                    <a:p>
                      <a:pPr indent="0" marL="0">
                        <a:buNone/>
                      </a:pPr>
                      <a:r>
                        <a:rPr lang="en-US" sz="1150" b="1" dirty="0">
                          <a:solidFill>
                            <a:srgbClr val="1F2226"/>
                          </a:solidFill>
                          <a:latin typeface="Arial" pitchFamily="34" charset="0"/>
                          <a:ea typeface="Arial" pitchFamily="34" charset="-122"/>
                          <a:cs typeface="Arial" pitchFamily="34" charset="-120"/>
                        </a:rPr>
                        <a:t>H1</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귀속 모호성이 높을수록 지각된 평가 정확성이 낮아질 것이다</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주효과</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373075">
                <a:tc>
                  <a:txBody>
                    <a:bodyPr/>
                    <a:lstStyle/>
                    <a:p>
                      <a:pPr indent="0" marL="0">
                        <a:buNone/>
                      </a:pPr>
                      <a:r>
                        <a:rPr lang="en-US" sz="1150" b="1" dirty="0">
                          <a:solidFill>
                            <a:srgbClr val="1F2226"/>
                          </a:solidFill>
                          <a:latin typeface="Arial" pitchFamily="34" charset="0"/>
                          <a:ea typeface="Arial" pitchFamily="34" charset="-122"/>
                          <a:cs typeface="Arial" pitchFamily="34" charset="-120"/>
                        </a:rPr>
                        <a:t>H2</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기존 선행요인 6을 통제한 뒤에도 귀속 모호성은 정확성 지각을 증분 설명할 것이다</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증분 · ΔR²  ★ 핵심</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373075">
                <a:tc>
                  <a:txBody>
                    <a:bodyPr/>
                    <a:lstStyle/>
                    <a:p>
                      <a:pPr indent="0" marL="0">
                        <a:buNone/>
                      </a:pPr>
                      <a:r>
                        <a:rPr lang="en-US" sz="1150" b="1" dirty="0">
                          <a:solidFill>
                            <a:srgbClr val="1F2226"/>
                          </a:solidFill>
                          <a:latin typeface="Arial" pitchFamily="34" charset="0"/>
                          <a:ea typeface="Arial" pitchFamily="34" charset="-122"/>
                          <a:cs typeface="Arial" pitchFamily="34" charset="-120"/>
                        </a:rPr>
                        <a:t>H3</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평가 기준 명확성이 그 관계를 완화할 것이다</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조절 · 탐색적</a:t>
                      </a:r>
                      <a:endParaRPr lang="en-US" sz="1150" dirty="0">
                        <a:latin typeface="Arial" charset="0"/>
                        <a:ea typeface="Arial" charset="0"/>
                        <a:cs typeface="Arial" charset="0"/>
                      </a:endParaRPr>
                    </a:p>
                  </a:txBody>
                  <a:tcPr marL="101600" marR="101600" marT="38100" marB="381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bl>
          </a:graphicData>
        </a:graphic>
      </p:graphicFrame>
      <p:sp>
        <p:nvSpPr>
          <p:cNvPr id="30" name="Text 27"/>
          <p:cNvSpPr/>
          <p:nvPr/>
        </p:nvSpPr>
        <p:spPr>
          <a:xfrm>
            <a:off x="790042" y="7154266"/>
            <a:ext cx="13057632" cy="285293"/>
          </a:xfrm>
          <a:prstGeom prst="rect">
            <a:avLst/>
          </a:prstGeom>
          <a:noFill/>
          <a:ln/>
        </p:spPr>
        <p:txBody>
          <a:bodyPr wrap="square" lIns="0" tIns="0" rIns="0" bIns="0" rtlCol="0" anchor="ctr"/>
          <a:lstStyle/>
          <a:p>
            <a:pPr indent="0" marL="0">
              <a:buNone/>
            </a:pPr>
            <a:r>
              <a:rPr lang="en-US" sz="1100" b="1" dirty="0">
                <a:solidFill>
                  <a:srgbClr val="1F2226"/>
                </a:solidFill>
                <a:latin typeface="Arial" pitchFamily="34" charset="0"/>
                <a:ea typeface="Arial" pitchFamily="34" charset="-122"/>
                <a:cs typeface="Arial" pitchFamily="34" charset="-120"/>
              </a:rPr>
              <a:t>R²=.714이라는 기준선이 있어, 남는 설명력이 곧 기여의 크기를 보여준다</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80314" y="263347"/>
            <a:ext cx="504749" cy="504749"/>
          </a:xfrm>
          <a:prstGeom prst="ellipse">
            <a:avLst/>
          </a:prstGeom>
          <a:solidFill>
            <a:srgbClr val="FFFFFF">
              <a:alpha val="0"/>
            </a:srgbClr>
          </a:solidFill>
          <a:ln w="44450">
            <a:solidFill>
              <a:srgbClr val="8C2A32"/>
            </a:solidFill>
            <a:prstDash val="solid"/>
          </a:ln>
        </p:spPr>
      </p:sp>
      <p:sp>
        <p:nvSpPr>
          <p:cNvPr id="3" name="Shape 1"/>
          <p:cNvSpPr/>
          <p:nvPr/>
        </p:nvSpPr>
        <p:spPr>
          <a:xfrm>
            <a:off x="976579" y="219456"/>
            <a:ext cx="373075" cy="614477"/>
          </a:xfrm>
          <a:prstGeom prst="rect">
            <a:avLst/>
          </a:prstGeom>
          <a:solidFill>
            <a:srgbClr val="FFFFFF"/>
          </a:solidFill>
          <a:ln w="12700">
            <a:solidFill>
              <a:srgbClr val="FFFFFF"/>
            </a:solidFill>
            <a:prstDash val="solid"/>
          </a:ln>
        </p:spPr>
      </p:sp>
      <p:sp>
        <p:nvSpPr>
          <p:cNvPr id="4" name="Text 2"/>
          <p:cNvSpPr/>
          <p:nvPr/>
        </p:nvSpPr>
        <p:spPr>
          <a:xfrm>
            <a:off x="943661" y="263347"/>
            <a:ext cx="8778240" cy="504749"/>
          </a:xfrm>
          <a:prstGeom prst="rect">
            <a:avLst/>
          </a:prstGeom>
          <a:noFill/>
          <a:ln/>
        </p:spPr>
        <p:txBody>
          <a:bodyPr wrap="square" lIns="0" tIns="0" rIns="0" bIns="0" rtlCol="0" anchor="ctr"/>
          <a:lstStyle/>
          <a:p>
            <a:pPr indent="0" marL="0">
              <a:buNone/>
            </a:pPr>
            <a:r>
              <a:rPr lang="en-US" sz="1900" b="1" dirty="0">
                <a:solidFill>
                  <a:srgbClr val="1F2226"/>
                </a:solidFill>
                <a:latin typeface="Arial" pitchFamily="34" charset="0"/>
                <a:ea typeface="Arial" pitchFamily="34" charset="-122"/>
                <a:cs typeface="Arial" pitchFamily="34" charset="-120"/>
              </a:rPr>
              <a:t>03.  척도 확보 현황</a:t>
            </a:r>
            <a:endParaRPr lang="en-US" sz="1900" dirty="0"/>
          </a:p>
        </p:txBody>
      </p:sp>
      <p:sp>
        <p:nvSpPr>
          <p:cNvPr id="5" name="Text 3"/>
          <p:cNvSpPr/>
          <p:nvPr/>
        </p:nvSpPr>
        <p:spPr>
          <a:xfrm>
            <a:off x="9765792" y="263347"/>
            <a:ext cx="4191610" cy="504749"/>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지도교수 면담  ·  2026. 08. 26.</a:t>
            </a:r>
            <a:endParaRPr lang="en-US" sz="1050" dirty="0"/>
          </a:p>
        </p:txBody>
      </p:sp>
      <p:sp>
        <p:nvSpPr>
          <p:cNvPr id="6" name="Shape 4"/>
          <p:cNvSpPr/>
          <p:nvPr/>
        </p:nvSpPr>
        <p:spPr>
          <a:xfrm>
            <a:off x="680314" y="877824"/>
            <a:ext cx="13277088" cy="0"/>
          </a:xfrm>
          <a:prstGeom prst="line">
            <a:avLst/>
          </a:prstGeom>
          <a:noFill/>
          <a:ln w="12700">
            <a:solidFill>
              <a:srgbClr val="C9CDD3"/>
            </a:solidFill>
            <a:prstDash val="solid"/>
          </a:ln>
        </p:spPr>
      </p:sp>
      <p:sp>
        <p:nvSpPr>
          <p:cNvPr id="7" name="Shape 5"/>
          <p:cNvSpPr/>
          <p:nvPr/>
        </p:nvSpPr>
        <p:spPr>
          <a:xfrm>
            <a:off x="9765792" y="877824"/>
            <a:ext cx="4191610" cy="0"/>
          </a:xfrm>
          <a:prstGeom prst="line">
            <a:avLst/>
          </a:prstGeom>
          <a:noFill/>
          <a:ln w="25400">
            <a:solidFill>
              <a:srgbClr val="8C2A32"/>
            </a:solidFill>
            <a:prstDash val="solid"/>
          </a:ln>
        </p:spPr>
      </p:sp>
      <p:sp>
        <p:nvSpPr>
          <p:cNvPr id="8" name="Text 6"/>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03 / 04</a:t>
            </a:r>
            <a:endParaRPr lang="en-US" sz="1000" dirty="0"/>
          </a:p>
        </p:txBody>
      </p:sp>
      <p:sp>
        <p:nvSpPr>
          <p:cNvPr id="9" name="Shape 7"/>
          <p:cNvSpPr/>
          <p:nvPr/>
        </p:nvSpPr>
        <p:spPr>
          <a:xfrm>
            <a:off x="768096" y="1207008"/>
            <a:ext cx="13112496" cy="614477"/>
          </a:xfrm>
          <a:prstGeom prst="rect">
            <a:avLst/>
          </a:prstGeom>
          <a:solidFill>
            <a:srgbClr val="EDEEF0"/>
          </a:solidFill>
          <a:ln w="12700">
            <a:solidFill>
              <a:srgbClr val="C9CDD3"/>
            </a:solidFill>
            <a:prstDash val="solid"/>
          </a:ln>
        </p:spPr>
      </p:sp>
      <p:sp>
        <p:nvSpPr>
          <p:cNvPr id="10" name="Text 8"/>
          <p:cNvSpPr/>
          <p:nvPr/>
        </p:nvSpPr>
        <p:spPr>
          <a:xfrm>
            <a:off x="1097280" y="1207008"/>
            <a:ext cx="12508992" cy="614477"/>
          </a:xfrm>
          <a:prstGeom prst="rect">
            <a:avLst/>
          </a:prstGeom>
          <a:noFill/>
          <a:ln/>
        </p:spPr>
        <p:txBody>
          <a:bodyPr wrap="square" lIns="0" tIns="0" rIns="0" bIns="0" rtlCol="0" anchor="ctr"/>
          <a:lstStyle/>
          <a:p>
            <a:pPr indent="0" marL="0">
              <a:buNone/>
            </a:pPr>
            <a:r>
              <a:rPr lang="en-US" sz="1500" b="1" dirty="0">
                <a:solidFill>
                  <a:srgbClr val="1F2226"/>
                </a:solidFill>
                <a:latin typeface="Arial" pitchFamily="34" charset="0"/>
                <a:ea typeface="Arial" pitchFamily="34" charset="-122"/>
                <a:cs typeface="Arial" pitchFamily="34" charset="-120"/>
              </a:rPr>
              <a:t>신규로 만들어야 하는 것은 IV 하나 — 나머지는 검증된 척도를 번안한다</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8096" y="2018995"/>
          <a:ext cx="13112496" cy="914400"/>
        </p:xfrm>
        <a:graphic>
          <a:graphicData uri="http://schemas.openxmlformats.org/drawingml/2006/table">
            <a:tbl>
              <a:tblPr/>
              <a:tblGrid>
                <a:gridCol w="3291840"/>
                <a:gridCol w="877824"/>
                <a:gridCol w="5102352"/>
                <a:gridCol w="3840480"/>
              </a:tblGrid>
              <a:tr h="504749">
                <a:tc>
                  <a:txBody>
                    <a:bodyPr/>
                    <a:lstStyle/>
                    <a:p>
                      <a:pPr indent="0" marL="0">
                        <a:buNone/>
                      </a:pPr>
                      <a:r>
                        <a:rPr lang="en-US" sz="1150" b="1" dirty="0">
                          <a:solidFill>
                            <a:srgbClr val="1F2226"/>
                          </a:solidFill>
                          <a:latin typeface="Arial" pitchFamily="34" charset="0"/>
                          <a:ea typeface="Arial" pitchFamily="34" charset="-122"/>
                          <a:cs typeface="Arial" pitchFamily="34" charset="-120"/>
                        </a:rPr>
                        <a:t>변수</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2226"/>
                          </a:solidFill>
                          <a:latin typeface="Arial" pitchFamily="34" charset="0"/>
                          <a:ea typeface="Arial" pitchFamily="34" charset="-122"/>
                          <a:cs typeface="Arial" pitchFamily="34" charset="-120"/>
                        </a:rPr>
                        <a:t>문항</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226"/>
                          </a:solidFill>
                          <a:latin typeface="Arial" pitchFamily="34" charset="0"/>
                          <a:ea typeface="Arial" pitchFamily="34" charset="-122"/>
                          <a:cs typeface="Arial" pitchFamily="34" charset="-120"/>
                        </a:rPr>
                        <a:t>출처</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b="1" dirty="0">
                          <a:solidFill>
                            <a:srgbClr val="1F2226"/>
                          </a:solidFill>
                          <a:latin typeface="Arial" pitchFamily="34" charset="0"/>
                          <a:ea typeface="Arial" pitchFamily="34" charset="-122"/>
                          <a:cs typeface="Arial" pitchFamily="34" charset="-120"/>
                        </a:rPr>
                        <a:t>상태</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DV  지각된 평가 정확성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Vest, Scott &amp; Tarnoff (1995) · α=.91</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 문항 문구 확보</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IV  귀속 모호성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현행 조작 점검 4문항을 측정으로 전환</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 신규 · 기존 문항 재사용</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통제  분배공정성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Niehoff &amp; Moorman (1993)</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 리포 보유</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통제  절차공정성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6</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Niehoff &amp; Moorman (1993)</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 리포 보유</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통제  상호작용공정성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6</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Moorman (1991)</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 리포 보유</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통제  관리 · 개발 목적</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8</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Cleveland, Murphy &amp; Williams (1989)</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 확보 필요</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504749">
                <a:tc>
                  <a:txBody>
                    <a:bodyPr/>
                    <a:lstStyle/>
                    <a:p>
                      <a:pPr indent="0" marL="0">
                        <a:buNone/>
                      </a:pPr>
                      <a:r>
                        <a:rPr lang="en-US" sz="1150" dirty="0">
                          <a:solidFill>
                            <a:srgbClr val="1F2226"/>
                          </a:solidFill>
                          <a:latin typeface="Arial" pitchFamily="34" charset="0"/>
                          <a:ea typeface="Arial" pitchFamily="34" charset="-122"/>
                          <a:cs typeface="Arial" pitchFamily="34" charset="-120"/>
                        </a:rPr>
                        <a:t>MOD  평가 기준 명확성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4</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현행 MOD 문항</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indent="0" marL="0">
                        <a:buNone/>
                      </a:pPr>
                      <a:r>
                        <a:rPr lang="en-US" sz="1150" dirty="0">
                          <a:solidFill>
                            <a:srgbClr val="1F2226"/>
                          </a:solidFill>
                          <a:latin typeface="Arial" pitchFamily="34" charset="0"/>
                          <a:ea typeface="Arial" pitchFamily="34" charset="-122"/>
                          <a:cs typeface="Arial" pitchFamily="34" charset="-120"/>
                        </a:rPr>
                        <a:t>🟡 재설계 검토 중</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bl>
          </a:graphicData>
        </a:graphic>
      </p:graphicFrame>
      <p:sp>
        <p:nvSpPr>
          <p:cNvPr id="12" name="Text 9"/>
          <p:cNvSpPr/>
          <p:nvPr/>
        </p:nvSpPr>
        <p:spPr>
          <a:xfrm>
            <a:off x="768096" y="6166714"/>
            <a:ext cx="6583680" cy="307238"/>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 DV 4문항 — Vest, Scott &amp; Tarnoff (1995) 】</a:t>
            </a:r>
            <a:endParaRPr lang="en-US" sz="1250" dirty="0"/>
          </a:p>
        </p:txBody>
      </p:sp>
      <p:sp>
        <p:nvSpPr>
          <p:cNvPr id="13" name="Shape 10"/>
          <p:cNvSpPr/>
          <p:nvPr/>
        </p:nvSpPr>
        <p:spPr>
          <a:xfrm>
            <a:off x="768096" y="6539789"/>
            <a:ext cx="13112496" cy="877824"/>
          </a:xfrm>
          <a:prstGeom prst="rect">
            <a:avLst/>
          </a:prstGeom>
          <a:solidFill>
            <a:srgbClr val="F7F8F9"/>
          </a:solidFill>
          <a:ln w="12700">
            <a:solidFill>
              <a:srgbClr val="C9CDD3"/>
            </a:solidFill>
            <a:prstDash val="solid"/>
          </a:ln>
        </p:spPr>
      </p:sp>
      <p:sp>
        <p:nvSpPr>
          <p:cNvPr id="14" name="Text 11"/>
          <p:cNvSpPr/>
          <p:nvPr/>
        </p:nvSpPr>
        <p:spPr>
          <a:xfrm>
            <a:off x="1097280" y="6539789"/>
            <a:ext cx="12508992" cy="877824"/>
          </a:xfrm>
          <a:prstGeom prst="rect">
            <a:avLst/>
          </a:prstGeom>
          <a:noFill/>
          <a:ln/>
        </p:spPr>
        <p:txBody>
          <a:bodyPr wrap="square" lIns="0" tIns="0" rIns="0" bIns="0" rtlCol="0" anchor="ctr"/>
          <a:lstStyle/>
          <a:p>
            <a:pPr indent="0" marL="0">
              <a:lnSpc>
                <a:spcPts val="2280"/>
              </a:lnSpc>
              <a:buNone/>
            </a:pPr>
            <a:r>
              <a:rPr lang="en-US" sz="1150" dirty="0">
                <a:solidFill>
                  <a:srgbClr val="1F2226"/>
                </a:solidFill>
                <a:latin typeface="Arial" pitchFamily="34" charset="0"/>
                <a:ea typeface="Arial" pitchFamily="34" charset="-122"/>
                <a:cs typeface="Arial" pitchFamily="34" charset="-120"/>
              </a:rPr>
              <a:t>① 평가가 내가 그 과업을 수행했다고 느낀 것과 일치했다      ② 평가가 내 실제 성과를 정확히 반영했다</a:t>
            </a:r>
            <a:endParaRPr lang="en-US" sz="1150" dirty="0"/>
          </a:p>
          <a:p>
            <a:pPr indent="0" marL="0">
              <a:lnSpc>
                <a:spcPts val="2280"/>
              </a:lnSpc>
              <a:buNone/>
            </a:pPr>
            <a:r>
              <a:rPr lang="en-US" sz="1150" dirty="0">
                <a:solidFill>
                  <a:srgbClr val="1F2226"/>
                </a:solidFill>
                <a:latin typeface="Arial" pitchFamily="34" charset="0"/>
                <a:ea typeface="Arial" pitchFamily="34" charset="-122"/>
                <a:cs typeface="Arial" pitchFamily="34" charset="-120"/>
              </a:rPr>
              <a:t>③ 평가가 내 강점과 약점을 정확히 기술했다      ④ 평가가 정확하다</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80314" y="263347"/>
            <a:ext cx="504749" cy="504749"/>
          </a:xfrm>
          <a:prstGeom prst="ellipse">
            <a:avLst/>
          </a:prstGeom>
          <a:solidFill>
            <a:srgbClr val="FFFFFF">
              <a:alpha val="0"/>
            </a:srgbClr>
          </a:solidFill>
          <a:ln w="44450">
            <a:solidFill>
              <a:srgbClr val="8C2A32"/>
            </a:solidFill>
            <a:prstDash val="solid"/>
          </a:ln>
        </p:spPr>
      </p:sp>
      <p:sp>
        <p:nvSpPr>
          <p:cNvPr id="3" name="Shape 1"/>
          <p:cNvSpPr/>
          <p:nvPr/>
        </p:nvSpPr>
        <p:spPr>
          <a:xfrm>
            <a:off x="976579" y="219456"/>
            <a:ext cx="373075" cy="614477"/>
          </a:xfrm>
          <a:prstGeom prst="rect">
            <a:avLst/>
          </a:prstGeom>
          <a:solidFill>
            <a:srgbClr val="FFFFFF"/>
          </a:solidFill>
          <a:ln w="12700">
            <a:solidFill>
              <a:srgbClr val="FFFFFF"/>
            </a:solidFill>
            <a:prstDash val="solid"/>
          </a:ln>
        </p:spPr>
      </p:sp>
      <p:sp>
        <p:nvSpPr>
          <p:cNvPr id="4" name="Text 2"/>
          <p:cNvSpPr/>
          <p:nvPr/>
        </p:nvSpPr>
        <p:spPr>
          <a:xfrm>
            <a:off x="943661" y="263347"/>
            <a:ext cx="8778240" cy="504749"/>
          </a:xfrm>
          <a:prstGeom prst="rect">
            <a:avLst/>
          </a:prstGeom>
          <a:noFill/>
          <a:ln/>
        </p:spPr>
        <p:txBody>
          <a:bodyPr wrap="square" lIns="0" tIns="0" rIns="0" bIns="0" rtlCol="0" anchor="ctr"/>
          <a:lstStyle/>
          <a:p>
            <a:pPr indent="0" marL="0">
              <a:buNone/>
            </a:pPr>
            <a:r>
              <a:rPr lang="en-US" sz="1900" b="1" dirty="0">
                <a:solidFill>
                  <a:srgbClr val="1F2226"/>
                </a:solidFill>
                <a:latin typeface="Arial" pitchFamily="34" charset="0"/>
                <a:ea typeface="Arial" pitchFamily="34" charset="-122"/>
                <a:cs typeface="Arial" pitchFamily="34" charset="-120"/>
              </a:rPr>
              <a:t>04.  결정 지점</a:t>
            </a:r>
            <a:endParaRPr lang="en-US" sz="1900" dirty="0"/>
          </a:p>
        </p:txBody>
      </p:sp>
      <p:sp>
        <p:nvSpPr>
          <p:cNvPr id="5" name="Text 3"/>
          <p:cNvSpPr/>
          <p:nvPr/>
        </p:nvSpPr>
        <p:spPr>
          <a:xfrm>
            <a:off x="9765792" y="263347"/>
            <a:ext cx="4191610" cy="504749"/>
          </a:xfrm>
          <a:prstGeom prst="rect">
            <a:avLst/>
          </a:prstGeom>
          <a:noFill/>
          <a:ln/>
        </p:spPr>
        <p:txBody>
          <a:bodyPr wrap="square" lIns="0" tIns="0" rIns="0" bIns="0" rtlCol="0" anchor="ctr"/>
          <a:lstStyle/>
          <a:p>
            <a:pPr algn="r" indent="0" marL="0">
              <a:buNone/>
            </a:pPr>
            <a:r>
              <a:rPr lang="en-US" sz="1050" dirty="0">
                <a:solidFill>
                  <a:srgbClr val="70757C"/>
                </a:solidFill>
                <a:latin typeface="Arial" pitchFamily="34" charset="0"/>
                <a:ea typeface="Arial" pitchFamily="34" charset="-122"/>
                <a:cs typeface="Arial" pitchFamily="34" charset="-120"/>
              </a:rPr>
              <a:t>지도교수 면담  ·  2026. 08. 26.</a:t>
            </a:r>
            <a:endParaRPr lang="en-US" sz="1050" dirty="0"/>
          </a:p>
        </p:txBody>
      </p:sp>
      <p:sp>
        <p:nvSpPr>
          <p:cNvPr id="6" name="Shape 4"/>
          <p:cNvSpPr/>
          <p:nvPr/>
        </p:nvSpPr>
        <p:spPr>
          <a:xfrm>
            <a:off x="680314" y="877824"/>
            <a:ext cx="13277088" cy="0"/>
          </a:xfrm>
          <a:prstGeom prst="line">
            <a:avLst/>
          </a:prstGeom>
          <a:noFill/>
          <a:ln w="12700">
            <a:solidFill>
              <a:srgbClr val="C9CDD3"/>
            </a:solidFill>
            <a:prstDash val="solid"/>
          </a:ln>
        </p:spPr>
      </p:sp>
      <p:sp>
        <p:nvSpPr>
          <p:cNvPr id="7" name="Shape 5"/>
          <p:cNvSpPr/>
          <p:nvPr/>
        </p:nvSpPr>
        <p:spPr>
          <a:xfrm>
            <a:off x="9765792" y="877824"/>
            <a:ext cx="4191610" cy="0"/>
          </a:xfrm>
          <a:prstGeom prst="line">
            <a:avLst/>
          </a:prstGeom>
          <a:noFill/>
          <a:ln w="25400">
            <a:solidFill>
              <a:srgbClr val="8C2A32"/>
            </a:solidFill>
            <a:prstDash val="solid"/>
          </a:ln>
        </p:spPr>
      </p:sp>
      <p:sp>
        <p:nvSpPr>
          <p:cNvPr id="8" name="Text 6"/>
          <p:cNvSpPr/>
          <p:nvPr/>
        </p:nvSpPr>
        <p:spPr>
          <a:xfrm>
            <a:off x="12508992" y="7626096"/>
            <a:ext cx="1448410" cy="307238"/>
          </a:xfrm>
          <a:prstGeom prst="rect">
            <a:avLst/>
          </a:prstGeom>
          <a:noFill/>
          <a:ln/>
        </p:spPr>
        <p:txBody>
          <a:bodyPr wrap="square" lIns="0" tIns="0" rIns="0" bIns="0" rtlCol="0" anchor="ctr"/>
          <a:lstStyle/>
          <a:p>
            <a:pPr algn="r" indent="0" marL="0">
              <a:buNone/>
            </a:pPr>
            <a:r>
              <a:rPr lang="en-US" sz="1000" dirty="0">
                <a:solidFill>
                  <a:srgbClr val="70757C"/>
                </a:solidFill>
                <a:latin typeface="Arial" pitchFamily="34" charset="0"/>
                <a:ea typeface="Arial" pitchFamily="34" charset="-122"/>
                <a:cs typeface="Arial" pitchFamily="34" charset="-120"/>
              </a:rPr>
              <a:t>04 / 04</a:t>
            </a:r>
            <a:endParaRPr lang="en-US" sz="1000" dirty="0"/>
          </a:p>
        </p:txBody>
      </p:sp>
      <p:sp>
        <p:nvSpPr>
          <p:cNvPr id="9" name="Text 7"/>
          <p:cNvSpPr/>
          <p:nvPr/>
        </p:nvSpPr>
        <p:spPr>
          <a:xfrm>
            <a:off x="768096" y="1207008"/>
            <a:ext cx="3291840" cy="307238"/>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 두 갈래 】</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68096" y="1580083"/>
          <a:ext cx="13112496" cy="914400"/>
        </p:xfrm>
        <a:graphic>
          <a:graphicData uri="http://schemas.openxmlformats.org/drawingml/2006/table">
            <a:tbl>
              <a:tblPr/>
              <a:tblGrid>
                <a:gridCol w="2414016"/>
                <a:gridCol w="5321808"/>
                <a:gridCol w="5376672"/>
              </a:tblGrid>
              <a:tr h="482803">
                <a:tc>
                  <a:txBody>
                    <a:bodyPr/>
                    <a:lstStyle/>
                    <a:p>
                      <a:pPr indent="0" marL="0">
                        <a:buNone/>
                      </a:pP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2226"/>
                          </a:solidFill>
                          <a:latin typeface="Arial" pitchFamily="34" charset="0"/>
                          <a:ea typeface="Arial" pitchFamily="34" charset="-122"/>
                          <a:cs typeface="Arial" pitchFamily="34" charset="-120"/>
                        </a:rPr>
                        <a:t>A · 현행 설계</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2226"/>
                          </a:solidFill>
                          <a:latin typeface="Arial" pitchFamily="34" charset="0"/>
                          <a:ea typeface="Arial" pitchFamily="34" charset="-122"/>
                          <a:cs typeface="Arial" pitchFamily="34" charset="-120"/>
                        </a:rPr>
                        <a:t>F · 대안</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82803">
                <a:tc>
                  <a:txBody>
                    <a:bodyPr/>
                    <a:lstStyle/>
                    <a:p>
                      <a:pPr indent="0" marL="0">
                        <a:buNone/>
                      </a:pPr>
                      <a:r>
                        <a:rPr lang="en-US" sz="1150" dirty="0">
                          <a:solidFill>
                            <a:srgbClr val="1F2226"/>
                          </a:solidFill>
                          <a:latin typeface="Arial" pitchFamily="34" charset="0"/>
                          <a:ea typeface="Arial" pitchFamily="34" charset="-122"/>
                          <a:cs typeface="Arial" pitchFamily="34" charset="-120"/>
                        </a:rPr>
                        <a:t>종속변수</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절차공정성 지각</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지각된 평가 정확성</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82803">
                <a:tc>
                  <a:txBody>
                    <a:bodyPr/>
                    <a:lstStyle/>
                    <a:p>
                      <a:pPr indent="0" marL="0">
                        <a:buNone/>
                      </a:pPr>
                      <a:r>
                        <a:rPr lang="en-US" sz="1150" dirty="0">
                          <a:solidFill>
                            <a:srgbClr val="1F2226"/>
                          </a:solidFill>
                          <a:latin typeface="Arial" pitchFamily="34" charset="0"/>
                          <a:ea typeface="Arial" pitchFamily="34" charset="-122"/>
                          <a:cs typeface="Arial" pitchFamily="34" charset="-120"/>
                        </a:rPr>
                        <a:t>구조</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IV → MV → DV + 조절</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IV → DV (통제 6)</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82803">
                <a:tc>
                  <a:txBody>
                    <a:bodyPr/>
                    <a:lstStyle/>
                    <a:p>
                      <a:pPr indent="0" marL="0">
                        <a:buNone/>
                      </a:pPr>
                      <a:r>
                        <a:rPr lang="en-US" sz="1150" dirty="0">
                          <a:solidFill>
                            <a:srgbClr val="1F2226"/>
                          </a:solidFill>
                          <a:latin typeface="Arial" pitchFamily="34" charset="0"/>
                          <a:ea typeface="Arial" pitchFamily="34" charset="-122"/>
                          <a:cs typeface="Arial" pitchFamily="34" charset="-120"/>
                        </a:rPr>
                        <a:t>방법</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시나리오 실험 · 무작위 배정</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설문 횡단</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82803">
                <a:tc>
                  <a:txBody>
                    <a:bodyPr/>
                    <a:lstStyle/>
                    <a:p>
                      <a:pPr indent="0" marL="0">
                        <a:buNone/>
                      </a:pPr>
                      <a:r>
                        <a:rPr lang="en-US" sz="1150" dirty="0">
                          <a:solidFill>
                            <a:srgbClr val="1F2226"/>
                          </a:solidFill>
                          <a:latin typeface="Arial" pitchFamily="34" charset="0"/>
                          <a:ea typeface="Arial" pitchFamily="34" charset="-122"/>
                          <a:cs typeface="Arial" pitchFamily="34" charset="-120"/>
                        </a:rPr>
                        <a:t>신규 척도</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2226"/>
                          </a:solidFill>
                          <a:latin typeface="Arial" pitchFamily="34" charset="0"/>
                          <a:ea typeface="Arial" pitchFamily="34" charset="-122"/>
                          <a:cs typeface="Arial" pitchFamily="34" charset="-120"/>
                        </a:rPr>
                        <a:t>3</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2226"/>
                          </a:solidFill>
                          <a:latin typeface="Arial" pitchFamily="34" charset="0"/>
                          <a:ea typeface="Arial" pitchFamily="34" charset="-122"/>
                          <a:cs typeface="Arial" pitchFamily="34" charset="-120"/>
                        </a:rPr>
                        <a:t>1</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82803">
                <a:tc>
                  <a:txBody>
                    <a:bodyPr/>
                    <a:lstStyle/>
                    <a:p>
                      <a:pPr indent="0" marL="0">
                        <a:buNone/>
                      </a:pPr>
                      <a:r>
                        <a:rPr lang="en-US" sz="1150" dirty="0">
                          <a:solidFill>
                            <a:srgbClr val="1F2226"/>
                          </a:solidFill>
                          <a:latin typeface="Arial" pitchFamily="34" charset="0"/>
                          <a:ea typeface="Arial" pitchFamily="34" charset="-122"/>
                          <a:cs typeface="Arial" pitchFamily="34" charset="-120"/>
                        </a:rPr>
                        <a:t>일정</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2226"/>
                          </a:solidFill>
                          <a:latin typeface="Arial" pitchFamily="34" charset="0"/>
                          <a:ea typeface="Arial" pitchFamily="34" charset="-122"/>
                          <a:cs typeface="Arial" pitchFamily="34" charset="-120"/>
                        </a:rPr>
                        <a:t>6~7주</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2226"/>
                          </a:solidFill>
                          <a:latin typeface="Arial" pitchFamily="34" charset="0"/>
                          <a:ea typeface="Arial" pitchFamily="34" charset="-122"/>
                          <a:cs typeface="Arial" pitchFamily="34" charset="-120"/>
                        </a:rPr>
                        <a:t>3~4주</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82803">
                <a:tc>
                  <a:txBody>
                    <a:bodyPr/>
                    <a:lstStyle/>
                    <a:p>
                      <a:pPr indent="0" marL="0">
                        <a:buNone/>
                      </a:pPr>
                      <a:r>
                        <a:rPr lang="en-US" sz="1150" dirty="0">
                          <a:solidFill>
                            <a:srgbClr val="1F2226"/>
                          </a:solidFill>
                          <a:latin typeface="Arial" pitchFamily="34" charset="0"/>
                          <a:ea typeface="Arial" pitchFamily="34" charset="-122"/>
                          <a:cs typeface="Arial" pitchFamily="34" charset="-120"/>
                        </a:rPr>
                        <a:t>인과 주장</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a경로 확보</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횡단 상관</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82803">
                <a:tc>
                  <a:txBody>
                    <a:bodyPr/>
                    <a:lstStyle/>
                    <a:p>
                      <a:pPr indent="0" marL="0">
                        <a:buNone/>
                      </a:pPr>
                      <a:r>
                        <a:rPr lang="en-US" sz="1150" dirty="0">
                          <a:solidFill>
                            <a:srgbClr val="1F2226"/>
                          </a:solidFill>
                          <a:latin typeface="Arial" pitchFamily="34" charset="0"/>
                          <a:ea typeface="Arial" pitchFamily="34" charset="-122"/>
                          <a:cs typeface="Arial" pitchFamily="34" charset="-120"/>
                        </a:rPr>
                        <a:t>기여</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경로 신설</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선행요인 추가 · 증분 검정</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r h="482803">
                <a:tc>
                  <a:txBody>
                    <a:bodyPr/>
                    <a:lstStyle/>
                    <a:p>
                      <a:pPr indent="0" marL="0">
                        <a:buNone/>
                      </a:pPr>
                      <a:r>
                        <a:rPr lang="en-US" sz="1150" dirty="0">
                          <a:solidFill>
                            <a:srgbClr val="1F2226"/>
                          </a:solidFill>
                          <a:latin typeface="Arial" pitchFamily="34" charset="0"/>
                          <a:ea typeface="Arial" pitchFamily="34" charset="-122"/>
                          <a:cs typeface="Arial" pitchFamily="34" charset="-120"/>
                        </a:rPr>
                        <a:t>최대 위험</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9월 일정 · IV·MV 판별</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F2226"/>
                          </a:solidFill>
                          <a:latin typeface="Arial" pitchFamily="34" charset="0"/>
                          <a:ea typeface="Arial" pitchFamily="34" charset="-122"/>
                          <a:cs typeface="Arial" pitchFamily="34" charset="-120"/>
                        </a:rPr>
                        <a:t>기여 축소 · IV·DV 판별</a:t>
                      </a:r>
                      <a:endParaRPr lang="en-US" sz="1150" dirty="0">
                        <a:latin typeface="Arial" charset="0"/>
                        <a:ea typeface="Arial" charset="0"/>
                        <a:cs typeface="Arial" charset="0"/>
                      </a:endParaRPr>
                    </a:p>
                  </a:txBody>
                  <a:tcPr marL="101600" marR="101600" marT="50800" marB="50800" anchor="ctr">
                    <a:lnL w="9525" cap="flat" cmpd="sng" algn="ctr">
                      <a:solidFill>
                        <a:srgbClr val="C9CDD3"/>
                      </a:solidFill>
                      <a:prstDash val="solid"/>
                      <a:round/>
                      <a:headEnd type="none" w="med" len="med"/>
                      <a:tailEnd type="none" w="med" len="med"/>
                    </a:lnL>
                    <a:lnR w="9525" cap="flat" cmpd="sng" algn="ctr">
                      <a:solidFill>
                        <a:srgbClr val="C9CDD3"/>
                      </a:solidFill>
                      <a:prstDash val="solid"/>
                      <a:round/>
                      <a:headEnd type="none" w="med" len="med"/>
                      <a:tailEnd type="none" w="med" len="med"/>
                    </a:lnR>
                    <a:lnT w="9525" cap="flat" cmpd="sng" algn="ctr">
                      <a:solidFill>
                        <a:srgbClr val="C9CDD3"/>
                      </a:solidFill>
                      <a:prstDash val="solid"/>
                      <a:round/>
                      <a:headEnd type="none" w="med" len="med"/>
                      <a:tailEnd type="none" w="med" len="med"/>
                    </a:lnT>
                    <a:lnB w="9525" cap="flat" cmpd="sng" algn="ctr">
                      <a:solidFill>
                        <a:srgbClr val="C9CDD3"/>
                      </a:solidFill>
                      <a:prstDash val="solid"/>
                      <a:round/>
                      <a:headEnd type="none" w="med" len="med"/>
                      <a:tailEnd type="none" w="med" len="med"/>
                    </a:lnB>
                    <a:solidFill>
                      <a:srgbClr val="FFFFFF"/>
                    </a:solidFill>
                  </a:tcPr>
                </a:tc>
              </a:tr>
            </a:tbl>
          </a:graphicData>
        </a:graphic>
      </p:graphicFrame>
      <p:sp>
        <p:nvSpPr>
          <p:cNvPr id="11" name="Text 8"/>
          <p:cNvSpPr/>
          <p:nvPr/>
        </p:nvSpPr>
        <p:spPr>
          <a:xfrm>
            <a:off x="768096" y="6210605"/>
            <a:ext cx="3291840" cy="307238"/>
          </a:xfrm>
          <a:prstGeom prst="rect">
            <a:avLst/>
          </a:prstGeom>
          <a:noFill/>
          <a:ln/>
        </p:spPr>
        <p:txBody>
          <a:bodyPr wrap="square" lIns="0" tIns="0" rIns="0" bIns="0" rtlCol="0" anchor="ctr"/>
          <a:lstStyle/>
          <a:p>
            <a:pPr indent="0" marL="0">
              <a:buNone/>
            </a:pPr>
            <a:r>
              <a:rPr lang="en-US" sz="1250" b="1" dirty="0">
                <a:solidFill>
                  <a:srgbClr val="1F2226"/>
                </a:solidFill>
                <a:latin typeface="Arial" pitchFamily="34" charset="0"/>
                <a:ea typeface="Arial" pitchFamily="34" charset="-122"/>
                <a:cs typeface="Arial" pitchFamily="34" charset="-120"/>
              </a:rPr>
              <a:t>【 여쭐 것 】</a:t>
            </a:r>
            <a:endParaRPr lang="en-US" sz="1250" dirty="0"/>
          </a:p>
        </p:txBody>
      </p:sp>
      <p:sp>
        <p:nvSpPr>
          <p:cNvPr id="12" name="Text 9"/>
          <p:cNvSpPr/>
          <p:nvPr/>
        </p:nvSpPr>
        <p:spPr>
          <a:xfrm>
            <a:off x="877824" y="6583680"/>
            <a:ext cx="329184" cy="416966"/>
          </a:xfrm>
          <a:prstGeom prst="rect">
            <a:avLst/>
          </a:prstGeom>
          <a:noFill/>
          <a:ln/>
        </p:spPr>
        <p:txBody>
          <a:bodyPr wrap="square" lIns="0" tIns="0" rIns="0" bIns="0" rtlCol="0" anchor="ctr"/>
          <a:lstStyle/>
          <a:p>
            <a:pPr indent="0" marL="0">
              <a:buNone/>
            </a:pPr>
            <a:r>
              <a:rPr lang="en-US" sz="1200" b="1" dirty="0">
                <a:solidFill>
                  <a:srgbClr val="1F2226"/>
                </a:solidFill>
                <a:latin typeface="Arial" pitchFamily="34" charset="0"/>
                <a:ea typeface="Arial" pitchFamily="34" charset="-122"/>
                <a:cs typeface="Arial" pitchFamily="34" charset="-120"/>
              </a:rPr>
              <a:t>1.</a:t>
            </a:r>
            <a:endParaRPr lang="en-US" sz="1200" dirty="0"/>
          </a:p>
        </p:txBody>
      </p:sp>
      <p:sp>
        <p:nvSpPr>
          <p:cNvPr id="13" name="Text 10"/>
          <p:cNvSpPr/>
          <p:nvPr/>
        </p:nvSpPr>
        <p:spPr>
          <a:xfrm>
            <a:off x="1261872" y="6583680"/>
            <a:ext cx="6035040" cy="416966"/>
          </a:xfrm>
          <a:prstGeom prst="rect">
            <a:avLst/>
          </a:prstGeom>
          <a:noFill/>
          <a:ln/>
        </p:spPr>
        <p:txBody>
          <a:bodyPr wrap="square" lIns="0" tIns="0" rIns="0" bIns="0" rtlCol="0" anchor="ctr"/>
          <a:lstStyle/>
          <a:p>
            <a:pPr indent="0" marL="0">
              <a:buNone/>
            </a:pPr>
            <a:r>
              <a:rPr lang="en-US" sz="1150" dirty="0">
                <a:solidFill>
                  <a:srgbClr val="1F2226"/>
                </a:solidFill>
                <a:latin typeface="Arial" pitchFamily="34" charset="0"/>
                <a:ea typeface="Arial" pitchFamily="34" charset="-122"/>
                <a:cs typeface="Arial" pitchFamily="34" charset="-120"/>
              </a:rPr>
              <a:t>이 설계로 9월 일정을 가는 것이 맞습니까, 대안으로 옮겨야 합니까</a:t>
            </a:r>
            <a:endParaRPr lang="en-US" sz="1150" dirty="0"/>
          </a:p>
        </p:txBody>
      </p:sp>
      <p:sp>
        <p:nvSpPr>
          <p:cNvPr id="14" name="Text 11"/>
          <p:cNvSpPr/>
          <p:nvPr/>
        </p:nvSpPr>
        <p:spPr>
          <a:xfrm>
            <a:off x="7549286" y="6583680"/>
            <a:ext cx="329184" cy="416966"/>
          </a:xfrm>
          <a:prstGeom prst="rect">
            <a:avLst/>
          </a:prstGeom>
          <a:noFill/>
          <a:ln/>
        </p:spPr>
        <p:txBody>
          <a:bodyPr wrap="square" lIns="0" tIns="0" rIns="0" bIns="0" rtlCol="0" anchor="ctr"/>
          <a:lstStyle/>
          <a:p>
            <a:pPr indent="0" marL="0">
              <a:buNone/>
            </a:pPr>
            <a:r>
              <a:rPr lang="en-US" sz="1200" b="1" dirty="0">
                <a:solidFill>
                  <a:srgbClr val="1F2226"/>
                </a:solidFill>
                <a:latin typeface="Arial" pitchFamily="34" charset="0"/>
                <a:ea typeface="Arial" pitchFamily="34" charset="-122"/>
                <a:cs typeface="Arial" pitchFamily="34" charset="-120"/>
              </a:rPr>
              <a:t>2.</a:t>
            </a:r>
            <a:endParaRPr lang="en-US" sz="1200" dirty="0"/>
          </a:p>
        </p:txBody>
      </p:sp>
      <p:sp>
        <p:nvSpPr>
          <p:cNvPr id="15" name="Text 12"/>
          <p:cNvSpPr/>
          <p:nvPr/>
        </p:nvSpPr>
        <p:spPr>
          <a:xfrm>
            <a:off x="7933334" y="6583680"/>
            <a:ext cx="6035040" cy="416966"/>
          </a:xfrm>
          <a:prstGeom prst="rect">
            <a:avLst/>
          </a:prstGeom>
          <a:noFill/>
          <a:ln/>
        </p:spPr>
        <p:txBody>
          <a:bodyPr wrap="square" lIns="0" tIns="0" rIns="0" bIns="0" rtlCol="0" anchor="ctr"/>
          <a:lstStyle/>
          <a:p>
            <a:pPr indent="0" marL="0">
              <a:buNone/>
            </a:pPr>
            <a:r>
              <a:rPr lang="en-US" sz="1150" dirty="0">
                <a:solidFill>
                  <a:srgbClr val="1F2226"/>
                </a:solidFill>
                <a:latin typeface="Arial" pitchFamily="34" charset="0"/>
                <a:ea typeface="Arial" pitchFamily="34" charset="-122"/>
                <a:cs typeface="Arial" pitchFamily="34" charset="-120"/>
              </a:rPr>
              <a:t>대안으로 간다면 매개 구조를 포기하는 것이 타당합니까</a:t>
            </a:r>
            <a:endParaRPr lang="en-US" sz="1150" dirty="0"/>
          </a:p>
        </p:txBody>
      </p:sp>
      <p:sp>
        <p:nvSpPr>
          <p:cNvPr id="16" name="Text 13"/>
          <p:cNvSpPr/>
          <p:nvPr/>
        </p:nvSpPr>
        <p:spPr>
          <a:xfrm>
            <a:off x="877824" y="7066483"/>
            <a:ext cx="329184" cy="416966"/>
          </a:xfrm>
          <a:prstGeom prst="rect">
            <a:avLst/>
          </a:prstGeom>
          <a:noFill/>
          <a:ln/>
        </p:spPr>
        <p:txBody>
          <a:bodyPr wrap="square" lIns="0" tIns="0" rIns="0" bIns="0" rtlCol="0" anchor="ctr"/>
          <a:lstStyle/>
          <a:p>
            <a:pPr indent="0" marL="0">
              <a:buNone/>
            </a:pPr>
            <a:r>
              <a:rPr lang="en-US" sz="1200" b="1" dirty="0">
                <a:solidFill>
                  <a:srgbClr val="1F2226"/>
                </a:solidFill>
                <a:latin typeface="Arial" pitchFamily="34" charset="0"/>
                <a:ea typeface="Arial" pitchFamily="34" charset="-122"/>
                <a:cs typeface="Arial" pitchFamily="34" charset="-120"/>
              </a:rPr>
              <a:t>3.</a:t>
            </a:r>
            <a:endParaRPr lang="en-US" sz="1200" dirty="0"/>
          </a:p>
        </p:txBody>
      </p:sp>
      <p:sp>
        <p:nvSpPr>
          <p:cNvPr id="17" name="Text 14"/>
          <p:cNvSpPr/>
          <p:nvPr/>
        </p:nvSpPr>
        <p:spPr>
          <a:xfrm>
            <a:off x="1261872" y="7066483"/>
            <a:ext cx="6035040" cy="416966"/>
          </a:xfrm>
          <a:prstGeom prst="rect">
            <a:avLst/>
          </a:prstGeom>
          <a:noFill/>
          <a:ln/>
        </p:spPr>
        <p:txBody>
          <a:bodyPr wrap="square" lIns="0" tIns="0" rIns="0" bIns="0" rtlCol="0" anchor="ctr"/>
          <a:lstStyle/>
          <a:p>
            <a:pPr indent="0" marL="0">
              <a:buNone/>
            </a:pPr>
            <a:r>
              <a:rPr lang="en-US" sz="1150" dirty="0">
                <a:solidFill>
                  <a:srgbClr val="1F2226"/>
                </a:solidFill>
                <a:latin typeface="Arial" pitchFamily="34" charset="0"/>
                <a:ea typeface="Arial" pitchFamily="34" charset="-122"/>
                <a:cs typeface="Arial" pitchFamily="34" charset="-120"/>
              </a:rPr>
              <a:t>IV와 종속변수의 판별 — 문항을 어떻게 갈라야 합니까</a:t>
            </a:r>
            <a:endParaRPr lang="en-US" sz="1150" dirty="0"/>
          </a:p>
        </p:txBody>
      </p:sp>
      <p:sp>
        <p:nvSpPr>
          <p:cNvPr id="18" name="Text 15"/>
          <p:cNvSpPr/>
          <p:nvPr/>
        </p:nvSpPr>
        <p:spPr>
          <a:xfrm>
            <a:off x="7549286" y="7066483"/>
            <a:ext cx="329184" cy="416966"/>
          </a:xfrm>
          <a:prstGeom prst="rect">
            <a:avLst/>
          </a:prstGeom>
          <a:noFill/>
          <a:ln/>
        </p:spPr>
        <p:txBody>
          <a:bodyPr wrap="square" lIns="0" tIns="0" rIns="0" bIns="0" rtlCol="0" anchor="ctr"/>
          <a:lstStyle/>
          <a:p>
            <a:pPr indent="0" marL="0">
              <a:buNone/>
            </a:pPr>
            <a:r>
              <a:rPr lang="en-US" sz="1200" b="1" dirty="0">
                <a:solidFill>
                  <a:srgbClr val="1F2226"/>
                </a:solidFill>
                <a:latin typeface="Arial" pitchFamily="34" charset="0"/>
                <a:ea typeface="Arial" pitchFamily="34" charset="-122"/>
                <a:cs typeface="Arial" pitchFamily="34" charset="-120"/>
              </a:rPr>
              <a:t>4.</a:t>
            </a:r>
            <a:endParaRPr lang="en-US" sz="1200" dirty="0"/>
          </a:p>
        </p:txBody>
      </p:sp>
      <p:sp>
        <p:nvSpPr>
          <p:cNvPr id="19" name="Text 16"/>
          <p:cNvSpPr/>
          <p:nvPr/>
        </p:nvSpPr>
        <p:spPr>
          <a:xfrm>
            <a:off x="7933334" y="7066483"/>
            <a:ext cx="6035040" cy="416966"/>
          </a:xfrm>
          <a:prstGeom prst="rect">
            <a:avLst/>
          </a:prstGeom>
          <a:noFill/>
          <a:ln/>
        </p:spPr>
        <p:txBody>
          <a:bodyPr wrap="square" lIns="0" tIns="0" rIns="0" bIns="0" rtlCol="0" anchor="ctr"/>
          <a:lstStyle/>
          <a:p>
            <a:pPr indent="0" marL="0">
              <a:buNone/>
            </a:pPr>
            <a:r>
              <a:rPr lang="en-US" sz="1150" dirty="0">
                <a:solidFill>
                  <a:srgbClr val="1F2226"/>
                </a:solidFill>
                <a:latin typeface="Arial" pitchFamily="34" charset="0"/>
                <a:ea typeface="Arial" pitchFamily="34" charset="-122"/>
                <a:cs typeface="Arial" pitchFamily="34" charset="-120"/>
              </a:rPr>
              <a:t>국내에 평가 정확성 지각을 종속변수로 둔 연구가 드문 것이 기회입니까 위험입니까</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2026-08-25T08:55:40Z</dcterms:created>
  <dcterms:modified xsi:type="dcterms:W3CDTF">2026-08-25T08:55:40Z</dcterms:modified>
</cp:coreProperties>
</file>