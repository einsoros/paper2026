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15초. 제목만 읽고 넘긴다. 상단 띠 우측에 학교 문양을 붙일 것. 지도교수 표기는 08-23 성준님 확인 — 고려대학교 기술경영전문대학원 윤지환 교수님.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8초. 「이 순서로 말씀드리겠습니다」 한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40초. 넓은 데서 좁은 데로 다섯 줄. 각 줄에 출처. 다섯째 줄이 다음 장으로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40초. 표어 한 줄을 또렷하게. 공백 두 갈래가 각각 IV-DV와 매개변수에 대응한다는 점을 말한다 — 공백의 구조가 모델의 구조와 같다. 「없다」가 아니라 「확인되지 않는다」.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35초. 목적 셋을 한 문장씩. 하단 「범위를 좁힌 근거」는 읽지 말고 넘긴다 — 물으면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35초. 왼쪽에서 오른쪽으로 한 줄씩 읽으면 그대로 발화가 된다 — 「지금까지는 …를 물었고, 본 연구는 …를 묻습니다. 그래서 …」. 세 번 반복하고 넘어간다. 붉은 화살표 줄만 말해도 성립한다.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85초. 척추 한 줄을 먼저 말하고 도식을 짚는다. 이론은 두 개로만. H4는 위치를 확정해서 말한다 — 완화 논리가 MV를 낮추는 진술이므로 a경로 조절로 정합하다. 다만 조작화 방식(측정/조작)은 사전 검정력으로 정한다고 한 문장 덧붙인다. 위치까지 미정이라고 말하지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50초. 「협업 결합도는 조작하지 않고 샘플링으로 통제」를 반드시 말한다. Model 번호와 「250명이면 충분」은 말하지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타임라인은 빠르게. 남은 논의 세 가지를 또렷하게 말하고 「이상입니다」로 닫는다. MOD 문항 재설계·표본 수는 먼저 꺼내지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트리거: 「이론적 근거가 무엇입니까」 「왜 UMT가 아닙니까」. 하단 박스가 답이다. 담당 없는 경로가 없다는 점을 보여주는 장이다.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트리거: 「척도는 어디서 가져왔습니까」 「IV와 MV가 같은 것 아닙니까」. 후자는 ① 정의문에서 IV를 분리했고 ② 판별타당도와 분류 과제로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트리거: 「어떻게 검정합니까」 「Model 7이면 조건부 간접효과를 보고합니까」. 답: 상호작용항으로 H4를 판정하고 조건부 간접효과를 함께 보고한다. MOD 직접항은 통제로 투입하되 가설로 세우지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트리거 1: 「통제변수 없이 나온 계수가 응답자 특성 때문이 아니라고 어떻게 압니까」 → a경로는 무작위 배정이라 무관, b경로는 순차적 무시가능성 가정. 통제변수를 더 넣어 닫는 문제가 아니라 가정에 이름을 붙여 명시하는 문제다. 트리거 2: 「왜 시점을 나누지 않았습니까」 → 시나리오 조작은 직후 측정이 필수이고 가상 조직이라 재접촉이 무의미하다. 대신 IV 무작위 배정이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트리거: 「두 조건이 실제로 어떻게 다릅니까」 「조작이 너무 약한 것 아닙니까」. 후자는 파일럿에서 MC가 갈리지 않으면 ④를 강화하는 안이 준비돼 있다고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트리거: 「문항을 보여 주십시오」 「신규 문항이 있습니까」. 답: DV는 신규 0, MV는 Rizzo 정의 ⑴ 계열 복원, MC는 조작 점검용이다.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트리거 1: 「불확실성과 공정성 연구가 없다는 근거가 있습니까」 → 이 표를 연다. 트리거 2: 「Hartmann은 Leventhal 틀이 이론이 아니라고 하는데 왜 그 틀로 갔습니까」 → 하단 두 상자. 인정하고 용법을 구분한다. 상세는 qa-prep-260826 안건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6B1F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  ·  연구 계획 발표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협업 환경에서 성과 기여 귀속 모호성이</a:t>
            </a:r>
            <a:endParaRPr lang="en-US" sz="33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절차공정성 지각에 미치는 영향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1248" y="3858768"/>
            <a:ext cx="1371600" cy="0"/>
          </a:xfrm>
          <a:prstGeom prst="line">
            <a:avLst/>
          </a:prstGeom>
          <a:noFill/>
          <a:ln w="38100">
            <a:solidFill>
              <a:srgbClr val="8C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지각된 평가 불확실성의 매개효과와 평가 절차 명확성의 조절효과를 중심으로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4439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개발직 대상 시나리오 실험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5230368"/>
            <a:ext cx="51206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394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20240" y="53949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이성준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56784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지도교수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0240" y="56784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윤지환 교수님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5961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20240" y="59618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고려대학교 기술경영전문대학원 기술경영전공 석사과정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62453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20240" y="6245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2026. 08. 26.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2C2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0200" y="21854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연구배경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600200" y="2606040"/>
            <a:ext cx="4206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17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2C2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600200" y="30540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문제제기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00200" y="3474720"/>
            <a:ext cx="4206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2C2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00200" y="39227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연구목적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600200" y="4343400"/>
            <a:ext cx="4206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75488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2C2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00200" y="479145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학술적 기여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600200" y="5212080"/>
            <a:ext cx="4206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4884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2C2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69480" y="21854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연구모델과 가설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269480" y="2606040"/>
            <a:ext cx="4206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017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2C2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269480" y="30540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연구방법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269480" y="3474720"/>
            <a:ext cx="4206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88620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2C2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269480" y="39227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계획과 남은 논의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269480" y="4343400"/>
            <a:ext cx="4206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8006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  이론적 배경 · 측정과 점검 · 분석 절차 · 한계 · 시나리오 조작 · 측정 문항 · 이론 층 선택의 근거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배경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AI가 지식노동의 수행 방식을 바꾸고 있다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23225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(Brynjolfsson et al., 2025; Dell'Acqua et al., 2023)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81635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인간과 AI의 산출물은 사후에 분해되지 않는다 — 소재성·얽힘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8016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(Orlikowski, 2007; Leonardi, 2011)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362102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결과 「누구의 기여인가」라는 귀속 판단이 어려워진다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54480" y="3931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 et al., 2025)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08760" y="4443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442569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성과평가는 개인 기여의 식별을 전제로 작동한다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828800" y="4736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(Niehoff &amp; Moorman, 1993)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5248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52303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절차공정성은 일관성·정확성 규칙의 충족으로 판단된다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103120" y="55412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(Leventhal, 1980; Colquitt, 2001)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03120" y="5541264"/>
            <a:ext cx="5852160" cy="0"/>
          </a:xfrm>
          <a:prstGeom prst="line">
            <a:avLst/>
          </a:prstGeom>
          <a:noFill/>
          <a:ln w="15875">
            <a:solidFill>
              <a:srgbClr val="8C2A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제기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10927080" cy="713232"/>
          </a:xfrm>
          <a:prstGeom prst="rect">
            <a:avLst/>
          </a:prstGeom>
          <a:solidFill>
            <a:srgbClr val="6B1F2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3852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평가받는 사람은 자신의 노력이 어떤 평가로 이어질지 가늠할 수 없게 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인간-AI 공동 생성물의 귀속을 다룬 연구는 「AI에게 얼마의 크레딧을 부여할 것인가」라는 배분 판단을 물어 왔다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4553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 et al., 2025)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다루지 않은 것 — 공백은 두 갈래다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0927080" cy="987552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41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403250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u="sng" dirty="0">
                <a:solidFill>
                  <a:srgbClr val="1F2226"/>
                </a:solidFill>
                <a:uFill>
                  <a:solidFill>
                    <a:srgbClr val="8C2A32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그 귀속의 어려움이 평가받는 사람의 공정성 지각에 미치는 영향은 검증되지 않았다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98448" y="460857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 et al., 2025)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rot="5400000">
            <a:off x="8778240" y="4334256"/>
            <a:ext cx="182880" cy="155448"/>
          </a:xfrm>
          <a:prstGeom prst="triangle">
            <a:avLst/>
          </a:prstGeom>
          <a:solidFill>
            <a:srgbClr val="8C2A32"/>
          </a:solidFill>
          <a:ln/>
        </p:spPr>
      </p:sp>
      <p:sp>
        <p:nvSpPr>
          <p:cNvPr id="20" name="Text 18"/>
          <p:cNvSpPr/>
          <p:nvPr/>
        </p:nvSpPr>
        <p:spPr>
          <a:xfrm>
            <a:off x="9034272" y="3913632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연구의</a:t>
            </a:r>
            <a:endParaRPr lang="en-US" sz="1200" dirty="0"/>
          </a:p>
          <a:p>
            <a:pPr algn="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→ DV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10927080" cy="987552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57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98448" y="51480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u="sng" dirty="0">
                <a:solidFill>
                  <a:srgbClr val="1F2226"/>
                </a:solidFill>
                <a:uFill>
                  <a:solidFill>
                    <a:srgbClr val="8C2A32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불확실성이 공정성 판단을 흔든다는 것은 밝혀졌으나, 그 불확실성을 조직 안의 업무 성격에서 찾은 연구는 확인되지 않는다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98448" y="57241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(Van den Bos, 2001)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rot="5400000">
            <a:off x="8778240" y="5449824"/>
            <a:ext cx="182880" cy="155448"/>
          </a:xfrm>
          <a:prstGeom prst="triangle">
            <a:avLst/>
          </a:prstGeom>
          <a:solidFill>
            <a:srgbClr val="8C2A32"/>
          </a:solidFill>
          <a:ln/>
        </p:spPr>
      </p:sp>
      <p:sp>
        <p:nvSpPr>
          <p:cNvPr id="26" name="Text 24"/>
          <p:cNvSpPr/>
          <p:nvPr/>
        </p:nvSpPr>
        <p:spPr>
          <a:xfrm>
            <a:off x="9034272" y="5029200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연구의</a:t>
            </a:r>
            <a:endParaRPr lang="en-US" sz="1200" dirty="0"/>
          </a:p>
          <a:p>
            <a:pPr algn="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매개변수 MV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목적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19568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귀속 모호성이 평가받는 사람의 공정성 지각에 이르는 경로를, 그 사이의 심리적 기제와 함께 규명한다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32304"/>
            <a:ext cx="10927080" cy="786384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32304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87452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탐색에서 확인으로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74520" y="2834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선행연구가 시사한 「귀속의 어려움 → 공정성 지각」 관계를 이론 기반의 확인적 가설로 정식화한다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10927080" cy="786384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28416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둘째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874520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현상에서 기제로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874520" y="37307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지각된 평가 불확실성을 매개변수로 놓아, 그 관계가 어떤 경로를 거치는지 실증한다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24528"/>
            <a:ext cx="10927080" cy="786384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24528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셋째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874520" y="4352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이론의 새 맥락 적용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874520" y="462686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절차공정성 구성개념을 AI 협업 성과평가 맥락에 적용하고, 절차 명확화의 완화 범위를 검정한다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257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범위를 좁힌 근거 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57784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  AI를 업무 전 과정에서 활용하면서도 산출물이 개인 단위로 평가되는 IT 개발직으로 한정한다 — 협업 결합도를 조작하지 않고 통제하기 위해서다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종속변수   절차공정성 전반이 아니라 본 연구의 이론 층이 지목하는 일관성·편향 억제 두 측면을 본다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학술적 기여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883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선행연구에서 본 연구로 — 세 가지 전환 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359152"/>
            <a:ext cx="329184" cy="329184"/>
          </a:xfrm>
          <a:prstGeom prst="ellipse">
            <a:avLst/>
          </a:prstGeom>
          <a:solidFill>
            <a:srgbClr val="8C2A3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질문의 전환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03120" y="2231136"/>
            <a:ext cx="3977640" cy="859536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23225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04288" y="25420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「AI에게 얼마의 크레딧을 줄 것인가」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배분의 문제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5400000">
            <a:off x="6272784" y="2560320"/>
            <a:ext cx="237744" cy="201168"/>
          </a:xfrm>
          <a:prstGeom prst="triangle">
            <a:avLst/>
          </a:prstGeom>
          <a:solidFill>
            <a:srgbClr val="8C2A32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2231136"/>
            <a:ext cx="4828032" cy="859536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23225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22008" y="2542032"/>
            <a:ext cx="4462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「그 귀속이 어려울 때 평가받는 사람이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제도를 어떻게 지각하는가」— 공정성의 문제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03120" y="314553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조직공정성이 축적한 이론과 측정 도구를 이 현상에 쓸 수 있게 된다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3712464"/>
            <a:ext cx="329184" cy="329184"/>
          </a:xfrm>
          <a:prstGeom prst="ellipse">
            <a:avLst/>
          </a:prstGeom>
          <a:solidFill>
            <a:srgbClr val="8C2A32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출처의 전환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103120" y="3584448"/>
            <a:ext cx="3977640" cy="859536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04288" y="36758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04288" y="38953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불확실성은 주어진 조건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실험 조작이거나 외부 상황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 rot="5400000">
            <a:off x="6272784" y="3913632"/>
            <a:ext cx="237744" cy="201168"/>
          </a:xfrm>
          <a:prstGeom prst="triangle">
            <a:avLst/>
          </a:prstGeom>
          <a:solidFill>
            <a:srgbClr val="8C2A32"/>
          </a:solidFill>
          <a:ln/>
        </p:spPr>
      </p:sp>
      <p:sp>
        <p:nvSpPr>
          <p:cNvPr id="28" name="Shape 26"/>
          <p:cNvSpPr/>
          <p:nvPr/>
        </p:nvSpPr>
        <p:spPr>
          <a:xfrm>
            <a:off x="6720840" y="3584448"/>
            <a:ext cx="4828032" cy="859536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008" y="36758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22008" y="3895344"/>
            <a:ext cx="4462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불확실성은 업무의 성격이 만든 결과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조직 안에서 발생한다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103120" y="449884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AI 협업의 귀속 모호성을 불확실성의 출처로 지목한다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5065776"/>
            <a:ext cx="329184" cy="329184"/>
          </a:xfrm>
          <a:prstGeom prst="ellipse">
            <a:avLst/>
          </a:prstGeom>
          <a:solidFill>
            <a:srgbClr val="8C2A32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5065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5449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처방의 검증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103120" y="4937760"/>
            <a:ext cx="3977640" cy="859536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04288" y="5029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04288" y="524865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「기준을 명확히 하면 된다」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통상적 처방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 rot="5400000">
            <a:off x="6272784" y="5266944"/>
            <a:ext cx="237744" cy="201168"/>
          </a:xfrm>
          <a:prstGeom prst="triangle">
            <a:avLst/>
          </a:prstGeom>
          <a:solidFill>
            <a:srgbClr val="8C2A32"/>
          </a:solidFill>
          <a:ln/>
        </p:spPr>
      </p:sp>
      <p:sp>
        <p:nvSpPr>
          <p:cNvPr id="39" name="Shape 37"/>
          <p:cNvSpPr/>
          <p:nvPr/>
        </p:nvSpPr>
        <p:spPr>
          <a:xfrm>
            <a:off x="6720840" y="4937760"/>
            <a:ext cx="4828032" cy="859536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502920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22008" y="5248656"/>
            <a:ext cx="4462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명확히 해도 남는 부분이 있는가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처방의 유효 범위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2103120" y="585216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절차 명확화가 어디까지 완화하는지를 조절효과로 확인한다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모델 및 가설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901952"/>
            <a:ext cx="10927080" cy="512064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01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기여를 가릴 수 없으면 평가를 예측할 수 없고,  예측할 수 없는 평가는 일관되고 정확하다고 판단할 근거를 잃는다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연구 모형 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3474720"/>
            <a:ext cx="2286000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2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4747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기여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귀속 모호성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315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조작 · 무작위 배정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3474720"/>
            <a:ext cx="2286000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4747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지각된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불확실성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4315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· 측정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03920" y="3474720"/>
            <a:ext cx="2286000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34747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절차공정성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4315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 · 측정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84448" y="3877056"/>
            <a:ext cx="1152144" cy="0"/>
          </a:xfrm>
          <a:prstGeom prst="line">
            <a:avLst/>
          </a:prstGeom>
          <a:noFill/>
          <a:ln w="19050">
            <a:solidFill>
              <a:srgbClr val="1F222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584448" y="351129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42048" y="3877056"/>
            <a:ext cx="1152144" cy="0"/>
          </a:xfrm>
          <a:prstGeom prst="line">
            <a:avLst/>
          </a:prstGeom>
          <a:noFill/>
          <a:ln w="19050">
            <a:solidFill>
              <a:srgbClr val="1F222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242048" y="351129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331720" y="2834640"/>
            <a:ext cx="22860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8C2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2834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절차 명확성  MOD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0" y="3236976"/>
            <a:ext cx="256032" cy="640080"/>
          </a:xfrm>
          <a:prstGeom prst="line">
            <a:avLst/>
          </a:prstGeom>
          <a:noFill/>
          <a:ln w="19050">
            <a:solidFill>
              <a:srgbClr val="8C2A32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907792" y="34015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09160" y="2889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Model 7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31720" y="4663440"/>
            <a:ext cx="7543800" cy="0"/>
          </a:xfrm>
          <a:prstGeom prst="line">
            <a:avLst/>
          </a:prstGeom>
          <a:noFill/>
          <a:ln w="12700">
            <a:solidFill>
              <a:srgbClr val="70757C"/>
            </a:solidFill>
            <a:prstDash val="sysDot"/>
          </a:ln>
        </p:spPr>
      </p:sp>
      <p:sp>
        <p:nvSpPr>
          <p:cNvPr id="31" name="Text 29"/>
          <p:cNvSpPr/>
          <p:nvPr/>
        </p:nvSpPr>
        <p:spPr>
          <a:xfrm>
            <a:off x="4480560" y="4700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 매개 (간접효과)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992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연구 가설 】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266944"/>
          <a:ext cx="1092708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6355080"/>
                <a:gridCol w="39136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2A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귀속 모호성이 높을수록 지각된 평가 불확실성이 높아질 것이다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귀인이론 기대원리 (Weiner, 1985)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2A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지각된 평가 불확실성이 높을수록 절차공정성 지각이 낮아질 것이다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절차 규칙 — 일관성·정확성 (Leventhal, 1980)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2A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귀속 모호성의 영향은 평가 불확실성에 의해 매개될 것이다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+ H2 연쇄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2A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절차 명확성이 높을수록 귀속 모호성이 평가 불확실성을 높이는 관계가 완화될 것이다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완화 근거 — Erdogan(2002) 등  ·  Model 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640080" y="63276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조절변수를 측정으로 둘 것인가 시나리오에서 조작할 것인가는 사전 검정력 분석 결과에 따라 조정할 계획이다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방법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설계 및 측정 】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9424"/>
          <a:ext cx="10927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67528"/>
                <a:gridCol w="28163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시나리오 실험 · 2조건 무작위 배정 · 응답자는 한 조건만 열람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가상 조직 앵커 고정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 성과 기여 귀속 모호성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조작 — 조작 축은 「기여를 식별할 수 있는가」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산출물·품질은 동일, AI 산출물 처리 방식만 상이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조작 점검 4문항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 지각된 평가 불확실성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4문항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Rizzo(1970) ⑴ 계열 복원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  절차공정성 지각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3문항 — 일관성 1 + 편향 억제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Niehoff &amp; Moorman(1993)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  평가 절차 명확성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4문항 — a경로(IV→MV) 조절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 재설계 · 조작화 검토 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통제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리터러시 · AI 사용 경험 · 경력 · 직급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개발직 약 250명 · 7점 리커트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협업 결합도는 샘플링으로 통제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조작 점검 → 신뢰도·타당도 → 매개(부트스트래핑) → 조절된 매개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Model 7 · 상세는 Appendix 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 및 남은 논의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연구 Timeline 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67712"/>
            <a:ext cx="2523744" cy="731520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5915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261518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확정 · 사전검사 · 본조사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633472"/>
            <a:ext cx="164592" cy="0"/>
          </a:xfrm>
          <a:prstGeom prst="line">
            <a:avLst/>
          </a:prstGeom>
          <a:noFill/>
          <a:ln w="19050">
            <a:solidFill>
              <a:srgbClr val="70757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01568" y="2267712"/>
            <a:ext cx="2523744" cy="731520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235915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84448" y="261518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및 결과 작성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61888" y="2633472"/>
            <a:ext cx="164592" cy="0"/>
          </a:xfrm>
          <a:prstGeom prst="line">
            <a:avLst/>
          </a:prstGeom>
          <a:noFill/>
          <a:ln w="19050">
            <a:solidFill>
              <a:srgbClr val="70757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63056" y="2267712"/>
            <a:ext cx="2523744" cy="731520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235915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45936" y="261518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공헌 · 시사점 · 한계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23376" y="2633472"/>
            <a:ext cx="164592" cy="0"/>
          </a:xfrm>
          <a:prstGeom prst="line">
            <a:avLst/>
          </a:prstGeom>
          <a:noFill/>
          <a:ln w="19050">
            <a:solidFill>
              <a:srgbClr val="70757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24544" y="2267712"/>
            <a:ext cx="2523744" cy="731520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07424" y="235915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07424" y="261518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파이널 디펜스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55264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남은 논의 — 지도를 구하고자 하는 것 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621024"/>
            <a:ext cx="10927080" cy="804672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62102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362102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조절변수의 조작화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17720" y="3621024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측정으로 둘 것인가, 시나리오에서 조작할 것인가.  사전 검정력 분석을 판정 기준으로 두고 있다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27080" cy="804672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53542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25880" y="453542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가상 시나리오의 구성 타당도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617720" y="4535424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겪지 않은 절차에 대한 공정성 지각을 재는 것이 구성 타당도 측면에서 성립하는가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449824"/>
            <a:ext cx="10927080" cy="804672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44982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25880" y="544982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공백의 크기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617720" y="5449824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연구가 다루는 공백이 학위논문의 기여로 충분한가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A. 이론적 배경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이론별 담당 경로 】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12848"/>
          <a:ext cx="109270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870448"/>
                <a:gridCol w="24048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담당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귀인이론 · 기대원리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(Weiner, 1985)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원인을 안정적으로 귀속할 수 있을 때 미래 결과를 예측할 수 있다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귀속할 수 없으면 예측할 수 없다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→ MV   (H1)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절차 규칙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(Leventhal, 1980)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절차공정성은 일관성·정확성 규칙의 충족으로 판단된다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예측할 수 없는 평가는 그 규칙이 지켜졌다고 판단할 근거를 잃는다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→ DV   (H2)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조직 공정성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(Colquitt, 2001)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절차공정성 구성개념의 정의와 측정 토대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 정의 · 측정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 모호성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(Rizzo et al., 1970)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자기 행동 결과의 예측가능성 — MV 측정의 뿌리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측정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절차 명확성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(Erdogan 2002 등)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기준의 명확성이 절차공정성 지각의 선행요인으로 작동한다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※ 주효과 선례이며 조절 형식의 직접 실증은 확인되지 않았다 — 한계로 명시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 → a경로 조절 (H4)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불확실성 관리 이론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(Lind &amp; van den Bos, 2002)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불확실성이 공정성 판단의 중요도를 높인다는 것을 보였다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다만 불확실성을 공정성 효과의 조절 조건으로 놓는 이론이므로 이론 층이 아니다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메커니즘 보조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85800" y="6144768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이론이 배정되지 않은 경로는 없다  ·  H2의 매개 배치와 H4의 조절 형식은 직접 실증 선례가 확인되지 않아 한계로 명시한다 (Appendix D)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B. 측정과 점검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75104"/>
          <a:ext cx="109270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138928"/>
                <a:gridCol w="3136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출처 · 비고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  조작 점검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4문항 · 독립표본 t검정으로 조건 간 차이 확인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조작이 실제로 작동했는가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 평가 불확실성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4문항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Rizzo(1970) ⑴ 계열 복원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  절차공정성 지각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3문항 · 일관성 1 + 편향 억제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Niehoff &amp; Moorman(1993)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  평가 절차 명확성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4문항 · 재설계 검토 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조절 위치 확정 후 확정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판별타당도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IV–MV / MV–DV / MV–MOD 세 쌍 · AVE, HTMT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 분석 계획에 포함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 분류 과제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문항을 섞어 제시하고 소속 구성개념을 분류시킨다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 단계의 판별 확인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4892040"/>
            <a:ext cx="10927080" cy="1207008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0292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척도의 위치 — 번안이 아니라 복원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3218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Rizzo(1970)는 역할 모호성을 ⑴ 자기 행동 결과의 예측가능성과 ⑵ 행동 요구의 명확성으로 정의했으나, ⑴ 계열 문항은 원전 요인분석에서 전원 탈락했고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오늘날 통용되는 6문항은 전부 ⑵ 계열이다. 본 연구는 ⑴ 계열을 계승한다. 탈락 문항 중 하나는 승진·급여 평가에 대한 예측을 직접 묻는다.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C. 분석 절차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0482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048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조작 점검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20574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독립표본 t검정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432304"/>
            <a:ext cx="1083564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786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· 타당도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77640" y="25877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Cronbach's α · EFA / CFA · 판별타당도 (AVE, HTMT)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962656"/>
            <a:ext cx="1083564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089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108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공통방법편의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311810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Harman single-factor / marker variable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493008"/>
            <a:ext cx="1083564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393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639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364845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집단 간 평균차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023360"/>
            <a:ext cx="1083564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696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169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· H3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7640" y="4178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매개 + 부트스트래핑 5,000회 · 95% 신뢰구간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4553712"/>
            <a:ext cx="1083564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000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700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77640" y="4709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조절된 매개 — PROCESS Model 7 · 상호작용항(IV×MOD) + 조건부 간접효과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5084064"/>
            <a:ext cx="1083564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5440680"/>
            <a:ext cx="10927080" cy="868680"/>
          </a:xfrm>
          <a:prstGeom prst="rect">
            <a:avLst/>
          </a:prstGeom>
          <a:solidFill>
            <a:srgbClr val="6B1F26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554126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D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간접효과를 어떻게 읽는가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14400" y="581558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H3의 간접효과는 두 계단의 계수를 곱한 값이다. 두 계단 중 하나라도 끊기면 곱이 0이 되므로, 그 숫자 하나가 경로 전체가 실제로 이어져 있는지를 요약한다.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D. 한계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2048256"/>
            <a:ext cx="10927080" cy="768096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4825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a경로   IV → MV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83280" y="2048256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IV가 무작위 배정 조작이므로 응답자 특성과 무관하다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10927080" cy="932688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067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b경로   MV → DV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3090672"/>
            <a:ext cx="7955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매개변수는 무작위 배정할 수 없다. 순차적 무시가능성 가정에 의존하며, 이는 실험적 매개분석의 표준적 한계다.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통제변수 투입 + 한계 명시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33088"/>
            <a:ext cx="10927080" cy="768096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3308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4133088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가상 상황이므로 실제 평가 맥락에 대한 외적 타당도에 제약이 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75504"/>
            <a:ext cx="10927080" cy="768096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75504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시점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83280" y="5175504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MV·DV를 같은 응답자가 자기보고 → 공통방법편의 점검으로 대응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E. 시나리오 조작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본문 구조 — 5문장 중 ④만 조건 간 상이 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2677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 · 직무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22677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귀하는 B사 소속 개발자다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96896"/>
            <a:ext cx="10625328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6517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26517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서비스 제안서를 작성했다 (5요소)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0" y="2651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2980944"/>
            <a:ext cx="10625328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0358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035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범위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30358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전 과정에서 AI를 활용했다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30358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(통제 3)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" y="3364992"/>
            <a:ext cx="10625328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4198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419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방식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34198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조 작  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34198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간 상이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3749040"/>
            <a:ext cx="10625328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8039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8039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71800" y="380390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B사의 평가자가 성과평가에 반영한다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0" y="38039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· 단정형 (통제 9)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" y="4133088"/>
            <a:ext cx="10625328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315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④ 처리 방식 — 두 조건 】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663440"/>
            <a:ext cx="5349240" cy="1188720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귀속 명확 조건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6112" y="50840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 AI 산출물을 각 부분 검토하고 본인의 설계 의도에 맞게 재구성했다 」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6112" y="55412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판단의 흔적이 남는다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9632" y="4663440"/>
            <a:ext cx="5349240" cy="1188720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귀속 모호 조건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55664" y="50840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 AI 산출물이 본인의 설계 의도에 부합하여 추가 검토 없이 활용했다 」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55664" y="55412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판단의 흔적이 옅다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596188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품질·난이도·평가 결과는 어느 조건에도 쓰지 않는다 — 쓰면 분배 결과가 생겨 DV가 오염된다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F. 측정 문항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75104"/>
          <a:ext cx="109270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7315200"/>
                <a:gridCol w="2834640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나는 이 성과가 나의 역량에서 비롯된 것인지 AI의 기여에서 비롯된 것인지 구분하기 어렵다고 느낀다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Weiner(1985)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나는 이 결과물에서 나의 순수 기여분을 식별하기 어렵다고 느낀다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Orlikowski(2007)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나는 이 성과가 나의 기여와 AI의 기여가 분리하기 어렵게 결합되어 있다고 느낀다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나는 이 성과의 실제 기여 주체를 명확히 판단하기 어렵다고 느낀다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 성과에 대해 내가 어떤 평가를 받을지 확신할 수 없다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Rizzo(1970) 정의 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 성과에 대한 평가 결과가 어느 수준일지 가늠하기 어렵다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나의 업무에 대한 노력이 어떤 평가로 귀결될지 예상하기 어렵다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Rizzo ⑴ + Weiner(1985)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나의 업무 투입 시간이 어떤 평가로 귀결될지 예상하기 어렵다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 성과평가 절차는 모든 구성원에게 동일한 기준으로 적용된다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N&amp;M(1993) item 5 (λ=.901)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 성과평가 절차는 특정인에게 유리하거나 불리하게 편향되지 않는다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Colquitt(2001) item 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 평가는 평가자의 개인적 편견 없이 이루어진다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N&amp;M(1993) item 1 (λ=.897)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5797296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 3문항은 전원 검증된 원문항에 대응하며 신규 문항이 없다 · MOD 4문항은 재설계 검토 중이라 싣지 않았다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윤제방 하계세미나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949440" y="502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계획 발표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642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1248"/>
            <a:ext cx="4681728" cy="0"/>
          </a:xfrm>
          <a:prstGeom prst="line">
            <a:avLst/>
          </a:prstGeom>
          <a:noFill/>
          <a:ln w="25400">
            <a:solidFill>
              <a:srgbClr val="6B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05840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8C2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32688"/>
            <a:ext cx="56692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G. 이론 층 선택의 근거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UMT 계열 실증 5편 — 불확실성의 배치 】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9424"/>
          <a:ext cx="109270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95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불확실성의 배치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 den Bos (2001) JPSP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불확실성 현저성을 조작 → 절차공정성 반응 강화   ·   조절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 den Bos &amp; Miedema (2000) JPSP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죽음 현저성 조작 → 절차공정성 반응 변화   ·   조절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Cremer &amp; Sedikides (2004) JEP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자기 불확실성이 절차공정성 욕구에 영향   ·   조절 · 개인 특성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Diekmann, Barsness &amp; Sondak (2004) SJR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기준 불확실성이 높을 때 절차공정성이 직무만족의 더 나은 예측자   ·   조절 · DV=직무만족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Thau et al. (2009) OBHDP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맥락 불확실성이 학대적 감독 반응을 악화   ·   조절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85800" y="442569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다섯 편 모두 불확실성을 조절변수 또는 조작된 외생 조건으로 놓는다 — 조직 내 선행요인이 불확실성을 유발하고 공정성 지각으로 이어지는 매개 경로를 검증한 연구는 확인되지 않는다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 Leventhal 규칙 층을 쓰는 방식 】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5175504"/>
            <a:ext cx="5349240" cy="987552"/>
          </a:xfrm>
          <a:prstGeom prst="rect">
            <a:avLst/>
          </a:prstGeom>
          <a:solidFill>
            <a:srgbClr val="F4F5F7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52760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Hartmann이 비판한 용법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" y="55321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Leventhal 원칙을 공정성의 원인을 설명하는 이론으로 사용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7824" y="58430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「일관되게 행동하면 공정해 보인다」 (동어반복)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99632" y="5175504"/>
            <a:ext cx="5349240" cy="987552"/>
          </a:xfrm>
          <a:prstGeom prst="rect">
            <a:avLst/>
          </a:prstGeom>
          <a:solidFill>
            <a:srgbClr val="F7EFEF"/>
          </a:solidFill>
          <a:ln w="12700">
            <a:solidFill>
              <a:srgbClr val="E2D2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37376" y="52760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연구의 용법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37376" y="55321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 동력은 귀인이론 기대원리 · Leventhal은 판단의 내용을 규정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37376" y="58430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「예측할 수 없으면 규칙 충족 여부를 판단할 근거를 잃는다」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424160" y="6355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2026-08-23T08:56:09Z</dcterms:created>
  <dcterms:modified xsi:type="dcterms:W3CDTF">2026-08-23T08:56:09Z</dcterms:modified>
</cp:coreProperties>
</file>