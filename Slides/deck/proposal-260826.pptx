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15초 ]
안녕하십니까. 기술경영전문대학원 기술경영전공 석사과정 이성준입니다.
「생성형 AI 협업 환경에서 성과 기여 귀속 모호성이 절차공정성 지각에 미치는 영향」이라는 주제로 연구계획을 발표드리겠습니다.
[ 주의 ] 여기서 배경 이야기를 시작하지 않는다. 제목만 읽고 넘긴다.
[ 준비 ] 상단 띠 우측에 학교 문양을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8초 ]
발표는 연구배경과 문제제기, 연구목적과 학술적 기여, 연구모델과 방법,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45초 ]
먼저 연구배경입니다.
생성형 AI는 이미 지식노동의 수행 방식을 바꾸고 있습니다.
그런데 인간과 AI가 함께 만든 산출물은 사후에 누가 무엇을 했는지로 분해되지 않습니다. 기술과 사람의 행위가 얽혀 있기 때문입니다.
그 결과 「누구의 기여인가」라는 귀속 판단이 어려워집니다.
문제는 성과평가가 바로 그 개인 기여의 식별을 전제로 작동한다는 점입니다.
그리고 절차공정성은 그 평가가 일관되고 정확한 정보에 근거했는지로 판단됩니다.
그렇다면 기여를 식별하기 어려워질수록, 그 규칙이 지켜졌는지 판단할 근거는 약해집니다. 이것이 본 연구의 출발점입니다.
[ 저자명 읽기 ] 브린욜프슨 · 델라쿠아 · 올리코프스키 · 레오나르디 · 니호프와 무어먼 · 레븐탈 · 콜퀴트
[ 주의 ] 저자명을 다 읽을 필요는 없다. 슬라이드에 적혀 있으므로 「선행연구들이 보여 왔습니다」로 넘겨도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45초 ]
그래서 문제는 이것입니다. 평가받는 사람은 자신의 노력이 어떤 평가로 이어질지 가늠할 수 없게 됩니다.
이 문제를 선행연구가 어디까지 다뤘는지 세 가지 조건으로 정리했습니다. 불확실성이 조직 안에서 발생하는가, 매개 경로를 검증하는가, 절차공정성 지각이 종속변수인가입니다.
인간-AI 귀속 연구는 귀속 모호성을 다루지만 배분 판단에 머물고 공정성 지각을 재지 않습니다.
불확실성 관리 이론의 실증 연구들은 공정성 판단을 다루지만, 불확실성을 실험 조작이거나 외부 상황으로 놓고 조절변수로 배치합니다.
성과평가 공정성 연구는 절차공정성을 종속변수로 두지만, 다루는 불확실성이 직무의 외생 특성이고 매개를 검증하지 않습니다.
세 조건을 동시에 충족하는 연구는 확인되지 않았습니다. 본 연구는 그 공백을 다룹니다.
[ 주의 ] 표를 세로로 읽지 않는다. 「마지막 열까지 다 동그라미인 줄이 없습니다」 한 마디로 짚는다.
[ 주의 ] 「없습니다」가 아니라 「확인되지 않았습니다」로 말한다. 전수조사를 주장하지 않는다.
[ 저자명 읽기 ] 반 덴 보스 · 하트만과 슬라프니차르
[ 원문 발췌 ] 물으면 우하단 박스를 짚는다 — 정의 효과가 「컨디셔널 온 태스크 언서튼티」, 즉 조절이지 매개가 아니라고 적혀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35초 ]
연구목적은 귀속 모호성이 공정성 지각에 이르는 경로를, 그 사이의 심리적 기제와 함께 규명하는 것입니다.
첫째, 선행연구가 시사한 관계를 이론 기반의 확인적 가설로 정식화합니다.
둘째, 지각된 평가 불확실성을 매개변수로 놓아 그 관계가 어떤 경로를 거치는지 실증합니다.
셋째, 절차공정성 구성개념을 AI 협업 성과평가라는 새 맥락에 적용하고, 절차 명확화의 완화 범위를 검정합니다.
[ 주의 ] 하단 「범위를 좁힌 근거」는 읽지 말고 넘긴다. 물으면 답한다 —
IT 개발직 한정은 협업 결합도를 조작하지 않고 통제하기 위해서이고, 종속변수를 두 측면으로 좁힌 것은 이론 층이 지목하는 규칙이 그 둘이기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40초 ]
학술적 기여는 세 가지 전환으로 말씀드리겠습니다.
첫째는 질문의 전환입니다. 지금까지는 「AI에게 얼마의 크레딧을 줄 것인가」를 물었습니다. 본 연구는 「그 귀속이 어려울 때 평가받는 사람이 제도를 어떻게 지각하는가」를 묻습니다. 그러면 조직공정성이 축적한 이론과 측정 도구를 이 현상에 쓸 수 있게 됩니다.
둘째는 출처의 전환입니다. 지금까지 불확실성은 주어진 조건이었습니다. 본 연구는 그것을 업무의 성격이 만든 결과로 봅니다. AI 협업의 귀속 모호성을 불확실성의 출처로 지목합니다.
셋째는 처방의 검증입니다. 「기준을 명확히 하면 된다」는 통상적 처방이 어디까지 유효한지를 조절효과로 확인합니다.
[ 주의 ] 시간이 부족하면 붉은 화살표 줄만 읽어도 성립한다.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85초 ]
연구모델의 논리는 한 문장으로 이렇습니다.
「기여를 가릴 수 없으면 평가를 예측할 수 없고, 예측할 수 없는 평가는 일관되고 정확하다고 판단할 근거를 잃는다.」
이 문장의 앞마디와 뒷마디가 각각 가설 1과 가설 2입니다.
가설 1은 귀인이론의 기대원리를 근거로 합니다. 원인을 안정적으로 귀속할 수 있을 때 사람은 미래 결과를 예측합니다. 귀속할 수 없으면 예측할 수 없습니다.
가설 2는 레븐탈의 절차 규칙을 근거로 합니다. 절차공정성은 절차가 일관되게, 그리고 정확한 정보에 근거해 적용된다는 지각에서 형성됩니다. 평가를 예측할 수 없으면 그 규칙이 지켜졌다고 판단할 근거를 잃게 됩니다.
가설 3은 이 둘의 연쇄로, 평가 불확실성의 매개효과입니다.
가설 4는 평가 절차 명확성의 조절효과입니다. 절차를 명확히 설명하는 것은 불확실성 자체를 낮추는 작용이므로, 앞쪽 경로를 조절하는 것으로 놓았습니다. 프로세스 매크로 모델 7에 해당합니다.
다만 이 조절변수를 측정으로 둘지 시나리오에서 조작할지는 사전 검정력 분석 결과에 따라 조정할 계획입니다.
[ 주의 ] 이론은 두 개로만 말한다. 세 개로 말하면 「UMT가 가설 2를 지지하느냐」를 자초한다.
[ 주의 ] 조절 「위치」까지 미정이라고 말하지 않는다. 위치는 논리로 확정했고 조작화 방식만 데이터로 정한다.
[ 저자명 읽기 ] 와이너 · 레븐탈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50초 ]
검증은 시나리오 실험으로 합니다.
응답자는 가상의 회사에서 AI를 활용해 산출물을 만든 상황을 읽고 두 조건 중 하나에 무작위로 배정됩니다.
조작하는 요인은 하나입니다. 기여를 식별할 수 있는가입니다. 두 조건은 산출물도 품질도 같고, AI가 만든 결과물을 어떻게 처리했는지만 다릅니다.
협업의 결합 정도는 조작하지 않았습니다. 대신 AI를 업무 전 과정에서 쓰는 IT 개발직으로 대상을 좁혀 통제합니다.
측정은 평가 불확실성 네 문항, 절차공정성 지각 세 문항, 평가 절차 명확성 네 문항이고, 조작이 실제로 작동했는지는 조작 점검 문항으로 확인합니다.
통제변수로는 AI 리터러시와 사용 경험, 경력과 직급을 넣습니다.
분석은 조작 점검과 신뢰도·타당도 검토를 거쳐 매개효과는 부트스트래핑으로, 조절효과는 조절된 매개로 검정합니다. 표본은 IT 개발직 약 250명을 계획하고 있습니다.
[ 주의 ] 「250명이면 충분합니다」라고 말하지 않는다. 정식 검정력 분석 전이다.
[ 주의 ] 「판별타당도를 확정했습니다」라고 말하지 않는다. 「사전 계획에 포함했고 문항 단계 점검은 수행했습니다」까지가 사실이다.
[ 저자명 읽기 ] 리조 · 니호프와 무어먼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발화 · 약 35초 ]
향후 계획은 9월에 문항을 확정하고 사전검사와 본조사를 진행하며, 10월에 분석과 결과 작성, 11월에 공헌과 시사점과 한계, 12월에 파이널 디펜스입니다.
마지막으로 세 가지에 대해 지도를 구하고 싶습니다.
첫째, 조절변수를 측정으로 둘 것인지 시나리오에서 조작할 것인지입니다. 사전 검정력 분석을 판정 기준으로 두고 있습니다.
둘째, 가상 시나리오에서 절차공정성 지각을 재는 것이 구성 타당도 측면에서 성립하는지입니다.
셋째, 본 연구가 다루는 공백이 학위논문의 기여로 충분한지입니다.
이상입니다. 감사합니다.
[ 주의 ] 조절변수 문항 재설계와 표본 수는 먼저 꺼내지 않는다. 물으면 답한다.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트리거: 「그 이론에서 정확히 무엇을 가져왔습니까」 「왜 그 근거를 썼습니까」. 세 번째 열이 답이다. 미확인 항목은 감추지 않는다.
[ 저자명 읽기 — 발표에서 소리 내어 읽을 때 ]
Weiner 와이너 · Leventhal 레븐탈 · Colquitt 콜퀴트 · Niehoff 니호프 · Moorman 무어먼
Rizzo 리조 · House 하우스 · Lirtzman 러츠먼 · Hartmann 하트만 · Slapničar 슬라프니차르
Erdogan 에르도안 · Orlikowski 올리코프스키 · Leonardi 레오나르디
Brynjolfsson 브린욜프슨 · Dell'Acqua 델라쿠아 · Thompson 톰슨 · Hayes 헤이즈
van den Bos 반 덴 보스 · Lind 린드 · Diekmann 디크만 · Thau 타우
De Cremer 드 크레머 · Sedikides 세디키디스 · MacDonald 맥도널드 · Withey 위디
[ 요령 ] 발표에서 저자명을 다 읽을 필요는 없다. 슬라이드에 적혀 있으므로
「선행연구들이」로 넘기고, 핵심 세 사람 — 와이너 · 레븐탈 · 하트만 — 만 이름으로 부르면 충분하다.
확신이 없는 이름은 읽지 말고 「그 연구는」으로 대체한다.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트리거: 「척도는 어디서 가져왔습니까」 「IV와 MV가 같은 것 아닙니까」. 후자는 ① 정의문에서 IV를 분리했고 ② 판별타당도와 분류 과제로 확인한다.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트리거: 「어떻게 검정합니까」 「Model 7이면 조건부 간접효과를 보고합니까」. 답: 상호작용항으로 H4를 판정하고 조건부 간접효과를 함께 보고한다. MOD 직접항은 통제로 투입하되 가설로 세우지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트리거 1: 「통제변수 없이 나온 계수가 응답자 특성 때문이 아니라고 어떻게 압니까」 → a경로는 무작위 배정이라 무관, b경로는 순차적 무시가능성 가정. 통제변수를 더 넣어 닫는 문제가 아니라 가정에 이름을 붙여 명시하는 문제다. 트리거 2: 「왜 시점을 나누지 않았습니까」 → 시나리오 조작은 직후 측정이 필수이고 가상 조직이라 재접촉이 무의미하다. 대신 IV 무작위 배정이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트리거: 「두 조건이 실제로 어떻게 다릅니까」 「조작이 너무 약한 것 아닙니까」. 후자는 파일럿에서 MC가 갈리지 않으면 ④를 강화하는 안이 준비돼 있다고 답한다.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트리거: 「문항을 보여 주십시오」 「신규 문항이 있습니까」. 답: DV는 신규 0, MV는 Rizzo 정의 ⑴ 계열 복원, MC는 조작 점검용이다.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트리거 1: 「불확실성과 공정성 연구가 없다는 근거가 있습니까」 → 이 표를 연다. 트리거 2: 「Hartmann은 Leventhal 틀이 이론이 아니라고 하는데 왜 그 틀로 갔습니까」 → 하단 두 상자. 인정하고 용법을 구분한다. 상세는 qa-prep-260826 안건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4626742" cy="2084832"/>
          </a:xfrm>
          <a:prstGeom prst="rect">
            <a:avLst/>
          </a:prstGeom>
          <a:solidFill>
            <a:srgbClr val="6B1F26"/>
          </a:solidFill>
          <a:ln/>
        </p:spPr>
      </p:sp>
      <p:sp>
        <p:nvSpPr>
          <p:cNvPr id="3" name="Text 1"/>
          <p:cNvSpPr/>
          <p:nvPr/>
        </p:nvSpPr>
        <p:spPr>
          <a:xfrm>
            <a:off x="987552" y="790042"/>
            <a:ext cx="12618720" cy="373075"/>
          </a:xfrm>
          <a:prstGeom prst="rect">
            <a:avLst/>
          </a:prstGeom>
          <a:noFill/>
          <a:ln/>
        </p:spPr>
        <p:txBody>
          <a:bodyPr wrap="square" lIns="0" tIns="0" rIns="0" bIns="0" rtlCol="0" anchor="ctr"/>
          <a:lstStyle/>
          <a:p>
            <a:pPr indent="0" marL="0">
              <a:buNone/>
            </a:pPr>
            <a:r>
              <a:rPr lang="en-US" sz="1300" b="1" spc="200" kern="0" dirty="0">
                <a:solidFill>
                  <a:srgbClr val="E6CFCC"/>
                </a:solidFill>
                <a:latin typeface="Arial" pitchFamily="34" charset="0"/>
                <a:ea typeface="Arial" pitchFamily="34" charset="-122"/>
                <a:cs typeface="Arial" pitchFamily="34" charset="-120"/>
              </a:rPr>
              <a:t>2026 윤제방 하계세미나  ·  연구 계획 발표</a:t>
            </a:r>
            <a:endParaRPr lang="en-US" sz="1300" dirty="0"/>
          </a:p>
        </p:txBody>
      </p:sp>
      <p:sp>
        <p:nvSpPr>
          <p:cNvPr id="4" name="Text 2"/>
          <p:cNvSpPr/>
          <p:nvPr/>
        </p:nvSpPr>
        <p:spPr>
          <a:xfrm>
            <a:off x="987552" y="2798064"/>
            <a:ext cx="12618720" cy="1645920"/>
          </a:xfrm>
          <a:prstGeom prst="rect">
            <a:avLst/>
          </a:prstGeom>
          <a:noFill/>
          <a:ln/>
        </p:spPr>
        <p:txBody>
          <a:bodyPr wrap="square" lIns="0" tIns="0" rIns="0" bIns="0" rtlCol="0" anchor="ctr"/>
          <a:lstStyle/>
          <a:p>
            <a:pPr indent="0" marL="0">
              <a:lnSpc>
                <a:spcPts val="5520"/>
              </a:lnSpc>
              <a:buNone/>
            </a:pPr>
            <a:r>
              <a:rPr lang="en-US" sz="3300" b="1" dirty="0">
                <a:solidFill>
                  <a:srgbClr val="1F2226"/>
                </a:solidFill>
                <a:latin typeface="Arial" pitchFamily="34" charset="0"/>
                <a:ea typeface="Arial" pitchFamily="34" charset="-122"/>
                <a:cs typeface="Arial" pitchFamily="34" charset="-120"/>
              </a:rPr>
              <a:t>생성형 AI 협업 환경에서 성과 기여 귀속 모호성이</a:t>
            </a:r>
            <a:endParaRPr lang="en-US" sz="3300" dirty="0"/>
          </a:p>
          <a:p>
            <a:pPr indent="0" marL="0">
              <a:lnSpc>
                <a:spcPts val="5520"/>
              </a:lnSpc>
              <a:buNone/>
            </a:pPr>
            <a:r>
              <a:rPr lang="en-US" sz="3300" b="1" dirty="0">
                <a:solidFill>
                  <a:srgbClr val="1F2226"/>
                </a:solidFill>
                <a:latin typeface="Arial" pitchFamily="34" charset="0"/>
                <a:ea typeface="Arial" pitchFamily="34" charset="-122"/>
                <a:cs typeface="Arial" pitchFamily="34" charset="-120"/>
              </a:rPr>
              <a:t>절차공정성 지각에 미치는 영향</a:t>
            </a:r>
            <a:endParaRPr lang="en-US" sz="3300" dirty="0"/>
          </a:p>
        </p:txBody>
      </p:sp>
      <p:sp>
        <p:nvSpPr>
          <p:cNvPr id="5" name="Shape 3"/>
          <p:cNvSpPr/>
          <p:nvPr/>
        </p:nvSpPr>
        <p:spPr>
          <a:xfrm>
            <a:off x="1009498" y="4630522"/>
            <a:ext cx="1645920" cy="0"/>
          </a:xfrm>
          <a:prstGeom prst="line">
            <a:avLst/>
          </a:prstGeom>
          <a:noFill/>
          <a:ln w="38100">
            <a:solidFill>
              <a:srgbClr val="8C2A32"/>
            </a:solidFill>
            <a:prstDash val="solid"/>
          </a:ln>
        </p:spPr>
      </p:sp>
      <p:sp>
        <p:nvSpPr>
          <p:cNvPr id="6" name="Text 4"/>
          <p:cNvSpPr/>
          <p:nvPr/>
        </p:nvSpPr>
        <p:spPr>
          <a:xfrm>
            <a:off x="987552" y="4882896"/>
            <a:ext cx="12618720" cy="438912"/>
          </a:xfrm>
          <a:prstGeom prst="rect">
            <a:avLst/>
          </a:prstGeom>
          <a:noFill/>
          <a:ln/>
        </p:spPr>
        <p:txBody>
          <a:bodyPr wrap="square" lIns="0" tIns="0" rIns="0" bIns="0" rtlCol="0" anchor="ctr"/>
          <a:lstStyle/>
          <a:p>
            <a:pPr indent="0" marL="0">
              <a:buNone/>
            </a:pPr>
            <a:r>
              <a:rPr lang="en-US" sz="1600" dirty="0">
                <a:solidFill>
                  <a:srgbClr val="1F2226"/>
                </a:solidFill>
                <a:latin typeface="Arial" pitchFamily="34" charset="0"/>
                <a:ea typeface="Arial" pitchFamily="34" charset="-122"/>
                <a:cs typeface="Arial" pitchFamily="34" charset="-120"/>
              </a:rPr>
              <a:t>— 지각된 평가 불확실성의 매개효과와 평가 절차 명확성의 조절효과를 중심으로</a:t>
            </a:r>
            <a:endParaRPr lang="en-US" sz="1600" dirty="0"/>
          </a:p>
        </p:txBody>
      </p:sp>
      <p:sp>
        <p:nvSpPr>
          <p:cNvPr id="7" name="Text 5"/>
          <p:cNvSpPr/>
          <p:nvPr/>
        </p:nvSpPr>
        <p:spPr>
          <a:xfrm>
            <a:off x="987552" y="5332781"/>
            <a:ext cx="12618720" cy="373075"/>
          </a:xfrm>
          <a:prstGeom prst="rect">
            <a:avLst/>
          </a:prstGeom>
          <a:noFill/>
          <a:ln/>
        </p:spPr>
        <p:txBody>
          <a:bodyPr wrap="square" lIns="0" tIns="0" rIns="0" bIns="0" rtlCol="0" anchor="ctr"/>
          <a:lstStyle/>
          <a:p>
            <a:pPr indent="0" marL="0">
              <a:buNone/>
            </a:pPr>
            <a:r>
              <a:rPr lang="en-US" sz="1300" dirty="0">
                <a:solidFill>
                  <a:srgbClr val="70757C"/>
                </a:solidFill>
                <a:latin typeface="Arial" pitchFamily="34" charset="0"/>
                <a:ea typeface="Arial" pitchFamily="34" charset="-122"/>
                <a:cs typeface="Arial" pitchFamily="34" charset="-120"/>
              </a:rPr>
              <a:t>IT 개발직 대상 시나리오 실험</a:t>
            </a:r>
            <a:endParaRPr lang="en-US" sz="1300" dirty="0"/>
          </a:p>
        </p:txBody>
      </p:sp>
      <p:sp>
        <p:nvSpPr>
          <p:cNvPr id="8" name="Shape 6"/>
          <p:cNvSpPr/>
          <p:nvPr/>
        </p:nvSpPr>
        <p:spPr>
          <a:xfrm>
            <a:off x="1009498" y="6276442"/>
            <a:ext cx="6144768" cy="0"/>
          </a:xfrm>
          <a:prstGeom prst="line">
            <a:avLst/>
          </a:prstGeom>
          <a:noFill/>
          <a:ln w="12700">
            <a:solidFill>
              <a:srgbClr val="C9CDD3"/>
            </a:solidFill>
            <a:prstDash val="solid"/>
          </a:ln>
        </p:spPr>
      </p:sp>
      <p:sp>
        <p:nvSpPr>
          <p:cNvPr id="9" name="Text 7"/>
          <p:cNvSpPr/>
          <p:nvPr/>
        </p:nvSpPr>
        <p:spPr>
          <a:xfrm>
            <a:off x="1009498" y="6473952"/>
            <a:ext cx="1261872" cy="307238"/>
          </a:xfrm>
          <a:prstGeom prst="rect">
            <a:avLst/>
          </a:prstGeom>
          <a:noFill/>
          <a:ln/>
        </p:spPr>
        <p:txBody>
          <a:bodyPr wrap="square" lIns="0" tIns="0" rIns="0" bIns="0" rtlCol="0" anchor="ctr"/>
          <a:lstStyle/>
          <a:p>
            <a:pPr indent="0" marL="0">
              <a:buNone/>
            </a:pPr>
            <a:r>
              <a:rPr lang="en-US" sz="1150" dirty="0">
                <a:solidFill>
                  <a:srgbClr val="70757C"/>
                </a:solidFill>
                <a:latin typeface="Arial" pitchFamily="34" charset="0"/>
                <a:ea typeface="Arial" pitchFamily="34" charset="-122"/>
                <a:cs typeface="Arial" pitchFamily="34" charset="-120"/>
              </a:rPr>
              <a:t>발표자</a:t>
            </a:r>
            <a:endParaRPr lang="en-US" sz="1150" dirty="0"/>
          </a:p>
        </p:txBody>
      </p:sp>
      <p:sp>
        <p:nvSpPr>
          <p:cNvPr id="10" name="Text 8"/>
          <p:cNvSpPr/>
          <p:nvPr/>
        </p:nvSpPr>
        <p:spPr>
          <a:xfrm>
            <a:off x="2304288" y="6473952"/>
            <a:ext cx="7132320" cy="307238"/>
          </a:xfrm>
          <a:prstGeom prst="rect">
            <a:avLst/>
          </a:prstGeom>
          <a:noFill/>
          <a:ln/>
        </p:spPr>
        <p:txBody>
          <a:bodyPr wrap="square" lIns="0" tIns="0" rIns="0" bIns="0" rtlCol="0" anchor="ctr"/>
          <a:lstStyle/>
          <a:p>
            <a:pPr indent="0" marL="0">
              <a:buNone/>
            </a:pPr>
            <a:r>
              <a:rPr lang="en-US" sz="1250" b="1" dirty="0">
                <a:solidFill>
                  <a:srgbClr val="1F2226"/>
                </a:solidFill>
                <a:latin typeface="Arial" pitchFamily="34" charset="0"/>
                <a:ea typeface="Arial" pitchFamily="34" charset="-122"/>
                <a:cs typeface="Arial" pitchFamily="34" charset="-120"/>
              </a:rPr>
              <a:t>이성준</a:t>
            </a:r>
            <a:endParaRPr lang="en-US" sz="1250" dirty="0"/>
          </a:p>
        </p:txBody>
      </p:sp>
      <p:sp>
        <p:nvSpPr>
          <p:cNvPr id="11" name="Text 9"/>
          <p:cNvSpPr/>
          <p:nvPr/>
        </p:nvSpPr>
        <p:spPr>
          <a:xfrm>
            <a:off x="1009498" y="6814109"/>
            <a:ext cx="1261872" cy="307238"/>
          </a:xfrm>
          <a:prstGeom prst="rect">
            <a:avLst/>
          </a:prstGeom>
          <a:noFill/>
          <a:ln/>
        </p:spPr>
        <p:txBody>
          <a:bodyPr wrap="square" lIns="0" tIns="0" rIns="0" bIns="0" rtlCol="0" anchor="ctr"/>
          <a:lstStyle/>
          <a:p>
            <a:pPr indent="0" marL="0">
              <a:buNone/>
            </a:pPr>
            <a:r>
              <a:rPr lang="en-US" sz="1150" dirty="0">
                <a:solidFill>
                  <a:srgbClr val="70757C"/>
                </a:solidFill>
                <a:latin typeface="Arial" pitchFamily="34" charset="0"/>
                <a:ea typeface="Arial" pitchFamily="34" charset="-122"/>
                <a:cs typeface="Arial" pitchFamily="34" charset="-120"/>
              </a:rPr>
              <a:t>지도교수</a:t>
            </a:r>
            <a:endParaRPr lang="en-US" sz="1150" dirty="0"/>
          </a:p>
        </p:txBody>
      </p:sp>
      <p:sp>
        <p:nvSpPr>
          <p:cNvPr id="12" name="Text 10"/>
          <p:cNvSpPr/>
          <p:nvPr/>
        </p:nvSpPr>
        <p:spPr>
          <a:xfrm>
            <a:off x="2304288" y="6814109"/>
            <a:ext cx="7132320" cy="307238"/>
          </a:xfrm>
          <a:prstGeom prst="rect">
            <a:avLst/>
          </a:prstGeom>
          <a:noFill/>
          <a:ln/>
        </p:spPr>
        <p:txBody>
          <a:bodyPr wrap="square" lIns="0" tIns="0" rIns="0" bIns="0" rtlCol="0" anchor="ctr"/>
          <a:lstStyle/>
          <a:p>
            <a:pPr indent="0" marL="0">
              <a:buNone/>
            </a:pPr>
            <a:r>
              <a:rPr lang="en-US" sz="1250" b="1" dirty="0">
                <a:solidFill>
                  <a:srgbClr val="1F2226"/>
                </a:solidFill>
                <a:latin typeface="Arial" pitchFamily="34" charset="0"/>
                <a:ea typeface="Arial" pitchFamily="34" charset="-122"/>
                <a:cs typeface="Arial" pitchFamily="34" charset="-120"/>
              </a:rPr>
              <a:t>윤지환 교수님</a:t>
            </a:r>
            <a:endParaRPr lang="en-US" sz="1250" dirty="0"/>
          </a:p>
        </p:txBody>
      </p:sp>
      <p:sp>
        <p:nvSpPr>
          <p:cNvPr id="13" name="Text 11"/>
          <p:cNvSpPr/>
          <p:nvPr/>
        </p:nvSpPr>
        <p:spPr>
          <a:xfrm>
            <a:off x="1009498" y="7154266"/>
            <a:ext cx="1261872" cy="307238"/>
          </a:xfrm>
          <a:prstGeom prst="rect">
            <a:avLst/>
          </a:prstGeom>
          <a:noFill/>
          <a:ln/>
        </p:spPr>
        <p:txBody>
          <a:bodyPr wrap="square" lIns="0" tIns="0" rIns="0" bIns="0" rtlCol="0" anchor="ctr"/>
          <a:lstStyle/>
          <a:p>
            <a:pPr indent="0" marL="0">
              <a:buNone/>
            </a:pPr>
            <a:r>
              <a:rPr lang="en-US" sz="1150" dirty="0">
                <a:solidFill>
                  <a:srgbClr val="70757C"/>
                </a:solidFill>
                <a:latin typeface="Arial" pitchFamily="34" charset="0"/>
                <a:ea typeface="Arial" pitchFamily="34" charset="-122"/>
                <a:cs typeface="Arial" pitchFamily="34" charset="-120"/>
              </a:rPr>
              <a:t>소속</a:t>
            </a:r>
            <a:endParaRPr lang="en-US" sz="1150" dirty="0"/>
          </a:p>
        </p:txBody>
      </p:sp>
      <p:sp>
        <p:nvSpPr>
          <p:cNvPr id="14" name="Text 12"/>
          <p:cNvSpPr/>
          <p:nvPr/>
        </p:nvSpPr>
        <p:spPr>
          <a:xfrm>
            <a:off x="2304288" y="7154266"/>
            <a:ext cx="7132320" cy="307238"/>
          </a:xfrm>
          <a:prstGeom prst="rect">
            <a:avLst/>
          </a:prstGeom>
          <a:noFill/>
          <a:ln/>
        </p:spPr>
        <p:txBody>
          <a:bodyPr wrap="square" lIns="0" tIns="0" rIns="0" bIns="0" rtlCol="0" anchor="ctr"/>
          <a:lstStyle/>
          <a:p>
            <a:pPr indent="0" marL="0">
              <a:buNone/>
            </a:pPr>
            <a:r>
              <a:rPr lang="en-US" sz="1250" dirty="0">
                <a:solidFill>
                  <a:srgbClr val="1F2226"/>
                </a:solidFill>
                <a:latin typeface="Arial" pitchFamily="34" charset="0"/>
                <a:ea typeface="Arial" pitchFamily="34" charset="-122"/>
                <a:cs typeface="Arial" pitchFamily="34" charset="-120"/>
              </a:rPr>
              <a:t>고려대학교 기술경영전문대학원 기술경영전공 석사과정</a:t>
            </a:r>
            <a:endParaRPr lang="en-US" sz="1250" dirty="0"/>
          </a:p>
        </p:txBody>
      </p:sp>
      <p:sp>
        <p:nvSpPr>
          <p:cNvPr id="15" name="Text 13"/>
          <p:cNvSpPr/>
          <p:nvPr/>
        </p:nvSpPr>
        <p:spPr>
          <a:xfrm>
            <a:off x="1009498" y="7494422"/>
            <a:ext cx="1261872" cy="307238"/>
          </a:xfrm>
          <a:prstGeom prst="rect">
            <a:avLst/>
          </a:prstGeom>
          <a:noFill/>
          <a:ln/>
        </p:spPr>
        <p:txBody>
          <a:bodyPr wrap="square" lIns="0" tIns="0" rIns="0" bIns="0" rtlCol="0" anchor="ctr"/>
          <a:lstStyle/>
          <a:p>
            <a:pPr indent="0" marL="0">
              <a:buNone/>
            </a:pPr>
            <a:r>
              <a:rPr lang="en-US" sz="1150" dirty="0">
                <a:solidFill>
                  <a:srgbClr val="70757C"/>
                </a:solidFill>
                <a:latin typeface="Arial" pitchFamily="34" charset="0"/>
                <a:ea typeface="Arial" pitchFamily="34" charset="-122"/>
                <a:cs typeface="Arial" pitchFamily="34" charset="-120"/>
              </a:rPr>
              <a:t>일자</a:t>
            </a:r>
            <a:endParaRPr lang="en-US" sz="1150" dirty="0"/>
          </a:p>
        </p:txBody>
      </p:sp>
      <p:sp>
        <p:nvSpPr>
          <p:cNvPr id="16" name="Text 14"/>
          <p:cNvSpPr/>
          <p:nvPr/>
        </p:nvSpPr>
        <p:spPr>
          <a:xfrm>
            <a:off x="2304288" y="7494422"/>
            <a:ext cx="7132320" cy="307238"/>
          </a:xfrm>
          <a:prstGeom prst="rect">
            <a:avLst/>
          </a:prstGeom>
          <a:noFill/>
          <a:ln/>
        </p:spPr>
        <p:txBody>
          <a:bodyPr wrap="square" lIns="0" tIns="0" rIns="0" bIns="0" rtlCol="0" anchor="ctr"/>
          <a:lstStyle/>
          <a:p>
            <a:pPr indent="0" marL="0">
              <a:buNone/>
            </a:pPr>
            <a:r>
              <a:rPr lang="en-US" sz="1250" dirty="0">
                <a:solidFill>
                  <a:srgbClr val="1F2226"/>
                </a:solidFill>
                <a:latin typeface="Arial" pitchFamily="34" charset="0"/>
                <a:ea typeface="Arial" pitchFamily="34" charset="-122"/>
                <a:cs typeface="Arial" pitchFamily="34" charset="-120"/>
              </a:rPr>
              <a:t>2026. 08. 26.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목차</a:t>
            </a:r>
            <a:endParaRPr lang="en-US" sz="2600" dirty="0"/>
          </a:p>
        </p:txBody>
      </p:sp>
      <p:sp>
        <p:nvSpPr>
          <p:cNvPr id="9" name="Text 7"/>
          <p:cNvSpPr/>
          <p:nvPr/>
        </p:nvSpPr>
        <p:spPr>
          <a:xfrm>
            <a:off x="932688" y="2578608"/>
            <a:ext cx="932688" cy="482803"/>
          </a:xfrm>
          <a:prstGeom prst="rect">
            <a:avLst/>
          </a:prstGeom>
          <a:noFill/>
          <a:ln/>
        </p:spPr>
        <p:txBody>
          <a:bodyPr wrap="square" lIns="0" tIns="0" rIns="0" bIns="0" rtlCol="0" anchor="ctr"/>
          <a:lstStyle/>
          <a:p>
            <a:pPr indent="0" marL="0">
              <a:buNone/>
            </a:pPr>
            <a:r>
              <a:rPr lang="en-US" sz="2100" b="1" dirty="0">
                <a:solidFill>
                  <a:srgbClr val="C4C6C9"/>
                </a:solidFill>
                <a:latin typeface="Arial" pitchFamily="34" charset="0"/>
                <a:ea typeface="Arial" pitchFamily="34" charset="-122"/>
                <a:cs typeface="Arial" pitchFamily="34" charset="-120"/>
              </a:rPr>
              <a:t>01</a:t>
            </a:r>
            <a:endParaRPr lang="en-US" sz="2100" dirty="0"/>
          </a:p>
        </p:txBody>
      </p:sp>
      <p:sp>
        <p:nvSpPr>
          <p:cNvPr id="10" name="Text 8"/>
          <p:cNvSpPr/>
          <p:nvPr/>
        </p:nvSpPr>
        <p:spPr>
          <a:xfrm>
            <a:off x="1920240" y="2622499"/>
            <a:ext cx="5266944" cy="416966"/>
          </a:xfrm>
          <a:prstGeom prst="rect">
            <a:avLst/>
          </a:prstGeom>
          <a:noFill/>
          <a:ln/>
        </p:spPr>
        <p:txBody>
          <a:bodyPr wrap="square" lIns="0" tIns="0" rIns="0" bIns="0" rtlCol="0" anchor="ctr"/>
          <a:lstStyle/>
          <a:p>
            <a:pPr indent="0" marL="0">
              <a:buNone/>
            </a:pPr>
            <a:r>
              <a:rPr lang="en-US" sz="1700" b="1" dirty="0">
                <a:solidFill>
                  <a:srgbClr val="1F2226"/>
                </a:solidFill>
                <a:latin typeface="Arial" pitchFamily="34" charset="0"/>
                <a:ea typeface="Arial" pitchFamily="34" charset="-122"/>
                <a:cs typeface="Arial" pitchFamily="34" charset="-120"/>
              </a:rPr>
              <a:t>연구배경</a:t>
            </a:r>
            <a:endParaRPr lang="en-US" sz="1700" dirty="0"/>
          </a:p>
        </p:txBody>
      </p:sp>
      <p:sp>
        <p:nvSpPr>
          <p:cNvPr id="11" name="Shape 9"/>
          <p:cNvSpPr/>
          <p:nvPr/>
        </p:nvSpPr>
        <p:spPr>
          <a:xfrm>
            <a:off x="1920240" y="3127248"/>
            <a:ext cx="5047488" cy="0"/>
          </a:xfrm>
          <a:prstGeom prst="line">
            <a:avLst/>
          </a:prstGeom>
          <a:noFill/>
          <a:ln w="12700">
            <a:solidFill>
              <a:srgbClr val="C9CDD3"/>
            </a:solidFill>
            <a:prstDash val="solid"/>
          </a:ln>
        </p:spPr>
      </p:sp>
      <p:sp>
        <p:nvSpPr>
          <p:cNvPr id="12" name="Text 10"/>
          <p:cNvSpPr/>
          <p:nvPr/>
        </p:nvSpPr>
        <p:spPr>
          <a:xfrm>
            <a:off x="932688" y="3621024"/>
            <a:ext cx="932688" cy="482803"/>
          </a:xfrm>
          <a:prstGeom prst="rect">
            <a:avLst/>
          </a:prstGeom>
          <a:noFill/>
          <a:ln/>
        </p:spPr>
        <p:txBody>
          <a:bodyPr wrap="square" lIns="0" tIns="0" rIns="0" bIns="0" rtlCol="0" anchor="ctr"/>
          <a:lstStyle/>
          <a:p>
            <a:pPr indent="0" marL="0">
              <a:buNone/>
            </a:pPr>
            <a:r>
              <a:rPr lang="en-US" sz="2100" b="1" dirty="0">
                <a:solidFill>
                  <a:srgbClr val="C4C6C9"/>
                </a:solidFill>
                <a:latin typeface="Arial" pitchFamily="34" charset="0"/>
                <a:ea typeface="Arial" pitchFamily="34" charset="-122"/>
                <a:cs typeface="Arial" pitchFamily="34" charset="-120"/>
              </a:rPr>
              <a:t>02</a:t>
            </a:r>
            <a:endParaRPr lang="en-US" sz="2100" dirty="0"/>
          </a:p>
        </p:txBody>
      </p:sp>
      <p:sp>
        <p:nvSpPr>
          <p:cNvPr id="13" name="Text 11"/>
          <p:cNvSpPr/>
          <p:nvPr/>
        </p:nvSpPr>
        <p:spPr>
          <a:xfrm>
            <a:off x="1920240" y="3664915"/>
            <a:ext cx="5266944" cy="416966"/>
          </a:xfrm>
          <a:prstGeom prst="rect">
            <a:avLst/>
          </a:prstGeom>
          <a:noFill/>
          <a:ln/>
        </p:spPr>
        <p:txBody>
          <a:bodyPr wrap="square" lIns="0" tIns="0" rIns="0" bIns="0" rtlCol="0" anchor="ctr"/>
          <a:lstStyle/>
          <a:p>
            <a:pPr indent="0" marL="0">
              <a:buNone/>
            </a:pPr>
            <a:r>
              <a:rPr lang="en-US" sz="1700" b="1" dirty="0">
                <a:solidFill>
                  <a:srgbClr val="1F2226"/>
                </a:solidFill>
                <a:latin typeface="Arial" pitchFamily="34" charset="0"/>
                <a:ea typeface="Arial" pitchFamily="34" charset="-122"/>
                <a:cs typeface="Arial" pitchFamily="34" charset="-120"/>
              </a:rPr>
              <a:t>문제제기</a:t>
            </a:r>
            <a:endParaRPr lang="en-US" sz="1700" dirty="0"/>
          </a:p>
        </p:txBody>
      </p:sp>
      <p:sp>
        <p:nvSpPr>
          <p:cNvPr id="14" name="Shape 12"/>
          <p:cNvSpPr/>
          <p:nvPr/>
        </p:nvSpPr>
        <p:spPr>
          <a:xfrm>
            <a:off x="1920240" y="4169664"/>
            <a:ext cx="5047488" cy="0"/>
          </a:xfrm>
          <a:prstGeom prst="line">
            <a:avLst/>
          </a:prstGeom>
          <a:noFill/>
          <a:ln w="12700">
            <a:solidFill>
              <a:srgbClr val="C9CDD3"/>
            </a:solidFill>
            <a:prstDash val="solid"/>
          </a:ln>
        </p:spPr>
      </p:sp>
      <p:sp>
        <p:nvSpPr>
          <p:cNvPr id="15" name="Text 13"/>
          <p:cNvSpPr/>
          <p:nvPr/>
        </p:nvSpPr>
        <p:spPr>
          <a:xfrm>
            <a:off x="932688" y="4663440"/>
            <a:ext cx="932688" cy="482803"/>
          </a:xfrm>
          <a:prstGeom prst="rect">
            <a:avLst/>
          </a:prstGeom>
          <a:noFill/>
          <a:ln/>
        </p:spPr>
        <p:txBody>
          <a:bodyPr wrap="square" lIns="0" tIns="0" rIns="0" bIns="0" rtlCol="0" anchor="ctr"/>
          <a:lstStyle/>
          <a:p>
            <a:pPr indent="0" marL="0">
              <a:buNone/>
            </a:pPr>
            <a:r>
              <a:rPr lang="en-US" sz="2100" b="1" dirty="0">
                <a:solidFill>
                  <a:srgbClr val="C4C6C9"/>
                </a:solidFill>
                <a:latin typeface="Arial" pitchFamily="34" charset="0"/>
                <a:ea typeface="Arial" pitchFamily="34" charset="-122"/>
                <a:cs typeface="Arial" pitchFamily="34" charset="-120"/>
              </a:rPr>
              <a:t>03</a:t>
            </a:r>
            <a:endParaRPr lang="en-US" sz="2100" dirty="0"/>
          </a:p>
        </p:txBody>
      </p:sp>
      <p:sp>
        <p:nvSpPr>
          <p:cNvPr id="16" name="Text 14"/>
          <p:cNvSpPr/>
          <p:nvPr/>
        </p:nvSpPr>
        <p:spPr>
          <a:xfrm>
            <a:off x="1920240" y="4707331"/>
            <a:ext cx="5266944" cy="416966"/>
          </a:xfrm>
          <a:prstGeom prst="rect">
            <a:avLst/>
          </a:prstGeom>
          <a:noFill/>
          <a:ln/>
        </p:spPr>
        <p:txBody>
          <a:bodyPr wrap="square" lIns="0" tIns="0" rIns="0" bIns="0" rtlCol="0" anchor="ctr"/>
          <a:lstStyle/>
          <a:p>
            <a:pPr indent="0" marL="0">
              <a:buNone/>
            </a:pPr>
            <a:r>
              <a:rPr lang="en-US" sz="1700" b="1" dirty="0">
                <a:solidFill>
                  <a:srgbClr val="1F2226"/>
                </a:solidFill>
                <a:latin typeface="Arial" pitchFamily="34" charset="0"/>
                <a:ea typeface="Arial" pitchFamily="34" charset="-122"/>
                <a:cs typeface="Arial" pitchFamily="34" charset="-120"/>
              </a:rPr>
              <a:t>연구목적</a:t>
            </a:r>
            <a:endParaRPr lang="en-US" sz="1700" dirty="0"/>
          </a:p>
        </p:txBody>
      </p:sp>
      <p:sp>
        <p:nvSpPr>
          <p:cNvPr id="17" name="Shape 15"/>
          <p:cNvSpPr/>
          <p:nvPr/>
        </p:nvSpPr>
        <p:spPr>
          <a:xfrm>
            <a:off x="1920240" y="5212080"/>
            <a:ext cx="5047488" cy="0"/>
          </a:xfrm>
          <a:prstGeom prst="line">
            <a:avLst/>
          </a:prstGeom>
          <a:noFill/>
          <a:ln w="12700">
            <a:solidFill>
              <a:srgbClr val="C9CDD3"/>
            </a:solidFill>
            <a:prstDash val="solid"/>
          </a:ln>
        </p:spPr>
      </p:sp>
      <p:sp>
        <p:nvSpPr>
          <p:cNvPr id="18" name="Text 16"/>
          <p:cNvSpPr/>
          <p:nvPr/>
        </p:nvSpPr>
        <p:spPr>
          <a:xfrm>
            <a:off x="932688" y="5705856"/>
            <a:ext cx="932688" cy="482803"/>
          </a:xfrm>
          <a:prstGeom prst="rect">
            <a:avLst/>
          </a:prstGeom>
          <a:noFill/>
          <a:ln/>
        </p:spPr>
        <p:txBody>
          <a:bodyPr wrap="square" lIns="0" tIns="0" rIns="0" bIns="0" rtlCol="0" anchor="ctr"/>
          <a:lstStyle/>
          <a:p>
            <a:pPr indent="0" marL="0">
              <a:buNone/>
            </a:pPr>
            <a:r>
              <a:rPr lang="en-US" sz="2100" b="1" dirty="0">
                <a:solidFill>
                  <a:srgbClr val="C4C6C9"/>
                </a:solidFill>
                <a:latin typeface="Arial" pitchFamily="34" charset="0"/>
                <a:ea typeface="Arial" pitchFamily="34" charset="-122"/>
                <a:cs typeface="Arial" pitchFamily="34" charset="-120"/>
              </a:rPr>
              <a:t>04</a:t>
            </a:r>
            <a:endParaRPr lang="en-US" sz="2100" dirty="0"/>
          </a:p>
        </p:txBody>
      </p:sp>
      <p:sp>
        <p:nvSpPr>
          <p:cNvPr id="19" name="Text 17"/>
          <p:cNvSpPr/>
          <p:nvPr/>
        </p:nvSpPr>
        <p:spPr>
          <a:xfrm>
            <a:off x="1920240" y="5749747"/>
            <a:ext cx="5266944" cy="416966"/>
          </a:xfrm>
          <a:prstGeom prst="rect">
            <a:avLst/>
          </a:prstGeom>
          <a:noFill/>
          <a:ln/>
        </p:spPr>
        <p:txBody>
          <a:bodyPr wrap="square" lIns="0" tIns="0" rIns="0" bIns="0" rtlCol="0" anchor="ctr"/>
          <a:lstStyle/>
          <a:p>
            <a:pPr indent="0" marL="0">
              <a:buNone/>
            </a:pPr>
            <a:r>
              <a:rPr lang="en-US" sz="1700" b="1" dirty="0">
                <a:solidFill>
                  <a:srgbClr val="1F2226"/>
                </a:solidFill>
                <a:latin typeface="Arial" pitchFamily="34" charset="0"/>
                <a:ea typeface="Arial" pitchFamily="34" charset="-122"/>
                <a:cs typeface="Arial" pitchFamily="34" charset="-120"/>
              </a:rPr>
              <a:t>학술적 기여</a:t>
            </a:r>
            <a:endParaRPr lang="en-US" sz="1700" dirty="0"/>
          </a:p>
        </p:txBody>
      </p:sp>
      <p:sp>
        <p:nvSpPr>
          <p:cNvPr id="20" name="Shape 18"/>
          <p:cNvSpPr/>
          <p:nvPr/>
        </p:nvSpPr>
        <p:spPr>
          <a:xfrm>
            <a:off x="1920240" y="6254496"/>
            <a:ext cx="5047488" cy="0"/>
          </a:xfrm>
          <a:prstGeom prst="line">
            <a:avLst/>
          </a:prstGeom>
          <a:noFill/>
          <a:ln w="12700">
            <a:solidFill>
              <a:srgbClr val="C9CDD3"/>
            </a:solidFill>
            <a:prstDash val="solid"/>
          </a:ln>
        </p:spPr>
      </p:sp>
      <p:sp>
        <p:nvSpPr>
          <p:cNvPr id="21" name="Text 19"/>
          <p:cNvSpPr/>
          <p:nvPr/>
        </p:nvSpPr>
        <p:spPr>
          <a:xfrm>
            <a:off x="7735824" y="2578608"/>
            <a:ext cx="932688" cy="482803"/>
          </a:xfrm>
          <a:prstGeom prst="rect">
            <a:avLst/>
          </a:prstGeom>
          <a:noFill/>
          <a:ln/>
        </p:spPr>
        <p:txBody>
          <a:bodyPr wrap="square" lIns="0" tIns="0" rIns="0" bIns="0" rtlCol="0" anchor="ctr"/>
          <a:lstStyle/>
          <a:p>
            <a:pPr indent="0" marL="0">
              <a:buNone/>
            </a:pPr>
            <a:r>
              <a:rPr lang="en-US" sz="2100" b="1" dirty="0">
                <a:solidFill>
                  <a:srgbClr val="C4C6C9"/>
                </a:solidFill>
                <a:latin typeface="Arial" pitchFamily="34" charset="0"/>
                <a:ea typeface="Arial" pitchFamily="34" charset="-122"/>
                <a:cs typeface="Arial" pitchFamily="34" charset="-120"/>
              </a:rPr>
              <a:t>05</a:t>
            </a:r>
            <a:endParaRPr lang="en-US" sz="2100" dirty="0"/>
          </a:p>
        </p:txBody>
      </p:sp>
      <p:sp>
        <p:nvSpPr>
          <p:cNvPr id="22" name="Text 20"/>
          <p:cNvSpPr/>
          <p:nvPr/>
        </p:nvSpPr>
        <p:spPr>
          <a:xfrm>
            <a:off x="8723376" y="2622499"/>
            <a:ext cx="5266944" cy="416966"/>
          </a:xfrm>
          <a:prstGeom prst="rect">
            <a:avLst/>
          </a:prstGeom>
          <a:noFill/>
          <a:ln/>
        </p:spPr>
        <p:txBody>
          <a:bodyPr wrap="square" lIns="0" tIns="0" rIns="0" bIns="0" rtlCol="0" anchor="ctr"/>
          <a:lstStyle/>
          <a:p>
            <a:pPr indent="0" marL="0">
              <a:buNone/>
            </a:pPr>
            <a:r>
              <a:rPr lang="en-US" sz="1700" b="1" dirty="0">
                <a:solidFill>
                  <a:srgbClr val="1F2226"/>
                </a:solidFill>
                <a:latin typeface="Arial" pitchFamily="34" charset="0"/>
                <a:ea typeface="Arial" pitchFamily="34" charset="-122"/>
                <a:cs typeface="Arial" pitchFamily="34" charset="-120"/>
              </a:rPr>
              <a:t>연구모델과 가설</a:t>
            </a:r>
            <a:endParaRPr lang="en-US" sz="1700" dirty="0"/>
          </a:p>
        </p:txBody>
      </p:sp>
      <p:sp>
        <p:nvSpPr>
          <p:cNvPr id="23" name="Shape 21"/>
          <p:cNvSpPr/>
          <p:nvPr/>
        </p:nvSpPr>
        <p:spPr>
          <a:xfrm>
            <a:off x="8723376" y="3127248"/>
            <a:ext cx="5047488" cy="0"/>
          </a:xfrm>
          <a:prstGeom prst="line">
            <a:avLst/>
          </a:prstGeom>
          <a:noFill/>
          <a:ln w="12700">
            <a:solidFill>
              <a:srgbClr val="C9CDD3"/>
            </a:solidFill>
            <a:prstDash val="solid"/>
          </a:ln>
        </p:spPr>
      </p:sp>
      <p:sp>
        <p:nvSpPr>
          <p:cNvPr id="24" name="Text 22"/>
          <p:cNvSpPr/>
          <p:nvPr/>
        </p:nvSpPr>
        <p:spPr>
          <a:xfrm>
            <a:off x="7735824" y="3621024"/>
            <a:ext cx="932688" cy="482803"/>
          </a:xfrm>
          <a:prstGeom prst="rect">
            <a:avLst/>
          </a:prstGeom>
          <a:noFill/>
          <a:ln/>
        </p:spPr>
        <p:txBody>
          <a:bodyPr wrap="square" lIns="0" tIns="0" rIns="0" bIns="0" rtlCol="0" anchor="ctr"/>
          <a:lstStyle/>
          <a:p>
            <a:pPr indent="0" marL="0">
              <a:buNone/>
            </a:pPr>
            <a:r>
              <a:rPr lang="en-US" sz="2100" b="1" dirty="0">
                <a:solidFill>
                  <a:srgbClr val="C4C6C9"/>
                </a:solidFill>
                <a:latin typeface="Arial" pitchFamily="34" charset="0"/>
                <a:ea typeface="Arial" pitchFamily="34" charset="-122"/>
                <a:cs typeface="Arial" pitchFamily="34" charset="-120"/>
              </a:rPr>
              <a:t>06</a:t>
            </a:r>
            <a:endParaRPr lang="en-US" sz="2100" dirty="0"/>
          </a:p>
        </p:txBody>
      </p:sp>
      <p:sp>
        <p:nvSpPr>
          <p:cNvPr id="25" name="Text 23"/>
          <p:cNvSpPr/>
          <p:nvPr/>
        </p:nvSpPr>
        <p:spPr>
          <a:xfrm>
            <a:off x="8723376" y="3664915"/>
            <a:ext cx="5266944" cy="416966"/>
          </a:xfrm>
          <a:prstGeom prst="rect">
            <a:avLst/>
          </a:prstGeom>
          <a:noFill/>
          <a:ln/>
        </p:spPr>
        <p:txBody>
          <a:bodyPr wrap="square" lIns="0" tIns="0" rIns="0" bIns="0" rtlCol="0" anchor="ctr"/>
          <a:lstStyle/>
          <a:p>
            <a:pPr indent="0" marL="0">
              <a:buNone/>
            </a:pPr>
            <a:r>
              <a:rPr lang="en-US" sz="1700" b="1" dirty="0">
                <a:solidFill>
                  <a:srgbClr val="1F2226"/>
                </a:solidFill>
                <a:latin typeface="Arial" pitchFamily="34" charset="0"/>
                <a:ea typeface="Arial" pitchFamily="34" charset="-122"/>
                <a:cs typeface="Arial" pitchFamily="34" charset="-120"/>
              </a:rPr>
              <a:t>연구방법</a:t>
            </a:r>
            <a:endParaRPr lang="en-US" sz="1700" dirty="0"/>
          </a:p>
        </p:txBody>
      </p:sp>
      <p:sp>
        <p:nvSpPr>
          <p:cNvPr id="26" name="Shape 24"/>
          <p:cNvSpPr/>
          <p:nvPr/>
        </p:nvSpPr>
        <p:spPr>
          <a:xfrm>
            <a:off x="8723376" y="4169664"/>
            <a:ext cx="5047488" cy="0"/>
          </a:xfrm>
          <a:prstGeom prst="line">
            <a:avLst/>
          </a:prstGeom>
          <a:noFill/>
          <a:ln w="12700">
            <a:solidFill>
              <a:srgbClr val="C9CDD3"/>
            </a:solidFill>
            <a:prstDash val="solid"/>
          </a:ln>
        </p:spPr>
      </p:sp>
      <p:sp>
        <p:nvSpPr>
          <p:cNvPr id="27" name="Text 25"/>
          <p:cNvSpPr/>
          <p:nvPr/>
        </p:nvSpPr>
        <p:spPr>
          <a:xfrm>
            <a:off x="7735824" y="4663440"/>
            <a:ext cx="932688" cy="482803"/>
          </a:xfrm>
          <a:prstGeom prst="rect">
            <a:avLst/>
          </a:prstGeom>
          <a:noFill/>
          <a:ln/>
        </p:spPr>
        <p:txBody>
          <a:bodyPr wrap="square" lIns="0" tIns="0" rIns="0" bIns="0" rtlCol="0" anchor="ctr"/>
          <a:lstStyle/>
          <a:p>
            <a:pPr indent="0" marL="0">
              <a:buNone/>
            </a:pPr>
            <a:r>
              <a:rPr lang="en-US" sz="2100" b="1" dirty="0">
                <a:solidFill>
                  <a:srgbClr val="C4C6C9"/>
                </a:solidFill>
                <a:latin typeface="Arial" pitchFamily="34" charset="0"/>
                <a:ea typeface="Arial" pitchFamily="34" charset="-122"/>
                <a:cs typeface="Arial" pitchFamily="34" charset="-120"/>
              </a:rPr>
              <a:t>07</a:t>
            </a:r>
            <a:endParaRPr lang="en-US" sz="2100" dirty="0"/>
          </a:p>
        </p:txBody>
      </p:sp>
      <p:sp>
        <p:nvSpPr>
          <p:cNvPr id="28" name="Text 26"/>
          <p:cNvSpPr/>
          <p:nvPr/>
        </p:nvSpPr>
        <p:spPr>
          <a:xfrm>
            <a:off x="8723376" y="4707331"/>
            <a:ext cx="5266944" cy="416966"/>
          </a:xfrm>
          <a:prstGeom prst="rect">
            <a:avLst/>
          </a:prstGeom>
          <a:noFill/>
          <a:ln/>
        </p:spPr>
        <p:txBody>
          <a:bodyPr wrap="square" lIns="0" tIns="0" rIns="0" bIns="0" rtlCol="0" anchor="ctr"/>
          <a:lstStyle/>
          <a:p>
            <a:pPr indent="0" marL="0">
              <a:buNone/>
            </a:pPr>
            <a:r>
              <a:rPr lang="en-US" sz="1700" b="1" dirty="0">
                <a:solidFill>
                  <a:srgbClr val="1F2226"/>
                </a:solidFill>
                <a:latin typeface="Arial" pitchFamily="34" charset="0"/>
                <a:ea typeface="Arial" pitchFamily="34" charset="-122"/>
                <a:cs typeface="Arial" pitchFamily="34" charset="-120"/>
              </a:rPr>
              <a:t>향후 계획과 남은 논의</a:t>
            </a:r>
            <a:endParaRPr lang="en-US" sz="1700" dirty="0"/>
          </a:p>
        </p:txBody>
      </p:sp>
      <p:sp>
        <p:nvSpPr>
          <p:cNvPr id="29" name="Shape 27"/>
          <p:cNvSpPr/>
          <p:nvPr/>
        </p:nvSpPr>
        <p:spPr>
          <a:xfrm>
            <a:off x="8723376" y="5212080"/>
            <a:ext cx="5047488" cy="0"/>
          </a:xfrm>
          <a:prstGeom prst="line">
            <a:avLst/>
          </a:prstGeom>
          <a:noFill/>
          <a:ln w="12700">
            <a:solidFill>
              <a:srgbClr val="C9CDD3"/>
            </a:solidFill>
            <a:prstDash val="solid"/>
          </a:ln>
        </p:spPr>
      </p:sp>
      <p:sp>
        <p:nvSpPr>
          <p:cNvPr id="30" name="Text 28"/>
          <p:cNvSpPr/>
          <p:nvPr/>
        </p:nvSpPr>
        <p:spPr>
          <a:xfrm>
            <a:off x="7735824" y="5760720"/>
            <a:ext cx="5925312" cy="351130"/>
          </a:xfrm>
          <a:prstGeom prst="rect">
            <a:avLst/>
          </a:prstGeom>
          <a:noFill/>
          <a:ln/>
        </p:spPr>
        <p:txBody>
          <a:bodyPr wrap="square" lIns="0" tIns="0" rIns="0" bIns="0" rtlCol="0" anchor="ctr"/>
          <a:lstStyle/>
          <a:p>
            <a:pPr indent="0" marL="0">
              <a:buNone/>
            </a:pPr>
            <a:r>
              <a:rPr lang="en-US" sz="1250" dirty="0">
                <a:solidFill>
                  <a:srgbClr val="70757C"/>
                </a:solidFill>
                <a:latin typeface="Arial" pitchFamily="34" charset="0"/>
                <a:ea typeface="Arial" pitchFamily="34" charset="-122"/>
                <a:cs typeface="Arial" pitchFamily="34" charset="-120"/>
              </a:rPr>
              <a:t>Appendix   이론적 배경 · 측정과 점검 · 분석 절차 · 한계 · 시나리오 조작 · 측정 문항 · 이론 층 선택의 근거</a:t>
            </a:r>
            <a:endParaRPr lang="en-US" sz="1250" dirty="0"/>
          </a:p>
        </p:txBody>
      </p:sp>
      <p:sp>
        <p:nvSpPr>
          <p:cNvPr id="31" name="Text 29"/>
          <p:cNvSpPr/>
          <p:nvPr/>
        </p:nvSpPr>
        <p:spPr>
          <a:xfrm>
            <a:off x="12508992" y="7626096"/>
            <a:ext cx="1448410" cy="307238"/>
          </a:xfrm>
          <a:prstGeom prst="rect">
            <a:avLst/>
          </a:prstGeom>
          <a:noFill/>
          <a:ln/>
        </p:spPr>
        <p:txBody>
          <a:bodyPr wrap="square" lIns="0" tIns="0" rIns="0" bIns="0" rtlCol="0" anchor="ctr"/>
          <a:lstStyle/>
          <a:p>
            <a:pPr algn="r" indent="0" marL="0">
              <a:buNone/>
            </a:pP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01.  연구 배경</a:t>
            </a:r>
            <a:endParaRPr lang="en-US" sz="2600" dirty="0"/>
          </a:p>
        </p:txBody>
      </p:sp>
      <p:sp>
        <p:nvSpPr>
          <p:cNvPr id="9" name="Text 7"/>
          <p:cNvSpPr/>
          <p:nvPr/>
        </p:nvSpPr>
        <p:spPr>
          <a:xfrm>
            <a:off x="822960" y="2392070"/>
            <a:ext cx="329184" cy="329184"/>
          </a:xfrm>
          <a:prstGeom prst="rect">
            <a:avLst/>
          </a:prstGeom>
          <a:noFill/>
          <a:ln/>
        </p:spPr>
        <p:txBody>
          <a:bodyPr wrap="square" lIns="0" tIns="0" rIns="0" bIns="0" rtlCol="0" anchor="ctr"/>
          <a:lstStyle/>
          <a:p>
            <a:pPr indent="0" marL="0">
              <a:buNone/>
            </a:pPr>
            <a:r>
              <a:rPr lang="en-US" sz="1100" dirty="0">
                <a:solidFill>
                  <a:srgbClr val="70757C"/>
                </a:solidFill>
                <a:latin typeface="Arial" pitchFamily="34" charset="0"/>
                <a:ea typeface="Arial" pitchFamily="34" charset="-122"/>
                <a:cs typeface="Arial" pitchFamily="34" charset="-120"/>
              </a:rPr>
              <a:t>◆</a:t>
            </a:r>
            <a:endParaRPr lang="en-US" sz="1100" dirty="0"/>
          </a:p>
        </p:txBody>
      </p:sp>
      <p:sp>
        <p:nvSpPr>
          <p:cNvPr id="10" name="Text 8"/>
          <p:cNvSpPr/>
          <p:nvPr/>
        </p:nvSpPr>
        <p:spPr>
          <a:xfrm>
            <a:off x="1207008" y="2370125"/>
            <a:ext cx="10314432" cy="373075"/>
          </a:xfrm>
          <a:prstGeom prst="rect">
            <a:avLst/>
          </a:prstGeom>
          <a:noFill/>
          <a:ln/>
        </p:spPr>
        <p:txBody>
          <a:bodyPr wrap="square" lIns="0" tIns="0" rIns="0" bIns="0" rtlCol="0" anchor="ctr"/>
          <a:lstStyle/>
          <a:p>
            <a:pPr indent="0" marL="0">
              <a:buNone/>
            </a:pPr>
            <a:r>
              <a:rPr lang="en-US" sz="1450" dirty="0">
                <a:solidFill>
                  <a:srgbClr val="1F2226"/>
                </a:solidFill>
                <a:latin typeface="Arial" pitchFamily="34" charset="0"/>
                <a:ea typeface="Arial" pitchFamily="34" charset="-122"/>
                <a:cs typeface="Arial" pitchFamily="34" charset="-120"/>
              </a:rPr>
              <a:t>생성형 AI가 지식노동의 수행 방식을 바꾸고 있다</a:t>
            </a:r>
            <a:endParaRPr lang="en-US" sz="1450" dirty="0"/>
          </a:p>
        </p:txBody>
      </p:sp>
      <p:sp>
        <p:nvSpPr>
          <p:cNvPr id="11" name="Text 9"/>
          <p:cNvSpPr/>
          <p:nvPr/>
        </p:nvSpPr>
        <p:spPr>
          <a:xfrm>
            <a:off x="1207008" y="2743200"/>
            <a:ext cx="10314432" cy="307238"/>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(Brynjolfsson et al., 2025; Dell'Acqua et al., 2023)</a:t>
            </a:r>
            <a:endParaRPr lang="en-US" sz="1050" dirty="0"/>
          </a:p>
        </p:txBody>
      </p:sp>
      <p:sp>
        <p:nvSpPr>
          <p:cNvPr id="12" name="Text 10"/>
          <p:cNvSpPr/>
          <p:nvPr/>
        </p:nvSpPr>
        <p:spPr>
          <a:xfrm>
            <a:off x="1152144" y="3269894"/>
            <a:ext cx="329184" cy="329184"/>
          </a:xfrm>
          <a:prstGeom prst="rect">
            <a:avLst/>
          </a:prstGeom>
          <a:noFill/>
          <a:ln/>
        </p:spPr>
        <p:txBody>
          <a:bodyPr wrap="square" lIns="0" tIns="0" rIns="0" bIns="0" rtlCol="0" anchor="ctr"/>
          <a:lstStyle/>
          <a:p>
            <a:pPr indent="0" marL="0">
              <a:buNone/>
            </a:pPr>
            <a:r>
              <a:rPr lang="en-US" sz="1100" dirty="0">
                <a:solidFill>
                  <a:srgbClr val="70757C"/>
                </a:solidFill>
                <a:latin typeface="Arial" pitchFamily="34" charset="0"/>
                <a:ea typeface="Arial" pitchFamily="34" charset="-122"/>
                <a:cs typeface="Arial" pitchFamily="34" charset="-120"/>
              </a:rPr>
              <a:t>◆</a:t>
            </a:r>
            <a:endParaRPr lang="en-US" sz="1100" dirty="0"/>
          </a:p>
        </p:txBody>
      </p:sp>
      <p:sp>
        <p:nvSpPr>
          <p:cNvPr id="13" name="Text 11"/>
          <p:cNvSpPr/>
          <p:nvPr/>
        </p:nvSpPr>
        <p:spPr>
          <a:xfrm>
            <a:off x="1536192" y="3247949"/>
            <a:ext cx="9985248" cy="373075"/>
          </a:xfrm>
          <a:prstGeom prst="rect">
            <a:avLst/>
          </a:prstGeom>
          <a:noFill/>
          <a:ln/>
        </p:spPr>
        <p:txBody>
          <a:bodyPr wrap="square" lIns="0" tIns="0" rIns="0" bIns="0" rtlCol="0" anchor="ctr"/>
          <a:lstStyle/>
          <a:p>
            <a:pPr indent="0" marL="0">
              <a:buNone/>
            </a:pPr>
            <a:r>
              <a:rPr lang="en-US" sz="1450" dirty="0">
                <a:solidFill>
                  <a:srgbClr val="1F2226"/>
                </a:solidFill>
                <a:latin typeface="Arial" pitchFamily="34" charset="0"/>
                <a:ea typeface="Arial" pitchFamily="34" charset="-122"/>
                <a:cs typeface="Arial" pitchFamily="34" charset="-120"/>
              </a:rPr>
              <a:t>인간과 AI의 산출물은 사후에 분해되지 않는다 — sociomateriality(사회물질성) · imbrication(맞물림)</a:t>
            </a:r>
            <a:endParaRPr lang="en-US" sz="1450" dirty="0"/>
          </a:p>
        </p:txBody>
      </p:sp>
      <p:sp>
        <p:nvSpPr>
          <p:cNvPr id="14" name="Text 12"/>
          <p:cNvSpPr/>
          <p:nvPr/>
        </p:nvSpPr>
        <p:spPr>
          <a:xfrm>
            <a:off x="1536192" y="3621024"/>
            <a:ext cx="9985248" cy="307238"/>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(Orlikowski, 2007; Leonardi, 2011)</a:t>
            </a:r>
            <a:endParaRPr lang="en-US" sz="1050" dirty="0"/>
          </a:p>
        </p:txBody>
      </p:sp>
      <p:sp>
        <p:nvSpPr>
          <p:cNvPr id="15" name="Text 13"/>
          <p:cNvSpPr/>
          <p:nvPr/>
        </p:nvSpPr>
        <p:spPr>
          <a:xfrm>
            <a:off x="1481328" y="4147718"/>
            <a:ext cx="329184" cy="329184"/>
          </a:xfrm>
          <a:prstGeom prst="rect">
            <a:avLst/>
          </a:prstGeom>
          <a:noFill/>
          <a:ln/>
        </p:spPr>
        <p:txBody>
          <a:bodyPr wrap="square" lIns="0" tIns="0" rIns="0" bIns="0" rtlCol="0" anchor="ctr"/>
          <a:lstStyle/>
          <a:p>
            <a:pPr indent="0" marL="0">
              <a:buNone/>
            </a:pPr>
            <a:r>
              <a:rPr lang="en-US" sz="1100" dirty="0">
                <a:solidFill>
                  <a:srgbClr val="70757C"/>
                </a:solidFill>
                <a:latin typeface="Arial" pitchFamily="34" charset="0"/>
                <a:ea typeface="Arial" pitchFamily="34" charset="-122"/>
                <a:cs typeface="Arial" pitchFamily="34" charset="-120"/>
              </a:rPr>
              <a:t>◆</a:t>
            </a:r>
            <a:endParaRPr lang="en-US" sz="1100" dirty="0"/>
          </a:p>
        </p:txBody>
      </p:sp>
      <p:sp>
        <p:nvSpPr>
          <p:cNvPr id="16" name="Text 14"/>
          <p:cNvSpPr/>
          <p:nvPr/>
        </p:nvSpPr>
        <p:spPr>
          <a:xfrm>
            <a:off x="1865376" y="4125773"/>
            <a:ext cx="9656064" cy="373075"/>
          </a:xfrm>
          <a:prstGeom prst="rect">
            <a:avLst/>
          </a:prstGeom>
          <a:noFill/>
          <a:ln/>
        </p:spPr>
        <p:txBody>
          <a:bodyPr wrap="square" lIns="0" tIns="0" rIns="0" bIns="0" rtlCol="0" anchor="ctr"/>
          <a:lstStyle/>
          <a:p>
            <a:pPr indent="0" marL="0">
              <a:buNone/>
            </a:pPr>
            <a:r>
              <a:rPr lang="en-US" sz="1450" dirty="0">
                <a:solidFill>
                  <a:srgbClr val="1F2226"/>
                </a:solidFill>
                <a:latin typeface="Arial" pitchFamily="34" charset="0"/>
                <a:ea typeface="Arial" pitchFamily="34" charset="-122"/>
                <a:cs typeface="Arial" pitchFamily="34" charset="-120"/>
              </a:rPr>
              <a:t>그 결과 「누구의 기여인가」라는 attribution(귀속) 판단이 어려워진다</a:t>
            </a:r>
            <a:endParaRPr lang="en-US" sz="1450" dirty="0"/>
          </a:p>
        </p:txBody>
      </p:sp>
      <p:sp>
        <p:nvSpPr>
          <p:cNvPr id="17" name="Text 15"/>
          <p:cNvSpPr/>
          <p:nvPr/>
        </p:nvSpPr>
        <p:spPr>
          <a:xfrm>
            <a:off x="1865376" y="4498848"/>
            <a:ext cx="9656064" cy="307238"/>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(He et al., 2025 — Human-AI Co-Creation)</a:t>
            </a:r>
            <a:endParaRPr lang="en-US" sz="1050" dirty="0"/>
          </a:p>
        </p:txBody>
      </p:sp>
      <p:sp>
        <p:nvSpPr>
          <p:cNvPr id="18" name="Text 16"/>
          <p:cNvSpPr/>
          <p:nvPr/>
        </p:nvSpPr>
        <p:spPr>
          <a:xfrm>
            <a:off x="1810512" y="5025542"/>
            <a:ext cx="329184" cy="329184"/>
          </a:xfrm>
          <a:prstGeom prst="rect">
            <a:avLst/>
          </a:prstGeom>
          <a:noFill/>
          <a:ln/>
        </p:spPr>
        <p:txBody>
          <a:bodyPr wrap="square" lIns="0" tIns="0" rIns="0" bIns="0" rtlCol="0" anchor="ctr"/>
          <a:lstStyle/>
          <a:p>
            <a:pPr indent="0" marL="0">
              <a:buNone/>
            </a:pPr>
            <a:r>
              <a:rPr lang="en-US" sz="1100" dirty="0">
                <a:solidFill>
                  <a:srgbClr val="70757C"/>
                </a:solidFill>
                <a:latin typeface="Arial" pitchFamily="34" charset="0"/>
                <a:ea typeface="Arial" pitchFamily="34" charset="-122"/>
                <a:cs typeface="Arial" pitchFamily="34" charset="-120"/>
              </a:rPr>
              <a:t>◆</a:t>
            </a:r>
            <a:endParaRPr lang="en-US" sz="1100" dirty="0"/>
          </a:p>
        </p:txBody>
      </p:sp>
      <p:sp>
        <p:nvSpPr>
          <p:cNvPr id="19" name="Text 17"/>
          <p:cNvSpPr/>
          <p:nvPr/>
        </p:nvSpPr>
        <p:spPr>
          <a:xfrm>
            <a:off x="2194560" y="5003597"/>
            <a:ext cx="9326880" cy="373075"/>
          </a:xfrm>
          <a:prstGeom prst="rect">
            <a:avLst/>
          </a:prstGeom>
          <a:noFill/>
          <a:ln/>
        </p:spPr>
        <p:txBody>
          <a:bodyPr wrap="square" lIns="0" tIns="0" rIns="0" bIns="0" rtlCol="0" anchor="ctr"/>
          <a:lstStyle/>
          <a:p>
            <a:pPr indent="0" marL="0">
              <a:buNone/>
            </a:pPr>
            <a:r>
              <a:rPr lang="en-US" sz="1450" dirty="0">
                <a:solidFill>
                  <a:srgbClr val="1F2226"/>
                </a:solidFill>
                <a:latin typeface="Arial" pitchFamily="34" charset="0"/>
                <a:ea typeface="Arial" pitchFamily="34" charset="-122"/>
                <a:cs typeface="Arial" pitchFamily="34" charset="-120"/>
              </a:rPr>
              <a:t>성과평가는 개인 기여의 식별을 전제로 작동한다</a:t>
            </a:r>
            <a:endParaRPr lang="en-US" sz="1450" dirty="0"/>
          </a:p>
        </p:txBody>
      </p:sp>
      <p:sp>
        <p:nvSpPr>
          <p:cNvPr id="20" name="Text 18"/>
          <p:cNvSpPr/>
          <p:nvPr/>
        </p:nvSpPr>
        <p:spPr>
          <a:xfrm>
            <a:off x="2194560" y="5376672"/>
            <a:ext cx="9326880" cy="307238"/>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(Niehoff &amp; Moorman, 1993)</a:t>
            </a:r>
            <a:endParaRPr lang="en-US" sz="1050" dirty="0"/>
          </a:p>
        </p:txBody>
      </p:sp>
      <p:sp>
        <p:nvSpPr>
          <p:cNvPr id="21" name="Text 19"/>
          <p:cNvSpPr/>
          <p:nvPr/>
        </p:nvSpPr>
        <p:spPr>
          <a:xfrm>
            <a:off x="2139696" y="5903366"/>
            <a:ext cx="329184" cy="329184"/>
          </a:xfrm>
          <a:prstGeom prst="rect">
            <a:avLst/>
          </a:prstGeom>
          <a:noFill/>
          <a:ln/>
        </p:spPr>
        <p:txBody>
          <a:bodyPr wrap="square" lIns="0" tIns="0" rIns="0" bIns="0" rtlCol="0" anchor="ctr"/>
          <a:lstStyle/>
          <a:p>
            <a:pPr indent="0" marL="0">
              <a:buNone/>
            </a:pPr>
            <a:r>
              <a:rPr lang="en-US" sz="1100" dirty="0">
                <a:solidFill>
                  <a:srgbClr val="70757C"/>
                </a:solidFill>
                <a:latin typeface="Arial" pitchFamily="34" charset="0"/>
                <a:ea typeface="Arial" pitchFamily="34" charset="-122"/>
                <a:cs typeface="Arial" pitchFamily="34" charset="-120"/>
              </a:rPr>
              <a:t>◆</a:t>
            </a:r>
            <a:endParaRPr lang="en-US" sz="1100" dirty="0"/>
          </a:p>
        </p:txBody>
      </p:sp>
      <p:sp>
        <p:nvSpPr>
          <p:cNvPr id="22" name="Text 20"/>
          <p:cNvSpPr/>
          <p:nvPr/>
        </p:nvSpPr>
        <p:spPr>
          <a:xfrm>
            <a:off x="2523744" y="5881421"/>
            <a:ext cx="8997696" cy="373075"/>
          </a:xfrm>
          <a:prstGeom prst="rect">
            <a:avLst/>
          </a:prstGeom>
          <a:noFill/>
          <a:ln/>
        </p:spPr>
        <p:txBody>
          <a:bodyPr wrap="square" lIns="0" tIns="0" rIns="0" bIns="0" rtlCol="0" anchor="ctr"/>
          <a:lstStyle/>
          <a:p>
            <a:pPr indent="0" marL="0">
              <a:buNone/>
            </a:pPr>
            <a:r>
              <a:rPr lang="en-US" sz="1450" dirty="0">
                <a:solidFill>
                  <a:srgbClr val="1F2226"/>
                </a:solidFill>
                <a:latin typeface="Arial" pitchFamily="34" charset="0"/>
                <a:ea typeface="Arial" pitchFamily="34" charset="-122"/>
                <a:cs typeface="Arial" pitchFamily="34" charset="-120"/>
              </a:rPr>
              <a:t>절차공정성은 consistency(일관성) · accuracy(정확성) 규칙의 충족으로 판단된다</a:t>
            </a:r>
            <a:endParaRPr lang="en-US" sz="1450" dirty="0"/>
          </a:p>
        </p:txBody>
      </p:sp>
      <p:sp>
        <p:nvSpPr>
          <p:cNvPr id="23" name="Text 21"/>
          <p:cNvSpPr/>
          <p:nvPr/>
        </p:nvSpPr>
        <p:spPr>
          <a:xfrm>
            <a:off x="2523744" y="6254496"/>
            <a:ext cx="8997696" cy="307238"/>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(Leventhal, 1980; Colquitt, 2001)</a:t>
            </a:r>
            <a:endParaRPr lang="en-US" sz="1050" dirty="0"/>
          </a:p>
        </p:txBody>
      </p:sp>
      <p:sp>
        <p:nvSpPr>
          <p:cNvPr id="24" name="Text 22"/>
          <p:cNvSpPr/>
          <p:nvPr/>
        </p:nvSpPr>
        <p:spPr>
          <a:xfrm>
            <a:off x="2468880" y="6781190"/>
            <a:ext cx="329184" cy="329184"/>
          </a:xfrm>
          <a:prstGeom prst="rect">
            <a:avLst/>
          </a:prstGeom>
          <a:noFill/>
          <a:ln/>
        </p:spPr>
        <p:txBody>
          <a:bodyPr wrap="square" lIns="0" tIns="0" rIns="0" bIns="0" rtlCol="0" anchor="ctr"/>
          <a:lstStyle/>
          <a:p>
            <a:pPr indent="0" marL="0">
              <a:buNone/>
            </a:pPr>
            <a:r>
              <a:rPr lang="en-US" sz="1100" dirty="0">
                <a:solidFill>
                  <a:srgbClr val="1F2226"/>
                </a:solidFill>
                <a:latin typeface="Arial" pitchFamily="34" charset="0"/>
                <a:ea typeface="Arial" pitchFamily="34" charset="-122"/>
                <a:cs typeface="Arial" pitchFamily="34" charset="-120"/>
              </a:rPr>
              <a:t>◆</a:t>
            </a:r>
            <a:endParaRPr lang="en-US" sz="1100" dirty="0"/>
          </a:p>
        </p:txBody>
      </p:sp>
      <p:sp>
        <p:nvSpPr>
          <p:cNvPr id="25" name="Text 23"/>
          <p:cNvSpPr/>
          <p:nvPr/>
        </p:nvSpPr>
        <p:spPr>
          <a:xfrm>
            <a:off x="2852928" y="6759245"/>
            <a:ext cx="8668512" cy="373075"/>
          </a:xfrm>
          <a:prstGeom prst="rect">
            <a:avLst/>
          </a:prstGeom>
          <a:noFill/>
          <a:ln/>
        </p:spPr>
        <p:txBody>
          <a:bodyPr wrap="square" lIns="0" tIns="0" rIns="0" bIns="0" rtlCol="0" anchor="ctr"/>
          <a:lstStyle/>
          <a:p>
            <a:pPr indent="0" marL="0">
              <a:buNone/>
            </a:pPr>
            <a:r>
              <a:rPr lang="en-US" sz="1450" b="1" dirty="0">
                <a:solidFill>
                  <a:srgbClr val="1F2226"/>
                </a:solidFill>
                <a:latin typeface="Arial" pitchFamily="34" charset="0"/>
                <a:ea typeface="Arial" pitchFamily="34" charset="-122"/>
                <a:cs typeface="Arial" pitchFamily="34" charset="-120"/>
              </a:rPr>
              <a:t>그런데 기여를 식별하기 어려워지면, 그 규칙이 지켜졌는지 판단할 근거는 약해진다</a:t>
            </a:r>
            <a:endParaRPr lang="en-US" sz="1450" dirty="0"/>
          </a:p>
        </p:txBody>
      </p:sp>
      <p:sp>
        <p:nvSpPr>
          <p:cNvPr id="26" name="Text 24"/>
          <p:cNvSpPr/>
          <p:nvPr/>
        </p:nvSpPr>
        <p:spPr>
          <a:xfrm>
            <a:off x="2852928" y="7132320"/>
            <a:ext cx="8668512" cy="307238"/>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(본 연구의 출발점)</a:t>
            </a:r>
            <a:endParaRPr lang="en-US" sz="1050" dirty="0"/>
          </a:p>
        </p:txBody>
      </p:sp>
      <p:sp>
        <p:nvSpPr>
          <p:cNvPr id="27" name="Shape 25"/>
          <p:cNvSpPr/>
          <p:nvPr/>
        </p:nvSpPr>
        <p:spPr>
          <a:xfrm>
            <a:off x="2852928" y="7132320"/>
            <a:ext cx="7022592" cy="0"/>
          </a:xfrm>
          <a:prstGeom prst="line">
            <a:avLst/>
          </a:prstGeom>
          <a:noFill/>
          <a:ln w="15875">
            <a:solidFill>
              <a:srgbClr val="1F2226"/>
            </a:solidFill>
            <a:prstDash val="solid"/>
          </a:ln>
        </p:spPr>
      </p:sp>
      <p:sp>
        <p:nvSpPr>
          <p:cNvPr id="28" name="Text 26"/>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01 / 07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02.  문제 제기</a:t>
            </a:r>
            <a:endParaRPr lang="en-US" sz="2600" dirty="0"/>
          </a:p>
        </p:txBody>
      </p:sp>
      <p:sp>
        <p:nvSpPr>
          <p:cNvPr id="9" name="Shape 7"/>
          <p:cNvSpPr/>
          <p:nvPr/>
        </p:nvSpPr>
        <p:spPr>
          <a:xfrm>
            <a:off x="768096" y="2282342"/>
            <a:ext cx="13112496" cy="811987"/>
          </a:xfrm>
          <a:prstGeom prst="rect">
            <a:avLst/>
          </a:prstGeom>
          <a:solidFill>
            <a:srgbClr val="2A2D31"/>
          </a:solidFill>
          <a:ln/>
        </p:spPr>
      </p:sp>
      <p:sp>
        <p:nvSpPr>
          <p:cNvPr id="10" name="Text 8"/>
          <p:cNvSpPr/>
          <p:nvPr/>
        </p:nvSpPr>
        <p:spPr>
          <a:xfrm>
            <a:off x="1097280" y="2282342"/>
            <a:ext cx="12508992" cy="811987"/>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평가받는 사람은 자신의 노력이 어떤 평가로 이어질지 가늠할 수 없게 된다</a:t>
            </a:r>
            <a:endParaRPr lang="en-US" sz="1800" dirty="0"/>
          </a:p>
        </p:txBody>
      </p:sp>
      <p:sp>
        <p:nvSpPr>
          <p:cNvPr id="11" name="Text 9"/>
          <p:cNvSpPr/>
          <p:nvPr/>
        </p:nvSpPr>
        <p:spPr>
          <a:xfrm>
            <a:off x="768096" y="3291840"/>
            <a:ext cx="8778240"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선행연구 지형도 — 세 조건을 동시에 충족하는 연구가 있는가 】</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68096" y="3555187"/>
          <a:ext cx="13112496" cy="914400"/>
        </p:xfrm>
        <a:graphic>
          <a:graphicData uri="http://schemas.openxmlformats.org/drawingml/2006/table">
            <a:tbl>
              <a:tblPr/>
              <a:tblGrid>
                <a:gridCol w="3895344"/>
                <a:gridCol w="3072384"/>
                <a:gridCol w="2852928"/>
                <a:gridCol w="3291840"/>
              </a:tblGrid>
              <a:tr h="570586">
                <a:tc>
                  <a:txBody>
                    <a:bodyPr/>
                    <a:lstStyle/>
                    <a:p>
                      <a:pPr indent="0" marL="0">
                        <a:buNone/>
                      </a:pPr>
                      <a:r>
                        <a:rPr lang="en-US" sz="1100" b="1" dirty="0">
                          <a:solidFill>
                            <a:srgbClr val="1F2226"/>
                          </a:solidFill>
                          <a:latin typeface="Arial" pitchFamily="34" charset="0"/>
                          <a:ea typeface="Arial" pitchFamily="34" charset="-122"/>
                          <a:cs typeface="Arial" pitchFamily="34" charset="-120"/>
                        </a:rPr>
                        <a:t>선행연구 갈래</a:t>
                      </a:r>
                      <a:endParaRPr lang="en-US" sz="110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2226"/>
                          </a:solidFill>
                          <a:latin typeface="Arial" pitchFamily="34" charset="0"/>
                          <a:ea typeface="Arial" pitchFamily="34" charset="-122"/>
                          <a:cs typeface="Arial" pitchFamily="34" charset="-120"/>
                        </a:rPr>
                        <a:t>불확실성이</a:t>
                      </a:r>
                      <a:endParaRPr lang="en-US" sz="1100" dirty="0">
                        <a:latin typeface="Arial" charset="0"/>
                        <a:ea typeface="Arial" charset="0"/>
                        <a:cs typeface="Arial" charset="0"/>
                      </a:endParaRPr>
                    </a:p>
                    <a:p>
                      <a:pPr algn="ctr" indent="0" marL="0">
                        <a:buNone/>
                      </a:pPr>
                      <a:r>
                        <a:rPr lang="en-US" sz="1100" b="1" dirty="0">
                          <a:solidFill>
                            <a:srgbClr val="1F2226"/>
                          </a:solidFill>
                          <a:latin typeface="Arial" pitchFamily="34" charset="0"/>
                          <a:ea typeface="Arial" pitchFamily="34" charset="-122"/>
                          <a:cs typeface="Arial" pitchFamily="34" charset="-120"/>
                        </a:rPr>
                        <a:t>조직 안에서 발생하는가</a:t>
                      </a:r>
                      <a:endParaRPr lang="en-US" sz="110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2226"/>
                          </a:solidFill>
                          <a:latin typeface="Arial" pitchFamily="34" charset="0"/>
                          <a:ea typeface="Arial" pitchFamily="34" charset="-122"/>
                          <a:cs typeface="Arial" pitchFamily="34" charset="-120"/>
                        </a:rPr>
                        <a:t>매개 경로를</a:t>
                      </a:r>
                      <a:endParaRPr lang="en-US" sz="1100" dirty="0">
                        <a:latin typeface="Arial" charset="0"/>
                        <a:ea typeface="Arial" charset="0"/>
                        <a:cs typeface="Arial" charset="0"/>
                      </a:endParaRPr>
                    </a:p>
                    <a:p>
                      <a:pPr algn="ctr" indent="0" marL="0">
                        <a:buNone/>
                      </a:pPr>
                      <a:r>
                        <a:rPr lang="en-US" sz="1100" b="1" dirty="0">
                          <a:solidFill>
                            <a:srgbClr val="1F2226"/>
                          </a:solidFill>
                          <a:latin typeface="Arial" pitchFamily="34" charset="0"/>
                          <a:ea typeface="Arial" pitchFamily="34" charset="-122"/>
                          <a:cs typeface="Arial" pitchFamily="34" charset="-120"/>
                        </a:rPr>
                        <a:t>검증하는가</a:t>
                      </a:r>
                      <a:endParaRPr lang="en-US" sz="110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2226"/>
                          </a:solidFill>
                          <a:latin typeface="Arial" pitchFamily="34" charset="0"/>
                          <a:ea typeface="Arial" pitchFamily="34" charset="-122"/>
                          <a:cs typeface="Arial" pitchFamily="34" charset="-120"/>
                        </a:rPr>
                        <a:t>절차공정성 지각이</a:t>
                      </a:r>
                      <a:endParaRPr lang="en-US" sz="1100" dirty="0">
                        <a:latin typeface="Arial" charset="0"/>
                        <a:ea typeface="Arial" charset="0"/>
                        <a:cs typeface="Arial" charset="0"/>
                      </a:endParaRPr>
                    </a:p>
                    <a:p>
                      <a:pPr algn="ctr" indent="0" marL="0">
                        <a:buNone/>
                      </a:pPr>
                      <a:r>
                        <a:rPr lang="en-US" sz="1100" b="1" dirty="0">
                          <a:solidFill>
                            <a:srgbClr val="1F2226"/>
                          </a:solidFill>
                          <a:latin typeface="Arial" pitchFamily="34" charset="0"/>
                          <a:ea typeface="Arial" pitchFamily="34" charset="-122"/>
                          <a:cs typeface="Arial" pitchFamily="34" charset="-120"/>
                        </a:rPr>
                        <a:t>종속변수인가</a:t>
                      </a:r>
                      <a:endParaRPr lang="en-US" sz="110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70586">
                <a:tc>
                  <a:txBody>
                    <a:bodyPr/>
                    <a:lstStyle/>
                    <a:p>
                      <a:pPr indent="0" marL="0">
                        <a:buNone/>
                      </a:pPr>
                      <a:r>
                        <a:rPr lang="en-US" sz="1100" b="1" dirty="0">
                          <a:solidFill>
                            <a:srgbClr val="1F2226"/>
                          </a:solidFill>
                          <a:latin typeface="Arial" pitchFamily="34" charset="0"/>
                          <a:ea typeface="Arial" pitchFamily="34" charset="-122"/>
                          <a:cs typeface="Arial" pitchFamily="34" charset="-120"/>
                        </a:rPr>
                        <a:t>인간-AI 귀속 연구
</a:t>
                      </a:r>
                      <a:pPr indent="0" marL="0">
                        <a:buNone/>
                      </a:pPr>
                      <a:r>
                        <a:rPr lang="en-US" sz="950" dirty="0">
                          <a:solidFill>
                            <a:srgbClr val="70757C"/>
                          </a:solidFill>
                          <a:latin typeface="Arial" pitchFamily="34" charset="0"/>
                          <a:ea typeface="Arial" pitchFamily="34" charset="-122"/>
                          <a:cs typeface="Arial" pitchFamily="34" charset="-120"/>
                        </a:rPr>
                        <a:t>He et al. (2025) · Orlikowski (2007) · Leonardi (2011)</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0757C"/>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귀속 모호성을 다룬다</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226"/>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배분 판단에 머문다</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226"/>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공정성 지각을 재지 않음</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70586">
                <a:tc>
                  <a:txBody>
                    <a:bodyPr/>
                    <a:lstStyle/>
                    <a:p>
                      <a:pPr indent="0" marL="0">
                        <a:buNone/>
                      </a:pPr>
                      <a:r>
                        <a:rPr lang="en-US" sz="1100" b="1" dirty="0">
                          <a:solidFill>
                            <a:srgbClr val="1F2226"/>
                          </a:solidFill>
                          <a:latin typeface="Arial" pitchFamily="34" charset="0"/>
                          <a:ea typeface="Arial" pitchFamily="34" charset="-122"/>
                          <a:cs typeface="Arial" pitchFamily="34" charset="-120"/>
                        </a:rPr>
                        <a:t>불확실성 관리 이론 실증 5편
</a:t>
                      </a:r>
                      <a:pPr indent="0" marL="0">
                        <a:buNone/>
                      </a:pPr>
                      <a:r>
                        <a:rPr lang="en-US" sz="950" dirty="0">
                          <a:solidFill>
                            <a:srgbClr val="70757C"/>
                          </a:solidFill>
                          <a:latin typeface="Arial" pitchFamily="34" charset="0"/>
                          <a:ea typeface="Arial" pitchFamily="34" charset="-122"/>
                          <a:cs typeface="Arial" pitchFamily="34" charset="-120"/>
                        </a:rPr>
                        <a:t>van den Bos (2001) 외 — Appendix G</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226"/>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조작이거나 외부 상황</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226"/>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조절로 배치한다</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0757C"/>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공정성 판단이 결과</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70586">
                <a:tc>
                  <a:txBody>
                    <a:bodyPr/>
                    <a:lstStyle/>
                    <a:p>
                      <a:pPr indent="0" marL="0">
                        <a:buNone/>
                      </a:pPr>
                      <a:r>
                        <a:rPr lang="en-US" sz="1100" b="1" dirty="0">
                          <a:solidFill>
                            <a:srgbClr val="1F2226"/>
                          </a:solidFill>
                          <a:latin typeface="Arial" pitchFamily="34" charset="0"/>
                          <a:ea typeface="Arial" pitchFamily="34" charset="-122"/>
                          <a:cs typeface="Arial" pitchFamily="34" charset="-120"/>
                        </a:rPr>
                        <a:t>성과평가 공정성 연구
</a:t>
                      </a:r>
                      <a:pPr indent="0" marL="0">
                        <a:buNone/>
                      </a:pPr>
                      <a:r>
                        <a:rPr lang="en-US" sz="950" dirty="0">
                          <a:solidFill>
                            <a:srgbClr val="70757C"/>
                          </a:solidFill>
                          <a:latin typeface="Arial" pitchFamily="34" charset="0"/>
                          <a:ea typeface="Arial" pitchFamily="34" charset="-122"/>
                          <a:cs typeface="Arial" pitchFamily="34" charset="-120"/>
                        </a:rPr>
                        <a:t>Hartmann &amp; Slapničar (2012)</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0757C"/>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task uncertainty · 직무의 외생 특성</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226"/>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매개를 검증하지 않는다</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0757C"/>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절차공정성이 종속변수</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70586">
                <a:tc>
                  <a:txBody>
                    <a:bodyPr/>
                    <a:lstStyle/>
                    <a:p>
                      <a:pPr indent="0" marL="0">
                        <a:buNone/>
                      </a:pPr>
                      <a:r>
                        <a:rPr lang="en-US" sz="1300" b="1" dirty="0">
                          <a:solidFill>
                            <a:srgbClr val="1F2226"/>
                          </a:solidFill>
                          <a:latin typeface="Arial" pitchFamily="34" charset="0"/>
                          <a:ea typeface="Arial" pitchFamily="34" charset="-122"/>
                          <a:cs typeface="Arial" pitchFamily="34" charset="-120"/>
                        </a:rPr>
                        <a:t>본 연구</a:t>
                      </a:r>
                      <a:endParaRPr lang="en-US" sz="130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0757C"/>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귀속 모호성이 유발한다</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0757C"/>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조작 → 매개 → 결과</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70757C"/>
                          </a:solidFill>
                          <a:latin typeface="Arial" pitchFamily="34" charset="0"/>
                          <a:ea typeface="Arial" pitchFamily="34" charset="-122"/>
                          <a:cs typeface="Arial" pitchFamily="34" charset="-120"/>
                        </a:rPr>
                        <a:t>○   </a:t>
                      </a:r>
                      <a:pPr algn="ctr" indent="0" marL="0">
                        <a:buNone/>
                      </a:pPr>
                      <a:r>
                        <a:rPr lang="en-US" sz="950" dirty="0">
                          <a:solidFill>
                            <a:srgbClr val="70757C"/>
                          </a:solidFill>
                          <a:latin typeface="Arial" pitchFamily="34" charset="0"/>
                          <a:ea typeface="Arial" pitchFamily="34" charset="-122"/>
                          <a:cs typeface="Arial" pitchFamily="34" charset="-120"/>
                        </a:rPr>
                        <a:t>절차공정성 지각</a:t>
                      </a:r>
                      <a:endParaRPr lang="en-US" sz="1050" dirty="0">
                        <a:latin typeface="Arial" charset="0"/>
                        <a:ea typeface="Arial" charset="0"/>
                        <a:cs typeface="Arial" charset="0"/>
                      </a:endParaRPr>
                    </a:p>
                  </a:txBody>
                  <a:tcPr marL="76200" marR="762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bl>
          </a:graphicData>
        </a:graphic>
      </p:graphicFrame>
      <p:sp>
        <p:nvSpPr>
          <p:cNvPr id="13" name="Shape 10"/>
          <p:cNvSpPr/>
          <p:nvPr/>
        </p:nvSpPr>
        <p:spPr>
          <a:xfrm>
            <a:off x="768096" y="6693408"/>
            <a:ext cx="13112496" cy="768096"/>
          </a:xfrm>
          <a:prstGeom prst="rect">
            <a:avLst/>
          </a:prstGeom>
          <a:solidFill>
            <a:srgbClr val="EDEEF0"/>
          </a:solidFill>
          <a:ln w="12700">
            <a:solidFill>
              <a:srgbClr val="DCDDE0"/>
            </a:solidFill>
            <a:prstDash val="solid"/>
          </a:ln>
        </p:spPr>
      </p:sp>
      <p:sp>
        <p:nvSpPr>
          <p:cNvPr id="14" name="Text 11"/>
          <p:cNvSpPr/>
          <p:nvPr/>
        </p:nvSpPr>
        <p:spPr>
          <a:xfrm>
            <a:off x="1009498" y="6693408"/>
            <a:ext cx="12618720" cy="768096"/>
          </a:xfrm>
          <a:prstGeom prst="rect">
            <a:avLst/>
          </a:prstGeom>
          <a:noFill/>
          <a:ln/>
        </p:spPr>
        <p:txBody>
          <a:bodyPr wrap="square" lIns="0" tIns="0" rIns="0" bIns="0" rtlCol="0" anchor="ctr"/>
          <a:lstStyle/>
          <a:p>
            <a:pPr indent="0" marL="0">
              <a:lnSpc>
                <a:spcPts val="1560"/>
              </a:lnSpc>
              <a:buNone/>
            </a:pPr>
            <a:r>
              <a:rPr lang="en-US" sz="950" b="1" dirty="0">
                <a:solidFill>
                  <a:srgbClr val="1F2226"/>
                </a:solidFill>
                <a:latin typeface="Arial" pitchFamily="34" charset="0"/>
                <a:ea typeface="Arial" pitchFamily="34" charset="-122"/>
                <a:cs typeface="Arial" pitchFamily="34" charset="-120"/>
              </a:rPr>
              <a:t>원문 확인   </a:t>
            </a:r>
            <a:pPr indent="0" marL="0">
              <a:lnSpc>
                <a:spcPts val="1560"/>
              </a:lnSpc>
              <a:buNone/>
            </a:pPr>
            <a:r>
              <a:rPr lang="en-US" sz="950" dirty="0">
                <a:solidFill>
                  <a:srgbClr val="1F2226"/>
                </a:solidFill>
                <a:latin typeface="Arial" pitchFamily="34" charset="0"/>
                <a:ea typeface="Arial" pitchFamily="34" charset="-122"/>
                <a:cs typeface="Arial" pitchFamily="34" charset="-120"/>
              </a:rPr>
              <a:t>He et al.(2025)은 </a:t>
            </a:r>
            <a:pPr indent="0" marL="0">
              <a:lnSpc>
                <a:spcPts val="1560"/>
              </a:lnSpc>
              <a:buNone/>
            </a:pPr>
            <a:r>
              <a:rPr lang="en-US" sz="950" i="1" dirty="0">
                <a:solidFill>
                  <a:srgbClr val="1F2226"/>
                </a:solidFill>
                <a:latin typeface="Arial" pitchFamily="34" charset="0"/>
                <a:ea typeface="Arial" pitchFamily="34" charset="-122"/>
                <a:cs typeface="Arial" pitchFamily="34" charset="-120"/>
              </a:rPr>
              <a:t>“the line between AI and human ownership over co-created work becomes blurrier”</a:t>
            </a:r>
            <a:pPr indent="0" marL="0">
              <a:lnSpc>
                <a:spcPts val="1560"/>
              </a:lnSpc>
              <a:buNone/>
            </a:pPr>
            <a:r>
              <a:rPr lang="en-US" sz="950" dirty="0">
                <a:solidFill>
                  <a:srgbClr val="1F2226"/>
                </a:solidFill>
                <a:latin typeface="Arial" pitchFamily="34" charset="0"/>
                <a:ea typeface="Arial" pitchFamily="34" charset="-122"/>
                <a:cs typeface="Arial" pitchFamily="34" charset="-120"/>
              </a:rPr>
              <a:t>(p.2)로 문제를 열지만, 다룬 것은 창작물의 크레딧 배분이다
</a:t>
            </a:r>
            <a:pPr indent="0" marL="0">
              <a:lnSpc>
                <a:spcPts val="1560"/>
              </a:lnSpc>
              <a:buNone/>
            </a:pPr>
            <a:r>
              <a:rPr lang="en-US" sz="950" dirty="0">
                <a:solidFill>
                  <a:srgbClr val="1F2226"/>
                </a:solidFill>
                <a:latin typeface="Arial" pitchFamily="34" charset="0"/>
                <a:ea typeface="Arial" pitchFamily="34" charset="-122"/>
                <a:cs typeface="Arial" pitchFamily="34" charset="-120"/>
              </a:rPr>
              <a:t>                 Hartmann &amp; Slapničar(2012)는 정의 효과가 </a:t>
            </a:r>
            <a:pPr indent="0" marL="0">
              <a:lnSpc>
                <a:spcPts val="1560"/>
              </a:lnSpc>
              <a:buNone/>
            </a:pPr>
            <a:r>
              <a:rPr lang="en-US" sz="950" i="1" dirty="0">
                <a:solidFill>
                  <a:srgbClr val="1F2226"/>
                </a:solidFill>
                <a:latin typeface="Arial" pitchFamily="34" charset="0"/>
                <a:ea typeface="Arial" pitchFamily="34" charset="-122"/>
                <a:cs typeface="Arial" pitchFamily="34" charset="-120"/>
              </a:rPr>
              <a:t>“conditional on … task uncertainty”</a:t>
            </a:r>
            <a:pPr indent="0" marL="0">
              <a:lnSpc>
                <a:spcPts val="1560"/>
              </a:lnSpc>
              <a:buNone/>
            </a:pPr>
            <a:r>
              <a:rPr lang="en-US" sz="950" dirty="0">
                <a:solidFill>
                  <a:srgbClr val="1F2226"/>
                </a:solidFill>
                <a:latin typeface="Arial" pitchFamily="34" charset="0"/>
                <a:ea typeface="Arial" pitchFamily="34" charset="-122"/>
                <a:cs typeface="Arial" pitchFamily="34" charset="-120"/>
              </a:rPr>
              <a:t>라고 적는다 — 조절이지 매개가 아니다</a:t>
            </a:r>
            <a:endParaRPr lang="en-US" sz="950" dirty="0"/>
          </a:p>
        </p:txBody>
      </p:sp>
      <p:sp>
        <p:nvSpPr>
          <p:cNvPr id="15" name="Shape 12"/>
          <p:cNvSpPr/>
          <p:nvPr/>
        </p:nvSpPr>
        <p:spPr>
          <a:xfrm rot="5400000">
            <a:off x="811987" y="7659014"/>
            <a:ext cx="241402" cy="208483"/>
          </a:xfrm>
          <a:prstGeom prst="triangle">
            <a:avLst/>
          </a:prstGeom>
          <a:solidFill>
            <a:srgbClr val="1F2226"/>
          </a:solidFill>
          <a:ln/>
        </p:spPr>
      </p:sp>
      <p:sp>
        <p:nvSpPr>
          <p:cNvPr id="16" name="Text 13"/>
          <p:cNvSpPr/>
          <p:nvPr/>
        </p:nvSpPr>
        <p:spPr>
          <a:xfrm>
            <a:off x="1152144" y="7571232"/>
            <a:ext cx="8778240" cy="351130"/>
          </a:xfrm>
          <a:prstGeom prst="rect">
            <a:avLst/>
          </a:prstGeom>
          <a:noFill/>
          <a:ln/>
        </p:spPr>
        <p:txBody>
          <a:bodyPr wrap="square" lIns="0" tIns="0" rIns="0" bIns="0" rtlCol="0" anchor="ctr"/>
          <a:lstStyle/>
          <a:p>
            <a:pPr indent="0" marL="0">
              <a:buNone/>
            </a:pPr>
            <a:r>
              <a:rPr lang="en-US" sz="1350" b="1" dirty="0">
                <a:solidFill>
                  <a:srgbClr val="2A2D31"/>
                </a:solidFill>
                <a:latin typeface="Arial" pitchFamily="34" charset="0"/>
                <a:ea typeface="Arial" pitchFamily="34" charset="-122"/>
                <a:cs typeface="Arial" pitchFamily="34" charset="-120"/>
              </a:rPr>
              <a:t>세 조건을 동시에 충족하는 연구는 확인되지 않는다 — 본 연구가 다루는 공백이다</a:t>
            </a:r>
            <a:endParaRPr lang="en-US" sz="1350" dirty="0"/>
          </a:p>
        </p:txBody>
      </p:sp>
      <p:sp>
        <p:nvSpPr>
          <p:cNvPr id="17" name="Text 14"/>
          <p:cNvSpPr/>
          <p:nvPr/>
        </p:nvSpPr>
        <p:spPr>
          <a:xfrm>
            <a:off x="9765792" y="7571232"/>
            <a:ext cx="2633472"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 = 부분적으로 해당</a:t>
            </a:r>
            <a:endParaRPr lang="en-US" sz="1000" dirty="0"/>
          </a:p>
        </p:txBody>
      </p:sp>
      <p:sp>
        <p:nvSpPr>
          <p:cNvPr id="18" name="Text 15"/>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02 / 07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03.  연구 목적</a:t>
            </a:r>
            <a:endParaRPr lang="en-US" sz="2600" dirty="0"/>
          </a:p>
        </p:txBody>
      </p:sp>
      <p:sp>
        <p:nvSpPr>
          <p:cNvPr id="9" name="Text 7"/>
          <p:cNvSpPr/>
          <p:nvPr/>
        </p:nvSpPr>
        <p:spPr>
          <a:xfrm>
            <a:off x="790042" y="2348179"/>
            <a:ext cx="13057632" cy="373075"/>
          </a:xfrm>
          <a:prstGeom prst="rect">
            <a:avLst/>
          </a:prstGeom>
          <a:noFill/>
          <a:ln/>
        </p:spPr>
        <p:txBody>
          <a:bodyPr wrap="square" lIns="0" tIns="0" rIns="0" bIns="0" rtlCol="0" anchor="ctr"/>
          <a:lstStyle/>
          <a:p>
            <a:pPr indent="0" marL="0">
              <a:buNone/>
            </a:pPr>
            <a:r>
              <a:rPr lang="en-US" sz="1500" b="1" dirty="0">
                <a:solidFill>
                  <a:srgbClr val="2A2D31"/>
                </a:solidFill>
                <a:latin typeface="Arial" pitchFamily="34" charset="0"/>
                <a:ea typeface="Arial" pitchFamily="34" charset="-122"/>
                <a:cs typeface="Arial" pitchFamily="34" charset="-120"/>
              </a:rPr>
              <a:t>→  귀속 모호성이 평가받는 사람의 공정성 지각에 이르는 경로를, 그 사이의 심리적 기제와 함께 규명한다</a:t>
            </a:r>
            <a:endParaRPr lang="en-US" sz="1500" dirty="0"/>
          </a:p>
        </p:txBody>
      </p:sp>
      <p:sp>
        <p:nvSpPr>
          <p:cNvPr id="10" name="Shape 8"/>
          <p:cNvSpPr/>
          <p:nvPr/>
        </p:nvSpPr>
        <p:spPr>
          <a:xfrm>
            <a:off x="768096" y="2918765"/>
            <a:ext cx="13112496" cy="943661"/>
          </a:xfrm>
          <a:prstGeom prst="rect">
            <a:avLst/>
          </a:prstGeom>
          <a:solidFill>
            <a:srgbClr val="F7F8F9"/>
          </a:solidFill>
          <a:ln w="12700">
            <a:solidFill>
              <a:srgbClr val="C9CDD3"/>
            </a:solidFill>
            <a:prstDash val="solid"/>
          </a:ln>
        </p:spPr>
      </p:sp>
      <p:sp>
        <p:nvSpPr>
          <p:cNvPr id="11" name="Text 9"/>
          <p:cNvSpPr/>
          <p:nvPr/>
        </p:nvSpPr>
        <p:spPr>
          <a:xfrm>
            <a:off x="1097280" y="2918765"/>
            <a:ext cx="1097280" cy="943661"/>
          </a:xfrm>
          <a:prstGeom prst="rect">
            <a:avLst/>
          </a:prstGeom>
          <a:noFill/>
          <a:ln/>
        </p:spPr>
        <p:txBody>
          <a:bodyPr wrap="square" lIns="0" tIns="0" rIns="0" bIns="0" rtlCol="0" anchor="ctr"/>
          <a:lstStyle/>
          <a:p>
            <a:pPr indent="0" marL="0">
              <a:buNone/>
            </a:pPr>
            <a:r>
              <a:rPr lang="en-US" sz="1450" b="1" dirty="0">
                <a:solidFill>
                  <a:srgbClr val="1F2226"/>
                </a:solidFill>
                <a:latin typeface="Arial" pitchFamily="34" charset="0"/>
                <a:ea typeface="Arial" pitchFamily="34" charset="-122"/>
                <a:cs typeface="Arial" pitchFamily="34" charset="-120"/>
              </a:rPr>
              <a:t>첫째</a:t>
            </a:r>
            <a:endParaRPr lang="en-US" sz="1450" dirty="0"/>
          </a:p>
        </p:txBody>
      </p:sp>
      <p:sp>
        <p:nvSpPr>
          <p:cNvPr id="12" name="Text 10"/>
          <p:cNvSpPr/>
          <p:nvPr/>
        </p:nvSpPr>
        <p:spPr>
          <a:xfrm>
            <a:off x="2249424" y="3072384"/>
            <a:ext cx="3621024" cy="329184"/>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탐색에서 확인으로</a:t>
            </a:r>
            <a:endParaRPr lang="en-US" sz="1350" dirty="0"/>
          </a:p>
        </p:txBody>
      </p:sp>
      <p:sp>
        <p:nvSpPr>
          <p:cNvPr id="13" name="Text 11"/>
          <p:cNvSpPr/>
          <p:nvPr/>
        </p:nvSpPr>
        <p:spPr>
          <a:xfrm>
            <a:off x="2249424" y="3401568"/>
            <a:ext cx="10972800" cy="351130"/>
          </a:xfrm>
          <a:prstGeom prst="rect">
            <a:avLst/>
          </a:prstGeom>
          <a:noFill/>
          <a:ln/>
        </p:spPr>
        <p:txBody>
          <a:bodyPr wrap="square" lIns="0" tIns="0" rIns="0" bIns="0" rtlCol="0" anchor="ctr"/>
          <a:lstStyle/>
          <a:p>
            <a:pPr indent="0" marL="0">
              <a:buNone/>
            </a:pPr>
            <a:r>
              <a:rPr lang="en-US" sz="1250" dirty="0">
                <a:solidFill>
                  <a:srgbClr val="70757C"/>
                </a:solidFill>
                <a:latin typeface="Arial" pitchFamily="34" charset="0"/>
                <a:ea typeface="Arial" pitchFamily="34" charset="-122"/>
                <a:cs typeface="Arial" pitchFamily="34" charset="-120"/>
              </a:rPr>
              <a:t>선행연구가 시사한 「귀속의 어려움 → 공정성 지각」 관계를 이론 기반의 확인적 가설로 정식화한다</a:t>
            </a:r>
            <a:endParaRPr lang="en-US" sz="1250" dirty="0"/>
          </a:p>
        </p:txBody>
      </p:sp>
      <p:sp>
        <p:nvSpPr>
          <p:cNvPr id="14" name="Shape 12"/>
          <p:cNvSpPr/>
          <p:nvPr/>
        </p:nvSpPr>
        <p:spPr>
          <a:xfrm>
            <a:off x="768096" y="3994099"/>
            <a:ext cx="13112496" cy="943661"/>
          </a:xfrm>
          <a:prstGeom prst="rect">
            <a:avLst/>
          </a:prstGeom>
          <a:solidFill>
            <a:srgbClr val="EDEEF0"/>
          </a:solidFill>
          <a:ln w="12700">
            <a:solidFill>
              <a:srgbClr val="E2D2D1"/>
            </a:solidFill>
            <a:prstDash val="solid"/>
          </a:ln>
        </p:spPr>
      </p:sp>
      <p:sp>
        <p:nvSpPr>
          <p:cNvPr id="15" name="Text 13"/>
          <p:cNvSpPr/>
          <p:nvPr/>
        </p:nvSpPr>
        <p:spPr>
          <a:xfrm>
            <a:off x="1097280" y="3994099"/>
            <a:ext cx="1097280" cy="943661"/>
          </a:xfrm>
          <a:prstGeom prst="rect">
            <a:avLst/>
          </a:prstGeom>
          <a:noFill/>
          <a:ln/>
        </p:spPr>
        <p:txBody>
          <a:bodyPr wrap="square" lIns="0" tIns="0" rIns="0" bIns="0" rtlCol="0" anchor="ctr"/>
          <a:lstStyle/>
          <a:p>
            <a:pPr indent="0" marL="0">
              <a:buNone/>
            </a:pPr>
            <a:r>
              <a:rPr lang="en-US" sz="1450" b="1" dirty="0">
                <a:solidFill>
                  <a:srgbClr val="1F2226"/>
                </a:solidFill>
                <a:latin typeface="Arial" pitchFamily="34" charset="0"/>
                <a:ea typeface="Arial" pitchFamily="34" charset="-122"/>
                <a:cs typeface="Arial" pitchFamily="34" charset="-120"/>
              </a:rPr>
              <a:t>둘째</a:t>
            </a:r>
            <a:endParaRPr lang="en-US" sz="1450" dirty="0"/>
          </a:p>
        </p:txBody>
      </p:sp>
      <p:sp>
        <p:nvSpPr>
          <p:cNvPr id="16" name="Text 14"/>
          <p:cNvSpPr/>
          <p:nvPr/>
        </p:nvSpPr>
        <p:spPr>
          <a:xfrm>
            <a:off x="2249424" y="4147718"/>
            <a:ext cx="3621024" cy="329184"/>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현상에서 기제로</a:t>
            </a:r>
            <a:endParaRPr lang="en-US" sz="1350" dirty="0"/>
          </a:p>
        </p:txBody>
      </p:sp>
      <p:sp>
        <p:nvSpPr>
          <p:cNvPr id="17" name="Text 15"/>
          <p:cNvSpPr/>
          <p:nvPr/>
        </p:nvSpPr>
        <p:spPr>
          <a:xfrm>
            <a:off x="2249424" y="4476902"/>
            <a:ext cx="10972800" cy="351130"/>
          </a:xfrm>
          <a:prstGeom prst="rect">
            <a:avLst/>
          </a:prstGeom>
          <a:noFill/>
          <a:ln/>
        </p:spPr>
        <p:txBody>
          <a:bodyPr wrap="square" lIns="0" tIns="0" rIns="0" bIns="0" rtlCol="0" anchor="ctr"/>
          <a:lstStyle/>
          <a:p>
            <a:pPr indent="0" marL="0">
              <a:buNone/>
            </a:pPr>
            <a:r>
              <a:rPr lang="en-US" sz="1250" dirty="0">
                <a:solidFill>
                  <a:srgbClr val="70757C"/>
                </a:solidFill>
                <a:latin typeface="Arial" pitchFamily="34" charset="0"/>
                <a:ea typeface="Arial" pitchFamily="34" charset="-122"/>
                <a:cs typeface="Arial" pitchFamily="34" charset="-120"/>
              </a:rPr>
              <a:t>지각된 평가 불확실성을 매개변수로 놓아, 그 관계가 어떤 경로를 거치는지 실증한다</a:t>
            </a:r>
            <a:endParaRPr lang="en-US" sz="1250" dirty="0"/>
          </a:p>
        </p:txBody>
      </p:sp>
      <p:sp>
        <p:nvSpPr>
          <p:cNvPr id="18" name="Shape 16"/>
          <p:cNvSpPr/>
          <p:nvPr/>
        </p:nvSpPr>
        <p:spPr>
          <a:xfrm>
            <a:off x="768096" y="5069434"/>
            <a:ext cx="13112496" cy="943661"/>
          </a:xfrm>
          <a:prstGeom prst="rect">
            <a:avLst/>
          </a:prstGeom>
          <a:solidFill>
            <a:srgbClr val="F7F8F9"/>
          </a:solidFill>
          <a:ln w="12700">
            <a:solidFill>
              <a:srgbClr val="C9CDD3"/>
            </a:solidFill>
            <a:prstDash val="solid"/>
          </a:ln>
        </p:spPr>
      </p:sp>
      <p:sp>
        <p:nvSpPr>
          <p:cNvPr id="19" name="Text 17"/>
          <p:cNvSpPr/>
          <p:nvPr/>
        </p:nvSpPr>
        <p:spPr>
          <a:xfrm>
            <a:off x="1097280" y="5069434"/>
            <a:ext cx="1097280" cy="943661"/>
          </a:xfrm>
          <a:prstGeom prst="rect">
            <a:avLst/>
          </a:prstGeom>
          <a:noFill/>
          <a:ln/>
        </p:spPr>
        <p:txBody>
          <a:bodyPr wrap="square" lIns="0" tIns="0" rIns="0" bIns="0" rtlCol="0" anchor="ctr"/>
          <a:lstStyle/>
          <a:p>
            <a:pPr indent="0" marL="0">
              <a:buNone/>
            </a:pPr>
            <a:r>
              <a:rPr lang="en-US" sz="1450" b="1" dirty="0">
                <a:solidFill>
                  <a:srgbClr val="1F2226"/>
                </a:solidFill>
                <a:latin typeface="Arial" pitchFamily="34" charset="0"/>
                <a:ea typeface="Arial" pitchFamily="34" charset="-122"/>
                <a:cs typeface="Arial" pitchFamily="34" charset="-120"/>
              </a:rPr>
              <a:t>셋째</a:t>
            </a:r>
            <a:endParaRPr lang="en-US" sz="1450" dirty="0"/>
          </a:p>
        </p:txBody>
      </p:sp>
      <p:sp>
        <p:nvSpPr>
          <p:cNvPr id="20" name="Text 18"/>
          <p:cNvSpPr/>
          <p:nvPr/>
        </p:nvSpPr>
        <p:spPr>
          <a:xfrm>
            <a:off x="2249424" y="5223053"/>
            <a:ext cx="3621024" cy="329184"/>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이론의 새 맥락 적용</a:t>
            </a:r>
            <a:endParaRPr lang="en-US" sz="1350" dirty="0"/>
          </a:p>
        </p:txBody>
      </p:sp>
      <p:sp>
        <p:nvSpPr>
          <p:cNvPr id="21" name="Text 19"/>
          <p:cNvSpPr/>
          <p:nvPr/>
        </p:nvSpPr>
        <p:spPr>
          <a:xfrm>
            <a:off x="2249424" y="5552237"/>
            <a:ext cx="10972800" cy="351130"/>
          </a:xfrm>
          <a:prstGeom prst="rect">
            <a:avLst/>
          </a:prstGeom>
          <a:noFill/>
          <a:ln/>
        </p:spPr>
        <p:txBody>
          <a:bodyPr wrap="square" lIns="0" tIns="0" rIns="0" bIns="0" rtlCol="0" anchor="ctr"/>
          <a:lstStyle/>
          <a:p>
            <a:pPr indent="0" marL="0">
              <a:buNone/>
            </a:pPr>
            <a:r>
              <a:rPr lang="en-US" sz="1250" dirty="0">
                <a:solidFill>
                  <a:srgbClr val="70757C"/>
                </a:solidFill>
                <a:latin typeface="Arial" pitchFamily="34" charset="0"/>
                <a:ea typeface="Arial" pitchFamily="34" charset="-122"/>
                <a:cs typeface="Arial" pitchFamily="34" charset="-120"/>
              </a:rPr>
              <a:t>절차공정성 구성개념을 AI 협업 성과평가 맥락에 적용하고, 절차 명확화의 완화 범위를 검정한다</a:t>
            </a:r>
            <a:endParaRPr lang="en-US" sz="1250" dirty="0"/>
          </a:p>
        </p:txBody>
      </p:sp>
      <p:sp>
        <p:nvSpPr>
          <p:cNvPr id="22" name="Text 20"/>
          <p:cNvSpPr/>
          <p:nvPr/>
        </p:nvSpPr>
        <p:spPr>
          <a:xfrm>
            <a:off x="768096" y="6309360"/>
            <a:ext cx="3511296"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범위를 좁힌 근거 】</a:t>
            </a:r>
            <a:endParaRPr lang="en-US" sz="1300" dirty="0"/>
          </a:p>
        </p:txBody>
      </p:sp>
      <p:sp>
        <p:nvSpPr>
          <p:cNvPr id="23" name="Text 21"/>
          <p:cNvSpPr/>
          <p:nvPr/>
        </p:nvSpPr>
        <p:spPr>
          <a:xfrm>
            <a:off x="822960" y="6693408"/>
            <a:ext cx="13002768" cy="658368"/>
          </a:xfrm>
          <a:prstGeom prst="rect">
            <a:avLst/>
          </a:prstGeom>
          <a:noFill/>
          <a:ln/>
        </p:spPr>
        <p:txBody>
          <a:bodyPr wrap="square" lIns="0" tIns="0" rIns="0" bIns="0" rtlCol="0" anchor="ctr"/>
          <a:lstStyle/>
          <a:p>
            <a:pPr indent="0" marL="0">
              <a:lnSpc>
                <a:spcPts val="2040"/>
              </a:lnSpc>
              <a:buNone/>
            </a:pPr>
            <a:r>
              <a:rPr lang="en-US" sz="1150" dirty="0">
                <a:solidFill>
                  <a:srgbClr val="1F2226"/>
                </a:solidFill>
                <a:latin typeface="Arial" pitchFamily="34" charset="0"/>
                <a:ea typeface="Arial" pitchFamily="34" charset="-122"/>
                <a:cs typeface="Arial" pitchFamily="34" charset="-120"/>
              </a:rPr>
              <a:t>대상   AI를 업무 전 과정에서 활용하면서도 산출물이 개인 단위로 평가되는 IT 개발직으로 한정한다 — 협업 결합도를 조작하지 않고 통제하기 위해서다</a:t>
            </a:r>
            <a:endParaRPr lang="en-US" sz="1150" dirty="0"/>
          </a:p>
          <a:p>
            <a:pPr indent="0" marL="0">
              <a:lnSpc>
                <a:spcPts val="2040"/>
              </a:lnSpc>
              <a:buNone/>
            </a:pPr>
            <a:r>
              <a:rPr lang="en-US" sz="1150" dirty="0">
                <a:solidFill>
                  <a:srgbClr val="1F2226"/>
                </a:solidFill>
                <a:latin typeface="Arial" pitchFamily="34" charset="0"/>
                <a:ea typeface="Arial" pitchFamily="34" charset="-122"/>
                <a:cs typeface="Arial" pitchFamily="34" charset="-120"/>
              </a:rPr>
              <a:t>종속변수   절차공정성 전반이 아니라 본 연구의 이론 층이 지목하는 일관성·편향 억제 두 측면을 본다</a:t>
            </a:r>
            <a:endParaRPr lang="en-US" sz="1150" dirty="0"/>
          </a:p>
        </p:txBody>
      </p:sp>
      <p:sp>
        <p:nvSpPr>
          <p:cNvPr id="24" name="Text 22"/>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03 / 07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04.  학술적 기여</a:t>
            </a:r>
            <a:endParaRPr lang="en-US" sz="2600" dirty="0"/>
          </a:p>
        </p:txBody>
      </p:sp>
      <p:sp>
        <p:nvSpPr>
          <p:cNvPr id="9" name="Text 7"/>
          <p:cNvSpPr/>
          <p:nvPr/>
        </p:nvSpPr>
        <p:spPr>
          <a:xfrm>
            <a:off x="768096" y="2260397"/>
            <a:ext cx="7680960"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선행연구에서 본 연구로 — 세 가지 전환 】</a:t>
            </a:r>
            <a:endParaRPr lang="en-US" sz="1300" dirty="0"/>
          </a:p>
        </p:txBody>
      </p:sp>
      <p:sp>
        <p:nvSpPr>
          <p:cNvPr id="10" name="Shape 8"/>
          <p:cNvSpPr/>
          <p:nvPr/>
        </p:nvSpPr>
        <p:spPr>
          <a:xfrm>
            <a:off x="790042" y="2830982"/>
            <a:ext cx="395021" cy="395021"/>
          </a:xfrm>
          <a:prstGeom prst="ellipse">
            <a:avLst/>
          </a:prstGeom>
          <a:solidFill>
            <a:srgbClr val="1F2226"/>
          </a:solidFill>
          <a:ln/>
        </p:spPr>
      </p:sp>
      <p:sp>
        <p:nvSpPr>
          <p:cNvPr id="11" name="Text 9"/>
          <p:cNvSpPr/>
          <p:nvPr/>
        </p:nvSpPr>
        <p:spPr>
          <a:xfrm>
            <a:off x="790042" y="2830982"/>
            <a:ext cx="395021" cy="395021"/>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2" name="Text 10"/>
          <p:cNvSpPr/>
          <p:nvPr/>
        </p:nvSpPr>
        <p:spPr>
          <a:xfrm>
            <a:off x="768096" y="3291840"/>
            <a:ext cx="1645920" cy="307238"/>
          </a:xfrm>
          <a:prstGeom prst="rect">
            <a:avLst/>
          </a:prstGeom>
          <a:noFill/>
          <a:ln/>
        </p:spPr>
        <p:txBody>
          <a:bodyPr wrap="square" lIns="0" tIns="0" rIns="0" bIns="0" rtlCol="0" anchor="ctr"/>
          <a:lstStyle/>
          <a:p>
            <a:pPr algn="ctr" indent="0" marL="0">
              <a:buNone/>
            </a:pPr>
            <a:r>
              <a:rPr lang="en-US" sz="1150" b="1" dirty="0">
                <a:solidFill>
                  <a:srgbClr val="1F2226"/>
                </a:solidFill>
                <a:latin typeface="Arial" pitchFamily="34" charset="0"/>
                <a:ea typeface="Arial" pitchFamily="34" charset="-122"/>
                <a:cs typeface="Arial" pitchFamily="34" charset="-120"/>
              </a:rPr>
              <a:t>질문의 전환</a:t>
            </a:r>
            <a:endParaRPr lang="en-US" sz="1150" dirty="0"/>
          </a:p>
        </p:txBody>
      </p:sp>
      <p:sp>
        <p:nvSpPr>
          <p:cNvPr id="13" name="Shape 11"/>
          <p:cNvSpPr/>
          <p:nvPr/>
        </p:nvSpPr>
        <p:spPr>
          <a:xfrm>
            <a:off x="2523744" y="2677363"/>
            <a:ext cx="4773168" cy="1031443"/>
          </a:xfrm>
          <a:prstGeom prst="rect">
            <a:avLst/>
          </a:prstGeom>
          <a:solidFill>
            <a:srgbClr val="F7F8F9"/>
          </a:solidFill>
          <a:ln w="12700">
            <a:solidFill>
              <a:srgbClr val="C9CDD3"/>
            </a:solidFill>
            <a:prstDash val="solid"/>
          </a:ln>
        </p:spPr>
      </p:sp>
      <p:sp>
        <p:nvSpPr>
          <p:cNvPr id="14" name="Text 12"/>
          <p:cNvSpPr/>
          <p:nvPr/>
        </p:nvSpPr>
        <p:spPr>
          <a:xfrm>
            <a:off x="2765146" y="2787091"/>
            <a:ext cx="4279392" cy="263347"/>
          </a:xfrm>
          <a:prstGeom prst="rect">
            <a:avLst/>
          </a:prstGeom>
          <a:noFill/>
          <a:ln/>
        </p:spPr>
        <p:txBody>
          <a:bodyPr wrap="square" lIns="0" tIns="0" rIns="0" bIns="0" rtlCol="0" anchor="ctr"/>
          <a:lstStyle/>
          <a:p>
            <a:pPr indent="0" marL="0">
              <a:buNone/>
            </a:pPr>
            <a:r>
              <a:rPr lang="en-US" sz="1000" dirty="0">
                <a:solidFill>
                  <a:srgbClr val="70757C"/>
                </a:solidFill>
                <a:latin typeface="Arial" pitchFamily="34" charset="0"/>
                <a:ea typeface="Arial" pitchFamily="34" charset="-122"/>
                <a:cs typeface="Arial" pitchFamily="34" charset="-120"/>
              </a:rPr>
              <a:t>지금까지</a:t>
            </a:r>
            <a:endParaRPr lang="en-US" sz="1000" dirty="0"/>
          </a:p>
        </p:txBody>
      </p:sp>
      <p:sp>
        <p:nvSpPr>
          <p:cNvPr id="15" name="Text 13"/>
          <p:cNvSpPr/>
          <p:nvPr/>
        </p:nvSpPr>
        <p:spPr>
          <a:xfrm>
            <a:off x="2765146" y="3050438"/>
            <a:ext cx="4334256" cy="570586"/>
          </a:xfrm>
          <a:prstGeom prst="rect">
            <a:avLst/>
          </a:prstGeom>
          <a:noFill/>
          <a:ln/>
        </p:spPr>
        <p:txBody>
          <a:bodyPr wrap="square" lIns="0" tIns="0" rIns="0" bIns="0" rtlCol="0" anchor="ctr"/>
          <a:lstStyle/>
          <a:p>
            <a:pPr indent="0" marL="0">
              <a:lnSpc>
                <a:spcPts val="2040"/>
              </a:lnSpc>
              <a:buNone/>
            </a:pPr>
            <a:r>
              <a:rPr lang="en-US" sz="1250" dirty="0">
                <a:solidFill>
                  <a:srgbClr val="1F2226"/>
                </a:solidFill>
                <a:latin typeface="Arial" pitchFamily="34" charset="0"/>
                <a:ea typeface="Arial" pitchFamily="34" charset="-122"/>
                <a:cs typeface="Arial" pitchFamily="34" charset="-120"/>
              </a:rPr>
              <a:t>「AI에게 얼마의 크레딧을 줄 것인가」</a:t>
            </a:r>
            <a:endParaRPr lang="en-US" sz="1250" dirty="0"/>
          </a:p>
          <a:p>
            <a:pPr indent="0" marL="0">
              <a:lnSpc>
                <a:spcPts val="2040"/>
              </a:lnSpc>
              <a:buNone/>
            </a:pPr>
            <a:r>
              <a:rPr lang="en-US" sz="1250" dirty="0">
                <a:solidFill>
                  <a:srgbClr val="1F2226"/>
                </a:solidFill>
                <a:latin typeface="Arial" pitchFamily="34" charset="0"/>
                <a:ea typeface="Arial" pitchFamily="34" charset="-122"/>
                <a:cs typeface="Arial" pitchFamily="34" charset="-120"/>
              </a:rPr>
              <a:t>— 배분의 문제</a:t>
            </a:r>
            <a:endParaRPr lang="en-US" sz="1250" dirty="0"/>
          </a:p>
        </p:txBody>
      </p:sp>
      <p:sp>
        <p:nvSpPr>
          <p:cNvPr id="16" name="Shape 14"/>
          <p:cNvSpPr/>
          <p:nvPr/>
        </p:nvSpPr>
        <p:spPr>
          <a:xfrm rot="5400000">
            <a:off x="7527341" y="3072384"/>
            <a:ext cx="285293" cy="241402"/>
          </a:xfrm>
          <a:prstGeom prst="triangle">
            <a:avLst/>
          </a:prstGeom>
          <a:solidFill>
            <a:srgbClr val="1F2226"/>
          </a:solidFill>
          <a:ln/>
        </p:spPr>
      </p:sp>
      <p:sp>
        <p:nvSpPr>
          <p:cNvPr id="17" name="Shape 15"/>
          <p:cNvSpPr/>
          <p:nvPr/>
        </p:nvSpPr>
        <p:spPr>
          <a:xfrm>
            <a:off x="8065008" y="2677363"/>
            <a:ext cx="5793638" cy="1031443"/>
          </a:xfrm>
          <a:prstGeom prst="rect">
            <a:avLst/>
          </a:prstGeom>
          <a:solidFill>
            <a:srgbClr val="EDEEF0"/>
          </a:solidFill>
          <a:ln w="12700">
            <a:solidFill>
              <a:srgbClr val="DCDDE0"/>
            </a:solidFill>
            <a:prstDash val="solid"/>
          </a:ln>
        </p:spPr>
      </p:sp>
      <p:sp>
        <p:nvSpPr>
          <p:cNvPr id="18" name="Text 16"/>
          <p:cNvSpPr/>
          <p:nvPr/>
        </p:nvSpPr>
        <p:spPr>
          <a:xfrm>
            <a:off x="8306410" y="2787091"/>
            <a:ext cx="5376672" cy="263347"/>
          </a:xfrm>
          <a:prstGeom prst="rect">
            <a:avLst/>
          </a:prstGeom>
          <a:noFill/>
          <a:ln/>
        </p:spPr>
        <p:txBody>
          <a:bodyPr wrap="square" lIns="0" tIns="0" rIns="0" bIns="0" rtlCol="0" anchor="ctr"/>
          <a:lstStyle/>
          <a:p>
            <a:pPr indent="0" marL="0">
              <a:buNone/>
            </a:pPr>
            <a:r>
              <a:rPr lang="en-US" sz="1000" b="1" dirty="0">
                <a:solidFill>
                  <a:srgbClr val="1F2226"/>
                </a:solidFill>
                <a:latin typeface="Arial" pitchFamily="34" charset="0"/>
                <a:ea typeface="Arial" pitchFamily="34" charset="-122"/>
                <a:cs typeface="Arial" pitchFamily="34" charset="-120"/>
              </a:rPr>
              <a:t>본 연구</a:t>
            </a:r>
            <a:endParaRPr lang="en-US" sz="1000" dirty="0"/>
          </a:p>
        </p:txBody>
      </p:sp>
      <p:sp>
        <p:nvSpPr>
          <p:cNvPr id="19" name="Text 17"/>
          <p:cNvSpPr/>
          <p:nvPr/>
        </p:nvSpPr>
        <p:spPr>
          <a:xfrm>
            <a:off x="8306410" y="3050438"/>
            <a:ext cx="5354726" cy="570586"/>
          </a:xfrm>
          <a:prstGeom prst="rect">
            <a:avLst/>
          </a:prstGeom>
          <a:noFill/>
          <a:ln/>
        </p:spPr>
        <p:txBody>
          <a:bodyPr wrap="square" lIns="0" tIns="0" rIns="0" bIns="0" rtlCol="0" anchor="ctr"/>
          <a:lstStyle/>
          <a:p>
            <a:pPr indent="0" marL="0">
              <a:lnSpc>
                <a:spcPts val="2040"/>
              </a:lnSpc>
              <a:buNone/>
            </a:pPr>
            <a:r>
              <a:rPr lang="en-US" sz="1250" b="1" dirty="0">
                <a:solidFill>
                  <a:srgbClr val="1F2226"/>
                </a:solidFill>
                <a:latin typeface="Arial" pitchFamily="34" charset="0"/>
                <a:ea typeface="Arial" pitchFamily="34" charset="-122"/>
                <a:cs typeface="Arial" pitchFamily="34" charset="-120"/>
              </a:rPr>
              <a:t>「그 귀속이 어려울 때 평가받는 사람이</a:t>
            </a:r>
            <a:endParaRPr lang="en-US" sz="1250" dirty="0"/>
          </a:p>
          <a:p>
            <a:pPr indent="0" marL="0">
              <a:lnSpc>
                <a:spcPts val="2040"/>
              </a:lnSpc>
              <a:buNone/>
            </a:pPr>
            <a:r>
              <a:rPr lang="en-US" sz="1250" b="1" dirty="0">
                <a:solidFill>
                  <a:srgbClr val="1F2226"/>
                </a:solidFill>
                <a:latin typeface="Arial" pitchFamily="34" charset="0"/>
                <a:ea typeface="Arial" pitchFamily="34" charset="-122"/>
                <a:cs typeface="Arial" pitchFamily="34" charset="-120"/>
              </a:rPr>
              <a:t>제도를 어떻게 지각하는가」— 공정성의 문제</a:t>
            </a:r>
            <a:endParaRPr lang="en-US" sz="1250" dirty="0"/>
          </a:p>
        </p:txBody>
      </p:sp>
      <p:sp>
        <p:nvSpPr>
          <p:cNvPr id="20" name="Text 18"/>
          <p:cNvSpPr/>
          <p:nvPr/>
        </p:nvSpPr>
        <p:spPr>
          <a:xfrm>
            <a:off x="2523744" y="3774643"/>
            <a:ext cx="11301984" cy="307238"/>
          </a:xfrm>
          <a:prstGeom prst="rect">
            <a:avLst/>
          </a:prstGeom>
          <a:noFill/>
          <a:ln/>
        </p:spPr>
        <p:txBody>
          <a:bodyPr wrap="square" lIns="0" tIns="0" rIns="0" bIns="0" rtlCol="0" anchor="ctr"/>
          <a:lstStyle/>
          <a:p>
            <a:pPr indent="0" marL="0">
              <a:buNone/>
            </a:pPr>
            <a:r>
              <a:rPr lang="en-US" sz="1200" b="1" dirty="0">
                <a:solidFill>
                  <a:srgbClr val="2A2D31"/>
                </a:solidFill>
                <a:latin typeface="Arial" pitchFamily="34" charset="0"/>
                <a:ea typeface="Arial" pitchFamily="34" charset="-122"/>
                <a:cs typeface="Arial" pitchFamily="34" charset="-120"/>
              </a:rPr>
              <a:t>→   조직공정성이 축적한 이론과 측정 도구를 이 현상에 쓸 수 있게 된다</a:t>
            </a:r>
            <a:endParaRPr lang="en-US" sz="1200" dirty="0"/>
          </a:p>
        </p:txBody>
      </p:sp>
      <p:sp>
        <p:nvSpPr>
          <p:cNvPr id="21" name="Shape 19"/>
          <p:cNvSpPr/>
          <p:nvPr/>
        </p:nvSpPr>
        <p:spPr>
          <a:xfrm>
            <a:off x="790042" y="4454957"/>
            <a:ext cx="395021" cy="395021"/>
          </a:xfrm>
          <a:prstGeom prst="ellipse">
            <a:avLst/>
          </a:prstGeom>
          <a:solidFill>
            <a:srgbClr val="1F2226"/>
          </a:solidFill>
          <a:ln/>
        </p:spPr>
      </p:sp>
      <p:sp>
        <p:nvSpPr>
          <p:cNvPr id="22" name="Text 20"/>
          <p:cNvSpPr/>
          <p:nvPr/>
        </p:nvSpPr>
        <p:spPr>
          <a:xfrm>
            <a:off x="790042" y="4454957"/>
            <a:ext cx="395021" cy="395021"/>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768096" y="4915814"/>
            <a:ext cx="1645920" cy="307238"/>
          </a:xfrm>
          <a:prstGeom prst="rect">
            <a:avLst/>
          </a:prstGeom>
          <a:noFill/>
          <a:ln/>
        </p:spPr>
        <p:txBody>
          <a:bodyPr wrap="square" lIns="0" tIns="0" rIns="0" bIns="0" rtlCol="0" anchor="ctr"/>
          <a:lstStyle/>
          <a:p>
            <a:pPr algn="ctr" indent="0" marL="0">
              <a:buNone/>
            </a:pPr>
            <a:r>
              <a:rPr lang="en-US" sz="1150" b="1" dirty="0">
                <a:solidFill>
                  <a:srgbClr val="1F2226"/>
                </a:solidFill>
                <a:latin typeface="Arial" pitchFamily="34" charset="0"/>
                <a:ea typeface="Arial" pitchFamily="34" charset="-122"/>
                <a:cs typeface="Arial" pitchFamily="34" charset="-120"/>
              </a:rPr>
              <a:t>출처의 전환</a:t>
            </a:r>
            <a:endParaRPr lang="en-US" sz="1150" dirty="0"/>
          </a:p>
        </p:txBody>
      </p:sp>
      <p:sp>
        <p:nvSpPr>
          <p:cNvPr id="24" name="Shape 22"/>
          <p:cNvSpPr/>
          <p:nvPr/>
        </p:nvSpPr>
        <p:spPr>
          <a:xfrm>
            <a:off x="2523744" y="4301338"/>
            <a:ext cx="4773168" cy="1031443"/>
          </a:xfrm>
          <a:prstGeom prst="rect">
            <a:avLst/>
          </a:prstGeom>
          <a:solidFill>
            <a:srgbClr val="F7F8F9"/>
          </a:solidFill>
          <a:ln w="12700">
            <a:solidFill>
              <a:srgbClr val="C9CDD3"/>
            </a:solidFill>
            <a:prstDash val="solid"/>
          </a:ln>
        </p:spPr>
      </p:sp>
      <p:sp>
        <p:nvSpPr>
          <p:cNvPr id="25" name="Text 23"/>
          <p:cNvSpPr/>
          <p:nvPr/>
        </p:nvSpPr>
        <p:spPr>
          <a:xfrm>
            <a:off x="2765146" y="4411066"/>
            <a:ext cx="4279392" cy="263347"/>
          </a:xfrm>
          <a:prstGeom prst="rect">
            <a:avLst/>
          </a:prstGeom>
          <a:noFill/>
          <a:ln/>
        </p:spPr>
        <p:txBody>
          <a:bodyPr wrap="square" lIns="0" tIns="0" rIns="0" bIns="0" rtlCol="0" anchor="ctr"/>
          <a:lstStyle/>
          <a:p>
            <a:pPr indent="0" marL="0">
              <a:buNone/>
            </a:pPr>
            <a:r>
              <a:rPr lang="en-US" sz="1000" dirty="0">
                <a:solidFill>
                  <a:srgbClr val="70757C"/>
                </a:solidFill>
                <a:latin typeface="Arial" pitchFamily="34" charset="0"/>
                <a:ea typeface="Arial" pitchFamily="34" charset="-122"/>
                <a:cs typeface="Arial" pitchFamily="34" charset="-120"/>
              </a:rPr>
              <a:t>지금까지</a:t>
            </a:r>
            <a:endParaRPr lang="en-US" sz="1000" dirty="0"/>
          </a:p>
        </p:txBody>
      </p:sp>
      <p:sp>
        <p:nvSpPr>
          <p:cNvPr id="26" name="Text 24"/>
          <p:cNvSpPr/>
          <p:nvPr/>
        </p:nvSpPr>
        <p:spPr>
          <a:xfrm>
            <a:off x="2765146" y="4674413"/>
            <a:ext cx="4334256" cy="570586"/>
          </a:xfrm>
          <a:prstGeom prst="rect">
            <a:avLst/>
          </a:prstGeom>
          <a:noFill/>
          <a:ln/>
        </p:spPr>
        <p:txBody>
          <a:bodyPr wrap="square" lIns="0" tIns="0" rIns="0" bIns="0" rtlCol="0" anchor="ctr"/>
          <a:lstStyle/>
          <a:p>
            <a:pPr indent="0" marL="0">
              <a:lnSpc>
                <a:spcPts val="2040"/>
              </a:lnSpc>
              <a:buNone/>
            </a:pPr>
            <a:r>
              <a:rPr lang="en-US" sz="1250" dirty="0">
                <a:solidFill>
                  <a:srgbClr val="1F2226"/>
                </a:solidFill>
                <a:latin typeface="Arial" pitchFamily="34" charset="0"/>
                <a:ea typeface="Arial" pitchFamily="34" charset="-122"/>
                <a:cs typeface="Arial" pitchFamily="34" charset="-120"/>
              </a:rPr>
              <a:t>불확실성은 주어진 조건</a:t>
            </a:r>
            <a:endParaRPr lang="en-US" sz="1250" dirty="0"/>
          </a:p>
          <a:p>
            <a:pPr indent="0" marL="0">
              <a:lnSpc>
                <a:spcPts val="2040"/>
              </a:lnSpc>
              <a:buNone/>
            </a:pPr>
            <a:r>
              <a:rPr lang="en-US" sz="1250" dirty="0">
                <a:solidFill>
                  <a:srgbClr val="1F2226"/>
                </a:solidFill>
                <a:latin typeface="Arial" pitchFamily="34" charset="0"/>
                <a:ea typeface="Arial" pitchFamily="34" charset="-122"/>
                <a:cs typeface="Arial" pitchFamily="34" charset="-120"/>
              </a:rPr>
              <a:t>— 실험 조작이거나 외부 상황</a:t>
            </a:r>
            <a:endParaRPr lang="en-US" sz="1250" dirty="0"/>
          </a:p>
        </p:txBody>
      </p:sp>
      <p:sp>
        <p:nvSpPr>
          <p:cNvPr id="27" name="Shape 25"/>
          <p:cNvSpPr/>
          <p:nvPr/>
        </p:nvSpPr>
        <p:spPr>
          <a:xfrm rot="5400000">
            <a:off x="7527341" y="4696358"/>
            <a:ext cx="285293" cy="241402"/>
          </a:xfrm>
          <a:prstGeom prst="triangle">
            <a:avLst/>
          </a:prstGeom>
          <a:solidFill>
            <a:srgbClr val="1F2226"/>
          </a:solidFill>
          <a:ln/>
        </p:spPr>
      </p:sp>
      <p:sp>
        <p:nvSpPr>
          <p:cNvPr id="28" name="Shape 26"/>
          <p:cNvSpPr/>
          <p:nvPr/>
        </p:nvSpPr>
        <p:spPr>
          <a:xfrm>
            <a:off x="8065008" y="4301338"/>
            <a:ext cx="5793638" cy="1031443"/>
          </a:xfrm>
          <a:prstGeom prst="rect">
            <a:avLst/>
          </a:prstGeom>
          <a:solidFill>
            <a:srgbClr val="EDEEF0"/>
          </a:solidFill>
          <a:ln w="12700">
            <a:solidFill>
              <a:srgbClr val="DCDDE0"/>
            </a:solidFill>
            <a:prstDash val="solid"/>
          </a:ln>
        </p:spPr>
      </p:sp>
      <p:sp>
        <p:nvSpPr>
          <p:cNvPr id="29" name="Text 27"/>
          <p:cNvSpPr/>
          <p:nvPr/>
        </p:nvSpPr>
        <p:spPr>
          <a:xfrm>
            <a:off x="8306410" y="4411066"/>
            <a:ext cx="5376672" cy="263347"/>
          </a:xfrm>
          <a:prstGeom prst="rect">
            <a:avLst/>
          </a:prstGeom>
          <a:noFill/>
          <a:ln/>
        </p:spPr>
        <p:txBody>
          <a:bodyPr wrap="square" lIns="0" tIns="0" rIns="0" bIns="0" rtlCol="0" anchor="ctr"/>
          <a:lstStyle/>
          <a:p>
            <a:pPr indent="0" marL="0">
              <a:buNone/>
            </a:pPr>
            <a:r>
              <a:rPr lang="en-US" sz="1000" b="1" dirty="0">
                <a:solidFill>
                  <a:srgbClr val="1F2226"/>
                </a:solidFill>
                <a:latin typeface="Arial" pitchFamily="34" charset="0"/>
                <a:ea typeface="Arial" pitchFamily="34" charset="-122"/>
                <a:cs typeface="Arial" pitchFamily="34" charset="-120"/>
              </a:rPr>
              <a:t>본 연구</a:t>
            </a:r>
            <a:endParaRPr lang="en-US" sz="1000" dirty="0"/>
          </a:p>
        </p:txBody>
      </p:sp>
      <p:sp>
        <p:nvSpPr>
          <p:cNvPr id="30" name="Text 28"/>
          <p:cNvSpPr/>
          <p:nvPr/>
        </p:nvSpPr>
        <p:spPr>
          <a:xfrm>
            <a:off x="8306410" y="4674413"/>
            <a:ext cx="5354726" cy="570586"/>
          </a:xfrm>
          <a:prstGeom prst="rect">
            <a:avLst/>
          </a:prstGeom>
          <a:noFill/>
          <a:ln/>
        </p:spPr>
        <p:txBody>
          <a:bodyPr wrap="square" lIns="0" tIns="0" rIns="0" bIns="0" rtlCol="0" anchor="ctr"/>
          <a:lstStyle/>
          <a:p>
            <a:pPr indent="0" marL="0">
              <a:lnSpc>
                <a:spcPts val="2040"/>
              </a:lnSpc>
              <a:buNone/>
            </a:pPr>
            <a:r>
              <a:rPr lang="en-US" sz="1250" b="1" dirty="0">
                <a:solidFill>
                  <a:srgbClr val="1F2226"/>
                </a:solidFill>
                <a:latin typeface="Arial" pitchFamily="34" charset="0"/>
                <a:ea typeface="Arial" pitchFamily="34" charset="-122"/>
                <a:cs typeface="Arial" pitchFamily="34" charset="-120"/>
              </a:rPr>
              <a:t>불확실성은 업무의 성격이 만든 결과</a:t>
            </a:r>
            <a:endParaRPr lang="en-US" sz="1250" dirty="0"/>
          </a:p>
          <a:p>
            <a:pPr indent="0" marL="0">
              <a:lnSpc>
                <a:spcPts val="2040"/>
              </a:lnSpc>
              <a:buNone/>
            </a:pPr>
            <a:r>
              <a:rPr lang="en-US" sz="1250" b="1" dirty="0">
                <a:solidFill>
                  <a:srgbClr val="1F2226"/>
                </a:solidFill>
                <a:latin typeface="Arial" pitchFamily="34" charset="0"/>
                <a:ea typeface="Arial" pitchFamily="34" charset="-122"/>
                <a:cs typeface="Arial" pitchFamily="34" charset="-120"/>
              </a:rPr>
              <a:t>— 조직 안에서 발생한다</a:t>
            </a:r>
            <a:endParaRPr lang="en-US" sz="1250" dirty="0"/>
          </a:p>
        </p:txBody>
      </p:sp>
      <p:sp>
        <p:nvSpPr>
          <p:cNvPr id="31" name="Text 29"/>
          <p:cNvSpPr/>
          <p:nvPr/>
        </p:nvSpPr>
        <p:spPr>
          <a:xfrm>
            <a:off x="2523744" y="5398618"/>
            <a:ext cx="11301984" cy="307238"/>
          </a:xfrm>
          <a:prstGeom prst="rect">
            <a:avLst/>
          </a:prstGeom>
          <a:noFill/>
          <a:ln/>
        </p:spPr>
        <p:txBody>
          <a:bodyPr wrap="square" lIns="0" tIns="0" rIns="0" bIns="0" rtlCol="0" anchor="ctr"/>
          <a:lstStyle/>
          <a:p>
            <a:pPr indent="0" marL="0">
              <a:buNone/>
            </a:pPr>
            <a:r>
              <a:rPr lang="en-US" sz="1200" b="1" dirty="0">
                <a:solidFill>
                  <a:srgbClr val="2A2D31"/>
                </a:solidFill>
                <a:latin typeface="Arial" pitchFamily="34" charset="0"/>
                <a:ea typeface="Arial" pitchFamily="34" charset="-122"/>
                <a:cs typeface="Arial" pitchFamily="34" charset="-120"/>
              </a:rPr>
              <a:t>→   AI 협업의 귀속 모호성을 불확실성의 출처로 지목한다</a:t>
            </a:r>
            <a:endParaRPr lang="en-US" sz="1200" dirty="0"/>
          </a:p>
        </p:txBody>
      </p:sp>
      <p:sp>
        <p:nvSpPr>
          <p:cNvPr id="32" name="Shape 30"/>
          <p:cNvSpPr/>
          <p:nvPr/>
        </p:nvSpPr>
        <p:spPr>
          <a:xfrm>
            <a:off x="790042" y="6078931"/>
            <a:ext cx="395021" cy="395021"/>
          </a:xfrm>
          <a:prstGeom prst="ellipse">
            <a:avLst/>
          </a:prstGeom>
          <a:solidFill>
            <a:srgbClr val="1F2226"/>
          </a:solidFill>
          <a:ln/>
        </p:spPr>
      </p:sp>
      <p:sp>
        <p:nvSpPr>
          <p:cNvPr id="33" name="Text 31"/>
          <p:cNvSpPr/>
          <p:nvPr/>
        </p:nvSpPr>
        <p:spPr>
          <a:xfrm>
            <a:off x="790042" y="6078931"/>
            <a:ext cx="395021" cy="395021"/>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34" name="Text 32"/>
          <p:cNvSpPr/>
          <p:nvPr/>
        </p:nvSpPr>
        <p:spPr>
          <a:xfrm>
            <a:off x="768096" y="6539789"/>
            <a:ext cx="1645920" cy="307238"/>
          </a:xfrm>
          <a:prstGeom prst="rect">
            <a:avLst/>
          </a:prstGeom>
          <a:noFill/>
          <a:ln/>
        </p:spPr>
        <p:txBody>
          <a:bodyPr wrap="square" lIns="0" tIns="0" rIns="0" bIns="0" rtlCol="0" anchor="ctr"/>
          <a:lstStyle/>
          <a:p>
            <a:pPr algn="ctr" indent="0" marL="0">
              <a:buNone/>
            </a:pPr>
            <a:r>
              <a:rPr lang="en-US" sz="1150" b="1" dirty="0">
                <a:solidFill>
                  <a:srgbClr val="1F2226"/>
                </a:solidFill>
                <a:latin typeface="Arial" pitchFamily="34" charset="0"/>
                <a:ea typeface="Arial" pitchFamily="34" charset="-122"/>
                <a:cs typeface="Arial" pitchFamily="34" charset="-120"/>
              </a:rPr>
              <a:t>처방의 검증</a:t>
            </a:r>
            <a:endParaRPr lang="en-US" sz="1150" dirty="0"/>
          </a:p>
        </p:txBody>
      </p:sp>
      <p:sp>
        <p:nvSpPr>
          <p:cNvPr id="35" name="Shape 33"/>
          <p:cNvSpPr/>
          <p:nvPr/>
        </p:nvSpPr>
        <p:spPr>
          <a:xfrm>
            <a:off x="2523744" y="5925312"/>
            <a:ext cx="4773168" cy="1031443"/>
          </a:xfrm>
          <a:prstGeom prst="rect">
            <a:avLst/>
          </a:prstGeom>
          <a:solidFill>
            <a:srgbClr val="F7F8F9"/>
          </a:solidFill>
          <a:ln w="12700">
            <a:solidFill>
              <a:srgbClr val="C9CDD3"/>
            </a:solidFill>
            <a:prstDash val="solid"/>
          </a:ln>
        </p:spPr>
      </p:sp>
      <p:sp>
        <p:nvSpPr>
          <p:cNvPr id="36" name="Text 34"/>
          <p:cNvSpPr/>
          <p:nvPr/>
        </p:nvSpPr>
        <p:spPr>
          <a:xfrm>
            <a:off x="2765146" y="6035040"/>
            <a:ext cx="4279392" cy="263347"/>
          </a:xfrm>
          <a:prstGeom prst="rect">
            <a:avLst/>
          </a:prstGeom>
          <a:noFill/>
          <a:ln/>
        </p:spPr>
        <p:txBody>
          <a:bodyPr wrap="square" lIns="0" tIns="0" rIns="0" bIns="0" rtlCol="0" anchor="ctr"/>
          <a:lstStyle/>
          <a:p>
            <a:pPr indent="0" marL="0">
              <a:buNone/>
            </a:pPr>
            <a:r>
              <a:rPr lang="en-US" sz="1000" dirty="0">
                <a:solidFill>
                  <a:srgbClr val="70757C"/>
                </a:solidFill>
                <a:latin typeface="Arial" pitchFamily="34" charset="0"/>
                <a:ea typeface="Arial" pitchFamily="34" charset="-122"/>
                <a:cs typeface="Arial" pitchFamily="34" charset="-120"/>
              </a:rPr>
              <a:t>지금까지</a:t>
            </a:r>
            <a:endParaRPr lang="en-US" sz="1000" dirty="0"/>
          </a:p>
        </p:txBody>
      </p:sp>
      <p:sp>
        <p:nvSpPr>
          <p:cNvPr id="37" name="Text 35"/>
          <p:cNvSpPr/>
          <p:nvPr/>
        </p:nvSpPr>
        <p:spPr>
          <a:xfrm>
            <a:off x="2765146" y="6298387"/>
            <a:ext cx="4334256" cy="570586"/>
          </a:xfrm>
          <a:prstGeom prst="rect">
            <a:avLst/>
          </a:prstGeom>
          <a:noFill/>
          <a:ln/>
        </p:spPr>
        <p:txBody>
          <a:bodyPr wrap="square" lIns="0" tIns="0" rIns="0" bIns="0" rtlCol="0" anchor="ctr"/>
          <a:lstStyle/>
          <a:p>
            <a:pPr indent="0" marL="0">
              <a:lnSpc>
                <a:spcPts val="2040"/>
              </a:lnSpc>
              <a:buNone/>
            </a:pPr>
            <a:r>
              <a:rPr lang="en-US" sz="1250" dirty="0">
                <a:solidFill>
                  <a:srgbClr val="1F2226"/>
                </a:solidFill>
                <a:latin typeface="Arial" pitchFamily="34" charset="0"/>
                <a:ea typeface="Arial" pitchFamily="34" charset="-122"/>
                <a:cs typeface="Arial" pitchFamily="34" charset="-120"/>
              </a:rPr>
              <a:t>「기준을 명확히 하면 된다」</a:t>
            </a:r>
            <a:endParaRPr lang="en-US" sz="1250" dirty="0"/>
          </a:p>
          <a:p>
            <a:pPr indent="0" marL="0">
              <a:lnSpc>
                <a:spcPts val="2040"/>
              </a:lnSpc>
              <a:buNone/>
            </a:pPr>
            <a:r>
              <a:rPr lang="en-US" sz="1250" dirty="0">
                <a:solidFill>
                  <a:srgbClr val="1F2226"/>
                </a:solidFill>
                <a:latin typeface="Arial" pitchFamily="34" charset="0"/>
                <a:ea typeface="Arial" pitchFamily="34" charset="-122"/>
                <a:cs typeface="Arial" pitchFamily="34" charset="-120"/>
              </a:rPr>
              <a:t>— 통상적 처방</a:t>
            </a:r>
            <a:endParaRPr lang="en-US" sz="1250" dirty="0"/>
          </a:p>
        </p:txBody>
      </p:sp>
      <p:sp>
        <p:nvSpPr>
          <p:cNvPr id="38" name="Shape 36"/>
          <p:cNvSpPr/>
          <p:nvPr/>
        </p:nvSpPr>
        <p:spPr>
          <a:xfrm rot="5400000">
            <a:off x="7527341" y="6320333"/>
            <a:ext cx="285293" cy="241402"/>
          </a:xfrm>
          <a:prstGeom prst="triangle">
            <a:avLst/>
          </a:prstGeom>
          <a:solidFill>
            <a:srgbClr val="1F2226"/>
          </a:solidFill>
          <a:ln/>
        </p:spPr>
      </p:sp>
      <p:sp>
        <p:nvSpPr>
          <p:cNvPr id="39" name="Shape 37"/>
          <p:cNvSpPr/>
          <p:nvPr/>
        </p:nvSpPr>
        <p:spPr>
          <a:xfrm>
            <a:off x="8065008" y="5925312"/>
            <a:ext cx="5793638" cy="1031443"/>
          </a:xfrm>
          <a:prstGeom prst="rect">
            <a:avLst/>
          </a:prstGeom>
          <a:solidFill>
            <a:srgbClr val="EDEEF0"/>
          </a:solidFill>
          <a:ln w="12700">
            <a:solidFill>
              <a:srgbClr val="DCDDE0"/>
            </a:solidFill>
            <a:prstDash val="solid"/>
          </a:ln>
        </p:spPr>
      </p:sp>
      <p:sp>
        <p:nvSpPr>
          <p:cNvPr id="40" name="Text 38"/>
          <p:cNvSpPr/>
          <p:nvPr/>
        </p:nvSpPr>
        <p:spPr>
          <a:xfrm>
            <a:off x="8306410" y="6035040"/>
            <a:ext cx="5376672" cy="263347"/>
          </a:xfrm>
          <a:prstGeom prst="rect">
            <a:avLst/>
          </a:prstGeom>
          <a:noFill/>
          <a:ln/>
        </p:spPr>
        <p:txBody>
          <a:bodyPr wrap="square" lIns="0" tIns="0" rIns="0" bIns="0" rtlCol="0" anchor="ctr"/>
          <a:lstStyle/>
          <a:p>
            <a:pPr indent="0" marL="0">
              <a:buNone/>
            </a:pPr>
            <a:r>
              <a:rPr lang="en-US" sz="1000" b="1" dirty="0">
                <a:solidFill>
                  <a:srgbClr val="1F2226"/>
                </a:solidFill>
                <a:latin typeface="Arial" pitchFamily="34" charset="0"/>
                <a:ea typeface="Arial" pitchFamily="34" charset="-122"/>
                <a:cs typeface="Arial" pitchFamily="34" charset="-120"/>
              </a:rPr>
              <a:t>본 연구</a:t>
            </a:r>
            <a:endParaRPr lang="en-US" sz="1000" dirty="0"/>
          </a:p>
        </p:txBody>
      </p:sp>
      <p:sp>
        <p:nvSpPr>
          <p:cNvPr id="41" name="Text 39"/>
          <p:cNvSpPr/>
          <p:nvPr/>
        </p:nvSpPr>
        <p:spPr>
          <a:xfrm>
            <a:off x="8306410" y="6298387"/>
            <a:ext cx="5354726" cy="570586"/>
          </a:xfrm>
          <a:prstGeom prst="rect">
            <a:avLst/>
          </a:prstGeom>
          <a:noFill/>
          <a:ln/>
        </p:spPr>
        <p:txBody>
          <a:bodyPr wrap="square" lIns="0" tIns="0" rIns="0" bIns="0" rtlCol="0" anchor="ctr"/>
          <a:lstStyle/>
          <a:p>
            <a:pPr indent="0" marL="0">
              <a:lnSpc>
                <a:spcPts val="2040"/>
              </a:lnSpc>
              <a:buNone/>
            </a:pPr>
            <a:r>
              <a:rPr lang="en-US" sz="1250" b="1" dirty="0">
                <a:solidFill>
                  <a:srgbClr val="1F2226"/>
                </a:solidFill>
                <a:latin typeface="Arial" pitchFamily="34" charset="0"/>
                <a:ea typeface="Arial" pitchFamily="34" charset="-122"/>
                <a:cs typeface="Arial" pitchFamily="34" charset="-120"/>
              </a:rPr>
              <a:t>명확히 해도 남는 부분이 있는가</a:t>
            </a:r>
            <a:endParaRPr lang="en-US" sz="1250" dirty="0"/>
          </a:p>
          <a:p>
            <a:pPr indent="0" marL="0">
              <a:lnSpc>
                <a:spcPts val="2040"/>
              </a:lnSpc>
              <a:buNone/>
            </a:pPr>
            <a:r>
              <a:rPr lang="en-US" sz="1250" b="1" dirty="0">
                <a:solidFill>
                  <a:srgbClr val="1F2226"/>
                </a:solidFill>
                <a:latin typeface="Arial" pitchFamily="34" charset="0"/>
                <a:ea typeface="Arial" pitchFamily="34" charset="-122"/>
                <a:cs typeface="Arial" pitchFamily="34" charset="-120"/>
              </a:rPr>
              <a:t>— 처방의 유효 범위</a:t>
            </a:r>
            <a:endParaRPr lang="en-US" sz="1250" dirty="0"/>
          </a:p>
        </p:txBody>
      </p:sp>
      <p:sp>
        <p:nvSpPr>
          <p:cNvPr id="42" name="Text 40"/>
          <p:cNvSpPr/>
          <p:nvPr/>
        </p:nvSpPr>
        <p:spPr>
          <a:xfrm>
            <a:off x="2523744" y="7022592"/>
            <a:ext cx="11301984" cy="307238"/>
          </a:xfrm>
          <a:prstGeom prst="rect">
            <a:avLst/>
          </a:prstGeom>
          <a:noFill/>
          <a:ln/>
        </p:spPr>
        <p:txBody>
          <a:bodyPr wrap="square" lIns="0" tIns="0" rIns="0" bIns="0" rtlCol="0" anchor="ctr"/>
          <a:lstStyle/>
          <a:p>
            <a:pPr indent="0" marL="0">
              <a:buNone/>
            </a:pPr>
            <a:r>
              <a:rPr lang="en-US" sz="1200" b="1" dirty="0">
                <a:solidFill>
                  <a:srgbClr val="2A2D31"/>
                </a:solidFill>
                <a:latin typeface="Arial" pitchFamily="34" charset="0"/>
                <a:ea typeface="Arial" pitchFamily="34" charset="-122"/>
                <a:cs typeface="Arial" pitchFamily="34" charset="-120"/>
              </a:rPr>
              <a:t>→   절차 명확화가 어디까지 완화하는지를 조절효과로 확인한다</a:t>
            </a:r>
            <a:endParaRPr lang="en-US" sz="1200" dirty="0"/>
          </a:p>
        </p:txBody>
      </p:sp>
      <p:sp>
        <p:nvSpPr>
          <p:cNvPr id="43" name="Text 41"/>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04 / 07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05.  연구 모델 및 가설</a:t>
            </a:r>
            <a:endParaRPr lang="en-US" sz="2600" dirty="0"/>
          </a:p>
        </p:txBody>
      </p:sp>
      <p:sp>
        <p:nvSpPr>
          <p:cNvPr id="9" name="Shape 7"/>
          <p:cNvSpPr/>
          <p:nvPr/>
        </p:nvSpPr>
        <p:spPr>
          <a:xfrm>
            <a:off x="768096" y="2282342"/>
            <a:ext cx="13112496" cy="614477"/>
          </a:xfrm>
          <a:prstGeom prst="rect">
            <a:avLst/>
          </a:prstGeom>
          <a:solidFill>
            <a:srgbClr val="EDEEF0"/>
          </a:solidFill>
          <a:ln w="12700">
            <a:solidFill>
              <a:srgbClr val="DCDDE0"/>
            </a:solidFill>
            <a:prstDash val="solid"/>
          </a:ln>
        </p:spPr>
      </p:sp>
      <p:sp>
        <p:nvSpPr>
          <p:cNvPr id="10" name="Text 8"/>
          <p:cNvSpPr/>
          <p:nvPr/>
        </p:nvSpPr>
        <p:spPr>
          <a:xfrm>
            <a:off x="1042416" y="2282342"/>
            <a:ext cx="12508992" cy="614477"/>
          </a:xfrm>
          <a:prstGeom prst="rect">
            <a:avLst/>
          </a:prstGeom>
          <a:noFill/>
          <a:ln/>
        </p:spPr>
        <p:txBody>
          <a:bodyPr wrap="square" lIns="0" tIns="0" rIns="0" bIns="0" rtlCol="0" anchor="ctr"/>
          <a:lstStyle/>
          <a:p>
            <a:pPr indent="0" marL="0">
              <a:buNone/>
            </a:pPr>
            <a:r>
              <a:rPr lang="en-US" sz="1450" b="1" dirty="0">
                <a:solidFill>
                  <a:srgbClr val="2A2D31"/>
                </a:solidFill>
                <a:latin typeface="Arial" pitchFamily="34" charset="0"/>
                <a:ea typeface="Arial" pitchFamily="34" charset="-122"/>
                <a:cs typeface="Arial" pitchFamily="34" charset="-120"/>
              </a:rPr>
              <a:t>기여를 가릴 수 없으면 평가를 예측할 수 없고,  예측할 수 없는 평가는 일관되고 정확하다고 판단할 근거를 잃는다</a:t>
            </a:r>
            <a:endParaRPr lang="en-US" sz="1450" dirty="0"/>
          </a:p>
        </p:txBody>
      </p:sp>
      <p:sp>
        <p:nvSpPr>
          <p:cNvPr id="11" name="Text 9"/>
          <p:cNvSpPr/>
          <p:nvPr/>
        </p:nvSpPr>
        <p:spPr>
          <a:xfrm>
            <a:off x="768096" y="2984602"/>
            <a:ext cx="13112496" cy="307238"/>
          </a:xfrm>
          <a:prstGeom prst="rect">
            <a:avLst/>
          </a:prstGeom>
          <a:noFill/>
          <a:ln/>
        </p:spPr>
        <p:txBody>
          <a:bodyPr wrap="square" lIns="0" tIns="0" rIns="0" bIns="0" rtlCol="0" anchor="ctr"/>
          <a:lstStyle/>
          <a:p>
            <a:pPr indent="0" marL="0">
              <a:buNone/>
            </a:pPr>
            <a:r>
              <a:rPr lang="en-US" sz="1050" b="1" dirty="0">
                <a:solidFill>
                  <a:srgbClr val="1F2226"/>
                </a:solidFill>
                <a:latin typeface="Arial" pitchFamily="34" charset="0"/>
                <a:ea typeface="Arial" pitchFamily="34" charset="-122"/>
                <a:cs typeface="Arial" pitchFamily="34" charset="-120"/>
              </a:rPr>
              <a:t>상위 이론  </a:t>
            </a:r>
            <a:pPr indent="0" marL="0">
              <a:buNone/>
            </a:pPr>
            <a:r>
              <a:rPr lang="en-US" sz="1050" dirty="0">
                <a:solidFill>
                  <a:srgbClr val="70757C"/>
                </a:solidFill>
                <a:latin typeface="Arial" pitchFamily="34" charset="0"/>
                <a:ea typeface="Arial" pitchFamily="34" charset="-122"/>
                <a:cs typeface="Arial" pitchFamily="34" charset="-120"/>
              </a:rPr>
              <a:t>조직공정성 (Leventhal 1980 · Colquitt 2001) — 무엇을 보고 공정하다고 판단하는가</a:t>
            </a:r>
            <a:pPr indent="0" marL="0">
              <a:buNone/>
            </a:pPr>
            <a:r>
              <a:rPr lang="en-US" sz="1050" b="1" dirty="0">
                <a:solidFill>
                  <a:srgbClr val="1F2226"/>
                </a:solidFill>
                <a:latin typeface="Arial" pitchFamily="34" charset="0"/>
                <a:ea typeface="Arial" pitchFamily="34" charset="-122"/>
                <a:cs typeface="Arial" pitchFamily="34" charset="-120"/>
              </a:rPr>
              <a:t>        발생 기제  </a:t>
            </a:r>
            <a:pPr indent="0" marL="0">
              <a:buNone/>
            </a:pPr>
            <a:r>
              <a:rPr lang="en-US" sz="1050" dirty="0">
                <a:solidFill>
                  <a:srgbClr val="70757C"/>
                </a:solidFill>
                <a:latin typeface="Arial" pitchFamily="34" charset="0"/>
                <a:ea typeface="Arial" pitchFamily="34" charset="-122"/>
                <a:cs typeface="Arial" pitchFamily="34" charset="-120"/>
              </a:rPr>
              <a:t>귀인이론 기대원리 (Weiner 1985) — 왜 예측할 수 없게 되는가</a:t>
            </a:r>
            <a:endParaRPr lang="en-US" sz="1050" dirty="0"/>
          </a:p>
        </p:txBody>
      </p:sp>
      <p:sp>
        <p:nvSpPr>
          <p:cNvPr id="12" name="Text 10"/>
          <p:cNvSpPr/>
          <p:nvPr/>
        </p:nvSpPr>
        <p:spPr>
          <a:xfrm>
            <a:off x="768096" y="3313786"/>
            <a:ext cx="3511296"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연구 모형 】</a:t>
            </a:r>
            <a:endParaRPr lang="en-US" sz="1300" dirty="0"/>
          </a:p>
        </p:txBody>
      </p:sp>
      <p:sp>
        <p:nvSpPr>
          <p:cNvPr id="13" name="Shape 11"/>
          <p:cNvSpPr/>
          <p:nvPr/>
        </p:nvSpPr>
        <p:spPr>
          <a:xfrm>
            <a:off x="1426464" y="4367174"/>
            <a:ext cx="2743200" cy="965606"/>
          </a:xfrm>
          <a:prstGeom prst="rect">
            <a:avLst/>
          </a:prstGeom>
          <a:solidFill>
            <a:srgbClr val="FFFFFF"/>
          </a:solidFill>
          <a:ln w="15875">
            <a:solidFill>
              <a:srgbClr val="1F2226"/>
            </a:solidFill>
            <a:prstDash val="solid"/>
          </a:ln>
        </p:spPr>
      </p:sp>
      <p:sp>
        <p:nvSpPr>
          <p:cNvPr id="14" name="Text 12"/>
          <p:cNvSpPr/>
          <p:nvPr/>
        </p:nvSpPr>
        <p:spPr>
          <a:xfrm>
            <a:off x="1426464" y="4367174"/>
            <a:ext cx="2743200" cy="965606"/>
          </a:xfrm>
          <a:prstGeom prst="rect">
            <a:avLst/>
          </a:prstGeom>
          <a:noFill/>
          <a:ln/>
        </p:spPr>
        <p:txBody>
          <a:bodyPr wrap="square" lIns="0" tIns="0" rIns="0" bIns="0" rtlCol="0" anchor="ctr"/>
          <a:lstStyle/>
          <a:p>
            <a:pPr algn="ctr" indent="0" marL="0">
              <a:lnSpc>
                <a:spcPts val="2280"/>
              </a:lnSpc>
              <a:buNone/>
            </a:pPr>
            <a:r>
              <a:rPr lang="en-US" sz="1400" b="1" dirty="0">
                <a:solidFill>
                  <a:srgbClr val="1F2226"/>
                </a:solidFill>
                <a:latin typeface="Arial" pitchFamily="34" charset="0"/>
                <a:ea typeface="Arial" pitchFamily="34" charset="-122"/>
                <a:cs typeface="Arial" pitchFamily="34" charset="-120"/>
              </a:rPr>
              <a:t>성과 기여</a:t>
            </a:r>
            <a:endParaRPr lang="en-US" sz="1400" dirty="0"/>
          </a:p>
          <a:p>
            <a:pPr algn="ctr" indent="0" marL="0">
              <a:lnSpc>
                <a:spcPts val="2280"/>
              </a:lnSpc>
              <a:buNone/>
            </a:pPr>
            <a:r>
              <a:rPr lang="en-US" sz="1400" b="1" dirty="0">
                <a:solidFill>
                  <a:srgbClr val="1F2226"/>
                </a:solidFill>
                <a:latin typeface="Arial" pitchFamily="34" charset="0"/>
                <a:ea typeface="Arial" pitchFamily="34" charset="-122"/>
                <a:cs typeface="Arial" pitchFamily="34" charset="-120"/>
              </a:rPr>
              <a:t>귀속 모호성</a:t>
            </a:r>
            <a:endParaRPr lang="en-US" sz="1400" dirty="0"/>
          </a:p>
        </p:txBody>
      </p:sp>
      <p:sp>
        <p:nvSpPr>
          <p:cNvPr id="15" name="Text 13"/>
          <p:cNvSpPr/>
          <p:nvPr/>
        </p:nvSpPr>
        <p:spPr>
          <a:xfrm>
            <a:off x="1426464" y="5376672"/>
            <a:ext cx="2743200" cy="263347"/>
          </a:xfrm>
          <a:prstGeom prst="rect">
            <a:avLst/>
          </a:prstGeom>
          <a:noFill/>
          <a:ln/>
        </p:spPr>
        <p:txBody>
          <a:bodyPr wrap="square" lIns="0" tIns="0" rIns="0" bIns="0" rtlCol="0" anchor="ctr"/>
          <a:lstStyle/>
          <a:p>
            <a:pPr algn="ctr" indent="0" marL="0">
              <a:buNone/>
            </a:pPr>
            <a:r>
              <a:rPr lang="en-US" sz="950" dirty="0">
                <a:solidFill>
                  <a:srgbClr val="70757C"/>
                </a:solidFill>
                <a:latin typeface="Arial" pitchFamily="34" charset="0"/>
                <a:ea typeface="Arial" pitchFamily="34" charset="-122"/>
                <a:cs typeface="Arial" pitchFamily="34" charset="-120"/>
              </a:rPr>
              <a:t>IV · 조작 · 무작위 배정</a:t>
            </a:r>
            <a:endParaRPr lang="en-US" sz="950" dirty="0"/>
          </a:p>
        </p:txBody>
      </p:sp>
      <p:sp>
        <p:nvSpPr>
          <p:cNvPr id="16" name="Shape 14"/>
          <p:cNvSpPr/>
          <p:nvPr/>
        </p:nvSpPr>
        <p:spPr>
          <a:xfrm>
            <a:off x="5815584" y="4367174"/>
            <a:ext cx="2743200" cy="965606"/>
          </a:xfrm>
          <a:prstGeom prst="rect">
            <a:avLst/>
          </a:prstGeom>
          <a:solidFill>
            <a:srgbClr val="FFFFFF"/>
          </a:solidFill>
          <a:ln w="15875">
            <a:solidFill>
              <a:srgbClr val="1F2226"/>
            </a:solidFill>
            <a:prstDash val="solid"/>
          </a:ln>
        </p:spPr>
      </p:sp>
      <p:sp>
        <p:nvSpPr>
          <p:cNvPr id="17" name="Text 15"/>
          <p:cNvSpPr/>
          <p:nvPr/>
        </p:nvSpPr>
        <p:spPr>
          <a:xfrm>
            <a:off x="5815584" y="4367174"/>
            <a:ext cx="2743200" cy="965606"/>
          </a:xfrm>
          <a:prstGeom prst="rect">
            <a:avLst/>
          </a:prstGeom>
          <a:noFill/>
          <a:ln/>
        </p:spPr>
        <p:txBody>
          <a:bodyPr wrap="square" lIns="0" tIns="0" rIns="0" bIns="0" rtlCol="0" anchor="ctr"/>
          <a:lstStyle/>
          <a:p>
            <a:pPr algn="ctr" indent="0" marL="0">
              <a:lnSpc>
                <a:spcPts val="2280"/>
              </a:lnSpc>
              <a:buNone/>
            </a:pPr>
            <a:r>
              <a:rPr lang="en-US" sz="1400" b="1" dirty="0">
                <a:solidFill>
                  <a:srgbClr val="1F2226"/>
                </a:solidFill>
                <a:latin typeface="Arial" pitchFamily="34" charset="0"/>
                <a:ea typeface="Arial" pitchFamily="34" charset="-122"/>
                <a:cs typeface="Arial" pitchFamily="34" charset="-120"/>
              </a:rPr>
              <a:t>지각된</a:t>
            </a:r>
            <a:endParaRPr lang="en-US" sz="1400" dirty="0"/>
          </a:p>
          <a:p>
            <a:pPr algn="ctr" indent="0" marL="0">
              <a:lnSpc>
                <a:spcPts val="2280"/>
              </a:lnSpc>
              <a:buNone/>
            </a:pPr>
            <a:r>
              <a:rPr lang="en-US" sz="1400" b="1" dirty="0">
                <a:solidFill>
                  <a:srgbClr val="1F2226"/>
                </a:solidFill>
                <a:latin typeface="Arial" pitchFamily="34" charset="0"/>
                <a:ea typeface="Arial" pitchFamily="34" charset="-122"/>
                <a:cs typeface="Arial" pitchFamily="34" charset="-120"/>
              </a:rPr>
              <a:t>평가 불확실성</a:t>
            </a:r>
            <a:endParaRPr lang="en-US" sz="1400" dirty="0"/>
          </a:p>
        </p:txBody>
      </p:sp>
      <p:sp>
        <p:nvSpPr>
          <p:cNvPr id="18" name="Text 16"/>
          <p:cNvSpPr/>
          <p:nvPr/>
        </p:nvSpPr>
        <p:spPr>
          <a:xfrm>
            <a:off x="5815584" y="5376672"/>
            <a:ext cx="2743200" cy="263347"/>
          </a:xfrm>
          <a:prstGeom prst="rect">
            <a:avLst/>
          </a:prstGeom>
          <a:noFill/>
          <a:ln/>
        </p:spPr>
        <p:txBody>
          <a:bodyPr wrap="square" lIns="0" tIns="0" rIns="0" bIns="0" rtlCol="0" anchor="ctr"/>
          <a:lstStyle/>
          <a:p>
            <a:pPr algn="ctr" indent="0" marL="0">
              <a:buNone/>
            </a:pPr>
            <a:r>
              <a:rPr lang="en-US" sz="950" dirty="0">
                <a:solidFill>
                  <a:srgbClr val="70757C"/>
                </a:solidFill>
                <a:latin typeface="Arial" pitchFamily="34" charset="0"/>
                <a:ea typeface="Arial" pitchFamily="34" charset="-122"/>
                <a:cs typeface="Arial" pitchFamily="34" charset="-120"/>
              </a:rPr>
              <a:t>MV · 측정</a:t>
            </a:r>
            <a:endParaRPr lang="en-US" sz="950" dirty="0"/>
          </a:p>
        </p:txBody>
      </p:sp>
      <p:sp>
        <p:nvSpPr>
          <p:cNvPr id="19" name="Shape 17"/>
          <p:cNvSpPr/>
          <p:nvPr/>
        </p:nvSpPr>
        <p:spPr>
          <a:xfrm>
            <a:off x="10204704" y="4367174"/>
            <a:ext cx="2743200" cy="965606"/>
          </a:xfrm>
          <a:prstGeom prst="rect">
            <a:avLst/>
          </a:prstGeom>
          <a:solidFill>
            <a:srgbClr val="FFFFFF"/>
          </a:solidFill>
          <a:ln w="15875">
            <a:solidFill>
              <a:srgbClr val="1F2226"/>
            </a:solidFill>
            <a:prstDash val="solid"/>
          </a:ln>
        </p:spPr>
      </p:sp>
      <p:sp>
        <p:nvSpPr>
          <p:cNvPr id="20" name="Text 18"/>
          <p:cNvSpPr/>
          <p:nvPr/>
        </p:nvSpPr>
        <p:spPr>
          <a:xfrm>
            <a:off x="10204704" y="4367174"/>
            <a:ext cx="2743200" cy="965606"/>
          </a:xfrm>
          <a:prstGeom prst="rect">
            <a:avLst/>
          </a:prstGeom>
          <a:noFill/>
          <a:ln/>
        </p:spPr>
        <p:txBody>
          <a:bodyPr wrap="square" lIns="0" tIns="0" rIns="0" bIns="0" rtlCol="0" anchor="ctr"/>
          <a:lstStyle/>
          <a:p>
            <a:pPr algn="ctr" indent="0" marL="0">
              <a:lnSpc>
                <a:spcPts val="2280"/>
              </a:lnSpc>
              <a:buNone/>
            </a:pPr>
            <a:r>
              <a:rPr lang="en-US" sz="1400" b="1" dirty="0">
                <a:solidFill>
                  <a:srgbClr val="1F2226"/>
                </a:solidFill>
                <a:latin typeface="Arial" pitchFamily="34" charset="0"/>
                <a:ea typeface="Arial" pitchFamily="34" charset="-122"/>
                <a:cs typeface="Arial" pitchFamily="34" charset="-120"/>
              </a:rPr>
              <a:t>절차공정성</a:t>
            </a:r>
            <a:endParaRPr lang="en-US" sz="1400" dirty="0"/>
          </a:p>
          <a:p>
            <a:pPr algn="ctr" indent="0" marL="0">
              <a:lnSpc>
                <a:spcPts val="2280"/>
              </a:lnSpc>
              <a:buNone/>
            </a:pPr>
            <a:r>
              <a:rPr lang="en-US" sz="1400" b="1" dirty="0">
                <a:solidFill>
                  <a:srgbClr val="1F2226"/>
                </a:solidFill>
                <a:latin typeface="Arial" pitchFamily="34" charset="0"/>
                <a:ea typeface="Arial" pitchFamily="34" charset="-122"/>
                <a:cs typeface="Arial" pitchFamily="34" charset="-120"/>
              </a:rPr>
              <a:t>지각</a:t>
            </a:r>
            <a:endParaRPr lang="en-US" sz="1400" dirty="0"/>
          </a:p>
        </p:txBody>
      </p:sp>
      <p:sp>
        <p:nvSpPr>
          <p:cNvPr id="21" name="Text 19"/>
          <p:cNvSpPr/>
          <p:nvPr/>
        </p:nvSpPr>
        <p:spPr>
          <a:xfrm>
            <a:off x="10204704" y="5376672"/>
            <a:ext cx="2743200" cy="263347"/>
          </a:xfrm>
          <a:prstGeom prst="rect">
            <a:avLst/>
          </a:prstGeom>
          <a:noFill/>
          <a:ln/>
        </p:spPr>
        <p:txBody>
          <a:bodyPr wrap="square" lIns="0" tIns="0" rIns="0" bIns="0" rtlCol="0" anchor="ctr"/>
          <a:lstStyle/>
          <a:p>
            <a:pPr algn="ctr" indent="0" marL="0">
              <a:buNone/>
            </a:pPr>
            <a:r>
              <a:rPr lang="en-US" sz="950" dirty="0">
                <a:solidFill>
                  <a:srgbClr val="70757C"/>
                </a:solidFill>
                <a:latin typeface="Arial" pitchFamily="34" charset="0"/>
                <a:ea typeface="Arial" pitchFamily="34" charset="-122"/>
                <a:cs typeface="Arial" pitchFamily="34" charset="-120"/>
              </a:rPr>
              <a:t>DV · 측정</a:t>
            </a:r>
            <a:endParaRPr lang="en-US" sz="950" dirty="0"/>
          </a:p>
        </p:txBody>
      </p:sp>
      <p:sp>
        <p:nvSpPr>
          <p:cNvPr id="22" name="Shape 20"/>
          <p:cNvSpPr/>
          <p:nvPr/>
        </p:nvSpPr>
        <p:spPr>
          <a:xfrm>
            <a:off x="4301338" y="4849978"/>
            <a:ext cx="1382573" cy="0"/>
          </a:xfrm>
          <a:prstGeom prst="line">
            <a:avLst/>
          </a:prstGeom>
          <a:noFill/>
          <a:ln w="19050">
            <a:solidFill>
              <a:srgbClr val="1F2226"/>
            </a:solidFill>
            <a:prstDash val="solid"/>
            <a:tailEnd type="triangle"/>
          </a:ln>
        </p:spPr>
      </p:sp>
      <p:sp>
        <p:nvSpPr>
          <p:cNvPr id="23" name="Text 21"/>
          <p:cNvSpPr/>
          <p:nvPr/>
        </p:nvSpPr>
        <p:spPr>
          <a:xfrm>
            <a:off x="4992624" y="4411066"/>
            <a:ext cx="1382573" cy="307238"/>
          </a:xfrm>
          <a:prstGeom prst="rect">
            <a:avLst/>
          </a:prstGeom>
          <a:noFill/>
          <a:ln/>
        </p:spPr>
        <p:txBody>
          <a:bodyPr wrap="square" lIns="0" tIns="0" rIns="0" bIns="0" rtlCol="0" anchor="ctr"/>
          <a:lstStyle/>
          <a:p>
            <a:pPr algn="l" indent="0" marL="0">
              <a:buNone/>
            </a:pPr>
            <a:r>
              <a:rPr lang="en-US" sz="1150" b="1" dirty="0">
                <a:solidFill>
                  <a:srgbClr val="1F2226"/>
                </a:solidFill>
                <a:latin typeface="Arial" pitchFamily="34" charset="0"/>
                <a:ea typeface="Arial" pitchFamily="34" charset="-122"/>
                <a:cs typeface="Arial" pitchFamily="34" charset="-120"/>
              </a:rPr>
              <a:t>H1</a:t>
            </a:r>
            <a:endParaRPr lang="en-US" sz="1150" dirty="0"/>
          </a:p>
        </p:txBody>
      </p:sp>
      <p:sp>
        <p:nvSpPr>
          <p:cNvPr id="24" name="Shape 22"/>
          <p:cNvSpPr/>
          <p:nvPr/>
        </p:nvSpPr>
        <p:spPr>
          <a:xfrm>
            <a:off x="8690458" y="4849978"/>
            <a:ext cx="1382573" cy="0"/>
          </a:xfrm>
          <a:prstGeom prst="line">
            <a:avLst/>
          </a:prstGeom>
          <a:noFill/>
          <a:ln w="19050">
            <a:solidFill>
              <a:srgbClr val="1F2226"/>
            </a:solidFill>
            <a:prstDash val="solid"/>
            <a:tailEnd type="triangle"/>
          </a:ln>
        </p:spPr>
      </p:sp>
      <p:sp>
        <p:nvSpPr>
          <p:cNvPr id="25" name="Text 23"/>
          <p:cNvSpPr/>
          <p:nvPr/>
        </p:nvSpPr>
        <p:spPr>
          <a:xfrm>
            <a:off x="8690458" y="4411066"/>
            <a:ext cx="1382573" cy="307238"/>
          </a:xfrm>
          <a:prstGeom prst="rect">
            <a:avLst/>
          </a:prstGeom>
          <a:noFill/>
          <a:ln/>
        </p:spPr>
        <p:txBody>
          <a:bodyPr wrap="square" lIns="0" tIns="0" rIns="0" bIns="0" rtlCol="0" anchor="ctr"/>
          <a:lstStyle/>
          <a:p>
            <a:pPr algn="ctr" indent="0" marL="0">
              <a:buNone/>
            </a:pPr>
            <a:r>
              <a:rPr lang="en-US" sz="1150" b="1" dirty="0">
                <a:solidFill>
                  <a:srgbClr val="1F2226"/>
                </a:solidFill>
                <a:latin typeface="Arial" pitchFamily="34" charset="0"/>
                <a:ea typeface="Arial" pitchFamily="34" charset="-122"/>
                <a:cs typeface="Arial" pitchFamily="34" charset="-120"/>
              </a:rPr>
              <a:t>H2</a:t>
            </a:r>
            <a:endParaRPr lang="en-US" sz="1150" dirty="0"/>
          </a:p>
        </p:txBody>
      </p:sp>
      <p:sp>
        <p:nvSpPr>
          <p:cNvPr id="26" name="Shape 24"/>
          <p:cNvSpPr/>
          <p:nvPr/>
        </p:nvSpPr>
        <p:spPr>
          <a:xfrm>
            <a:off x="3621024" y="3511296"/>
            <a:ext cx="2743200" cy="482803"/>
          </a:xfrm>
          <a:prstGeom prst="rect">
            <a:avLst/>
          </a:prstGeom>
          <a:solidFill>
            <a:srgbClr val="FFFFFF"/>
          </a:solidFill>
          <a:ln w="19050">
            <a:solidFill>
              <a:srgbClr val="1F2226"/>
            </a:solidFill>
            <a:prstDash val="solid"/>
          </a:ln>
        </p:spPr>
      </p:sp>
      <p:sp>
        <p:nvSpPr>
          <p:cNvPr id="27" name="Text 25"/>
          <p:cNvSpPr/>
          <p:nvPr/>
        </p:nvSpPr>
        <p:spPr>
          <a:xfrm>
            <a:off x="3621024" y="3511296"/>
            <a:ext cx="2743200" cy="482803"/>
          </a:xfrm>
          <a:prstGeom prst="rect">
            <a:avLst/>
          </a:prstGeom>
          <a:noFill/>
          <a:ln/>
        </p:spPr>
        <p:txBody>
          <a:bodyPr wrap="square" lIns="0" tIns="0" rIns="0" bIns="0" rtlCol="0" anchor="ctr"/>
          <a:lstStyle/>
          <a:p>
            <a:pPr algn="ctr" indent="0" marL="0">
              <a:buNone/>
            </a:pPr>
            <a:r>
              <a:rPr lang="en-US" sz="1050" b="1" dirty="0">
                <a:solidFill>
                  <a:srgbClr val="1F2226"/>
                </a:solidFill>
                <a:latin typeface="Arial" pitchFamily="34" charset="0"/>
                <a:ea typeface="Arial" pitchFamily="34" charset="-122"/>
                <a:cs typeface="Arial" pitchFamily="34" charset="-120"/>
              </a:rPr>
              <a:t>평가 절차 명확성  MOD</a:t>
            </a:r>
            <a:endParaRPr lang="en-US" sz="1050" dirty="0"/>
          </a:p>
        </p:txBody>
      </p:sp>
      <p:sp>
        <p:nvSpPr>
          <p:cNvPr id="28" name="Shape 26"/>
          <p:cNvSpPr/>
          <p:nvPr/>
        </p:nvSpPr>
        <p:spPr>
          <a:xfrm>
            <a:off x="4992624" y="3994099"/>
            <a:ext cx="0" cy="855878"/>
          </a:xfrm>
          <a:prstGeom prst="line">
            <a:avLst/>
          </a:prstGeom>
          <a:noFill/>
          <a:ln w="22225">
            <a:solidFill>
              <a:srgbClr val="1F2226"/>
            </a:solidFill>
            <a:prstDash val="solid"/>
            <a:tailEnd type="triangle"/>
          </a:ln>
        </p:spPr>
      </p:sp>
      <p:sp>
        <p:nvSpPr>
          <p:cNvPr id="29" name="Text 27"/>
          <p:cNvSpPr/>
          <p:nvPr/>
        </p:nvSpPr>
        <p:spPr>
          <a:xfrm>
            <a:off x="4301338" y="4235501"/>
            <a:ext cx="603504" cy="285293"/>
          </a:xfrm>
          <a:prstGeom prst="rect">
            <a:avLst/>
          </a:prstGeom>
          <a:noFill/>
          <a:ln/>
        </p:spPr>
        <p:txBody>
          <a:bodyPr wrap="square" lIns="0" tIns="0" rIns="0" bIns="0" rtlCol="0" anchor="ctr"/>
          <a:lstStyle/>
          <a:p>
            <a:pPr algn="r" indent="0" marL="0">
              <a:buNone/>
            </a:pPr>
            <a:r>
              <a:rPr lang="en-US" sz="1150" b="1" dirty="0">
                <a:solidFill>
                  <a:srgbClr val="1F2226"/>
                </a:solidFill>
                <a:latin typeface="Arial" pitchFamily="34" charset="0"/>
                <a:ea typeface="Arial" pitchFamily="34" charset="-122"/>
                <a:cs typeface="Arial" pitchFamily="34" charset="-120"/>
              </a:rPr>
              <a:t>H4</a:t>
            </a:r>
            <a:endParaRPr lang="en-US" sz="1150" dirty="0"/>
          </a:p>
        </p:txBody>
      </p:sp>
      <p:sp>
        <p:nvSpPr>
          <p:cNvPr id="30" name="Text 28"/>
          <p:cNvSpPr/>
          <p:nvPr/>
        </p:nvSpPr>
        <p:spPr>
          <a:xfrm>
            <a:off x="6528816" y="3599078"/>
            <a:ext cx="2194560" cy="263347"/>
          </a:xfrm>
          <a:prstGeom prst="rect">
            <a:avLst/>
          </a:prstGeom>
          <a:noFill/>
          <a:ln/>
        </p:spPr>
        <p:txBody>
          <a:bodyPr wrap="square" lIns="0" tIns="0" rIns="0" bIns="0" rtlCol="0" anchor="ctr"/>
          <a:lstStyle/>
          <a:p>
            <a:pPr indent="0" marL="0">
              <a:buNone/>
            </a:pPr>
            <a:r>
              <a:rPr lang="en-US" sz="950" dirty="0">
                <a:solidFill>
                  <a:srgbClr val="70757C"/>
                </a:solidFill>
                <a:latin typeface="Arial" pitchFamily="34" charset="0"/>
                <a:ea typeface="Arial" pitchFamily="34" charset="-122"/>
                <a:cs typeface="Arial" pitchFamily="34" charset="-120"/>
              </a:rPr>
              <a:t>PROCESS Model 7</a:t>
            </a:r>
            <a:endParaRPr lang="en-US" sz="950" dirty="0"/>
          </a:p>
        </p:txBody>
      </p:sp>
      <p:sp>
        <p:nvSpPr>
          <p:cNvPr id="31" name="Shape 29"/>
          <p:cNvSpPr/>
          <p:nvPr/>
        </p:nvSpPr>
        <p:spPr>
          <a:xfrm>
            <a:off x="2798064" y="5749747"/>
            <a:ext cx="9052560" cy="0"/>
          </a:xfrm>
          <a:prstGeom prst="line">
            <a:avLst/>
          </a:prstGeom>
          <a:noFill/>
          <a:ln w="12700">
            <a:solidFill>
              <a:srgbClr val="70757C"/>
            </a:solidFill>
            <a:prstDash val="sysDot"/>
          </a:ln>
        </p:spPr>
      </p:sp>
      <p:sp>
        <p:nvSpPr>
          <p:cNvPr id="32" name="Text 30"/>
          <p:cNvSpPr/>
          <p:nvPr/>
        </p:nvSpPr>
        <p:spPr>
          <a:xfrm>
            <a:off x="5376672" y="5793638"/>
            <a:ext cx="3950208" cy="285293"/>
          </a:xfrm>
          <a:prstGeom prst="rect">
            <a:avLst/>
          </a:prstGeom>
          <a:noFill/>
          <a:ln/>
        </p:spPr>
        <p:txBody>
          <a:bodyPr wrap="square" lIns="0" tIns="0" rIns="0" bIns="0" rtlCol="0" anchor="ctr"/>
          <a:lstStyle/>
          <a:p>
            <a:pPr algn="ctr" indent="0" marL="0">
              <a:buNone/>
            </a:pPr>
            <a:r>
              <a:rPr lang="en-US" sz="1050" dirty="0">
                <a:solidFill>
                  <a:srgbClr val="70757C"/>
                </a:solidFill>
                <a:latin typeface="Arial" pitchFamily="34" charset="0"/>
                <a:ea typeface="Arial" pitchFamily="34" charset="-122"/>
                <a:cs typeface="Arial" pitchFamily="34" charset="-120"/>
              </a:rPr>
              <a:t>H3  매개 (간접효과)</a:t>
            </a:r>
            <a:endParaRPr lang="en-US" sz="1050" dirty="0"/>
          </a:p>
        </p:txBody>
      </p:sp>
      <p:sp>
        <p:nvSpPr>
          <p:cNvPr id="33" name="Text 31"/>
          <p:cNvSpPr/>
          <p:nvPr/>
        </p:nvSpPr>
        <p:spPr>
          <a:xfrm>
            <a:off x="768096" y="6100877"/>
            <a:ext cx="3511296"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연구 가설 】</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68096" y="6320333"/>
          <a:ext cx="13112496" cy="914400"/>
        </p:xfrm>
        <a:graphic>
          <a:graphicData uri="http://schemas.openxmlformats.org/drawingml/2006/table">
            <a:tbl>
              <a:tblPr/>
              <a:tblGrid>
                <a:gridCol w="790042"/>
                <a:gridCol w="7626096"/>
                <a:gridCol w="4696358"/>
              </a:tblGrid>
              <a:tr h="296266">
                <a:tc>
                  <a:txBody>
                    <a:bodyPr/>
                    <a:lstStyle/>
                    <a:p>
                      <a:pPr indent="0" marL="0">
                        <a:buNone/>
                      </a:pPr>
                      <a:r>
                        <a:rPr lang="en-US" sz="1200" b="1" dirty="0">
                          <a:solidFill>
                            <a:srgbClr val="1F2226"/>
                          </a:solidFill>
                          <a:latin typeface="Arial" pitchFamily="34" charset="0"/>
                          <a:ea typeface="Arial" pitchFamily="34" charset="-122"/>
                          <a:cs typeface="Arial" pitchFamily="34" charset="-120"/>
                        </a:rPr>
                        <a:t>H1</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귀속 모호성이 높을수록 지각된 평가 불확실성이 높아질 것이다</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expectancy principle (Weiner, 1985, p.549)</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296266">
                <a:tc>
                  <a:txBody>
                    <a:bodyPr/>
                    <a:lstStyle/>
                    <a:p>
                      <a:pPr indent="0" marL="0">
                        <a:buNone/>
                      </a:pPr>
                      <a:r>
                        <a:rPr lang="en-US" sz="1200" b="1" dirty="0">
                          <a:solidFill>
                            <a:srgbClr val="1F2226"/>
                          </a:solidFill>
                          <a:latin typeface="Arial" pitchFamily="34" charset="0"/>
                          <a:ea typeface="Arial" pitchFamily="34" charset="-122"/>
                          <a:cs typeface="Arial" pitchFamily="34" charset="-120"/>
                        </a:rPr>
                        <a:t>H2</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지각된 평가 불확실성이 높을수록 절차공정성 지각이 낮아질 것이다</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procedural rules — consistency · accuracy (Leventhal, 1980)</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296266">
                <a:tc>
                  <a:txBody>
                    <a:bodyPr/>
                    <a:lstStyle/>
                    <a:p>
                      <a:pPr indent="0" marL="0">
                        <a:buNone/>
                      </a:pPr>
                      <a:r>
                        <a:rPr lang="en-US" sz="1200" b="1" dirty="0">
                          <a:solidFill>
                            <a:srgbClr val="1F2226"/>
                          </a:solidFill>
                          <a:latin typeface="Arial" pitchFamily="34" charset="0"/>
                          <a:ea typeface="Arial" pitchFamily="34" charset="-122"/>
                          <a:cs typeface="Arial" pitchFamily="34" charset="-120"/>
                        </a:rPr>
                        <a:t>H3</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귀속 모호성의 영향은 평가 불확실성에 의해 매개될 것이다</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H1 + H2 연쇄</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296266">
                <a:tc>
                  <a:txBody>
                    <a:bodyPr/>
                    <a:lstStyle/>
                    <a:p>
                      <a:pPr indent="0" marL="0">
                        <a:buNone/>
                      </a:pPr>
                      <a:r>
                        <a:rPr lang="en-US" sz="1200" b="1" dirty="0">
                          <a:solidFill>
                            <a:srgbClr val="1F2226"/>
                          </a:solidFill>
                          <a:latin typeface="Arial" pitchFamily="34" charset="0"/>
                          <a:ea typeface="Arial" pitchFamily="34" charset="-122"/>
                          <a:cs typeface="Arial" pitchFamily="34" charset="-120"/>
                        </a:rPr>
                        <a:t>H4</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평가 절차 명확성이 높을수록 귀속 모호성이 평가 불확실성을 높이는 관계가 완화될 것이다</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200" dirty="0">
                          <a:solidFill>
                            <a:srgbClr val="1F2226"/>
                          </a:solidFill>
                          <a:latin typeface="Arial" pitchFamily="34" charset="0"/>
                          <a:ea typeface="Arial" pitchFamily="34" charset="-122"/>
                          <a:cs typeface="Arial" pitchFamily="34" charset="-120"/>
                        </a:rPr>
                        <a:t>완화 근거 — Erdogan(2002) 등  ·  Model 7</a:t>
                      </a:r>
                      <a:endParaRPr lang="en-US" sz="120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bl>
          </a:graphicData>
        </a:graphic>
      </p:graphicFrame>
      <p:sp>
        <p:nvSpPr>
          <p:cNvPr id="35" name="Text 32"/>
          <p:cNvSpPr/>
          <p:nvPr/>
        </p:nvSpPr>
        <p:spPr>
          <a:xfrm>
            <a:off x="768096" y="7593178"/>
            <a:ext cx="11521440" cy="285293"/>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조절변수를 측정으로 둘 것인가 시나리오에서 조작할 것인가는 사전 검정력 분석 결과에 따라 조정할 계획이다</a:t>
            </a:r>
            <a:endParaRPr lang="en-US" sz="1050" dirty="0"/>
          </a:p>
        </p:txBody>
      </p:sp>
      <p:sp>
        <p:nvSpPr>
          <p:cNvPr id="36" name="Text 33"/>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05 / 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06.  연구 방법</a:t>
            </a:r>
            <a:endParaRPr lang="en-US" sz="2600" dirty="0"/>
          </a:p>
        </p:txBody>
      </p:sp>
      <p:sp>
        <p:nvSpPr>
          <p:cNvPr id="9" name="Text 7"/>
          <p:cNvSpPr/>
          <p:nvPr/>
        </p:nvSpPr>
        <p:spPr>
          <a:xfrm>
            <a:off x="768096" y="2304288"/>
            <a:ext cx="13112496"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설계 및 측정 】</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68096" y="2699309"/>
          <a:ext cx="13112496" cy="914400"/>
        </p:xfrm>
        <a:graphic>
          <a:graphicData uri="http://schemas.openxmlformats.org/drawingml/2006/table">
            <a:tbl>
              <a:tblPr/>
              <a:tblGrid>
                <a:gridCol w="3291840"/>
                <a:gridCol w="6441034"/>
                <a:gridCol w="3379622"/>
              </a:tblGrid>
              <a:tr h="504749">
                <a:tc>
                  <a:txBody>
                    <a:bodyPr/>
                    <a:lstStyle/>
                    <a:p>
                      <a:pPr indent="0" marL="0">
                        <a:buNone/>
                      </a:pPr>
                      <a:r>
                        <a:rPr lang="en-US" sz="1150" b="1" dirty="0">
                          <a:solidFill>
                            <a:srgbClr val="1F2226"/>
                          </a:solidFill>
                          <a:latin typeface="Arial" pitchFamily="34" charset="0"/>
                          <a:ea typeface="Arial" pitchFamily="34" charset="-122"/>
                          <a:cs typeface="Arial" pitchFamily="34" charset="-120"/>
                        </a:rPr>
                        <a:t>구분</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226"/>
                          </a:solidFill>
                          <a:latin typeface="Arial" pitchFamily="34" charset="0"/>
                          <a:ea typeface="Arial" pitchFamily="34" charset="-122"/>
                          <a:cs typeface="Arial" pitchFamily="34" charset="-120"/>
                        </a:rPr>
                        <a:t>내용</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226"/>
                          </a:solidFill>
                          <a:latin typeface="Arial" pitchFamily="34" charset="0"/>
                          <a:ea typeface="Arial" pitchFamily="34" charset="-122"/>
                          <a:cs typeface="Arial" pitchFamily="34" charset="-120"/>
                        </a:rPr>
                        <a:t>비고</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설계</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시나리오 실험 · 2조건 무작위 배정 · 응답자는 한 조건만 열람</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가상 조직 앵커 고정</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IV  성과 기여 귀속 모호성</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조작 — 조작 축은 「기여를 식별할 수 있는가」</a:t>
                      </a:r>
                      <a:endParaRPr lang="en-US" sz="1150" dirty="0">
                        <a:latin typeface="Arial" charset="0"/>
                        <a:ea typeface="Arial" charset="0"/>
                        <a:cs typeface="Arial" charset="0"/>
                      </a:endParaRPr>
                    </a:p>
                    <a:p>
                      <a:pPr indent="0" marL="0">
                        <a:buNone/>
                      </a:pPr>
                      <a:r>
                        <a:rPr lang="en-US" sz="1150" dirty="0">
                          <a:solidFill>
                            <a:srgbClr val="1F2226"/>
                          </a:solidFill>
                          <a:latin typeface="Arial" pitchFamily="34" charset="0"/>
                          <a:ea typeface="Arial" pitchFamily="34" charset="-122"/>
                          <a:cs typeface="Arial" pitchFamily="34" charset="-120"/>
                        </a:rPr>
                        <a:t>산출물·품질은 동일, AI 산출물 처리 방식만 상이</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manipulation check 4문항</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MV  지각된 평가 불확실성</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측정 4문항</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Rizzo(1970) role ambiguity 정의 ⑴ 복원</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DV  절차공정성 지각</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측정 3문항 — 일관성 1 + 편향 억제 2</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N&amp;M(1993) formal procedures</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MOD  평가 절차 명확성</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측정 4문항 — a경로(IV→MV) 조절</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문항 재설계 · 조작화 검토 중</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통제</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AI 리터러시 · AI 사용 경험 · 경력 · 직급</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표본</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IT 개발직 약 250명 · 7점 리커트</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협업 결합도는 샘플링으로 통제</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504749">
                <a:tc>
                  <a:txBody>
                    <a:bodyPr/>
                    <a:lstStyle/>
                    <a:p>
                      <a:pPr indent="0" marL="0">
                        <a:buNone/>
                      </a:pPr>
                      <a:r>
                        <a:rPr lang="en-US" sz="1150" dirty="0">
                          <a:solidFill>
                            <a:srgbClr val="1F2226"/>
                          </a:solidFill>
                          <a:latin typeface="Arial" pitchFamily="34" charset="0"/>
                          <a:ea typeface="Arial" pitchFamily="34" charset="-122"/>
                          <a:cs typeface="Arial" pitchFamily="34" charset="-120"/>
                        </a:rPr>
                        <a:t>분석</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조작 점검 → 신뢰도·타당도 → 매개(부트스트래핑) → 조절된 매개</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PROCESS Model 7 · 상세는 Appendix C</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bl>
          </a:graphicData>
        </a:graphic>
      </p:graphicFrame>
      <p:sp>
        <p:nvSpPr>
          <p:cNvPr id="11" name="Text 8"/>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06 / 07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07.  향후 계획 및 남은 논의</a:t>
            </a:r>
            <a:endParaRPr lang="en-US" sz="2600" dirty="0"/>
          </a:p>
        </p:txBody>
      </p:sp>
      <p:sp>
        <p:nvSpPr>
          <p:cNvPr id="9" name="Text 7"/>
          <p:cNvSpPr/>
          <p:nvPr/>
        </p:nvSpPr>
        <p:spPr>
          <a:xfrm>
            <a:off x="768096" y="2304288"/>
            <a:ext cx="13112496"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연구 Timeline 】</a:t>
            </a:r>
            <a:endParaRPr lang="en-US" sz="1300" dirty="0"/>
          </a:p>
        </p:txBody>
      </p:sp>
      <p:sp>
        <p:nvSpPr>
          <p:cNvPr id="10" name="Shape 8"/>
          <p:cNvSpPr/>
          <p:nvPr/>
        </p:nvSpPr>
        <p:spPr>
          <a:xfrm>
            <a:off x="768096" y="2721254"/>
            <a:ext cx="3028493" cy="877824"/>
          </a:xfrm>
          <a:prstGeom prst="rect">
            <a:avLst/>
          </a:prstGeom>
          <a:solidFill>
            <a:srgbClr val="EDEEF0"/>
          </a:solidFill>
          <a:ln w="12700">
            <a:solidFill>
              <a:srgbClr val="E2D2D1"/>
            </a:solidFill>
            <a:prstDash val="solid"/>
          </a:ln>
        </p:spPr>
      </p:sp>
      <p:sp>
        <p:nvSpPr>
          <p:cNvPr id="11" name="Text 9"/>
          <p:cNvSpPr/>
          <p:nvPr/>
        </p:nvSpPr>
        <p:spPr>
          <a:xfrm>
            <a:off x="987552" y="2830982"/>
            <a:ext cx="2589581" cy="307238"/>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9월</a:t>
            </a:r>
            <a:endParaRPr lang="en-US" sz="1350" dirty="0"/>
          </a:p>
        </p:txBody>
      </p:sp>
      <p:sp>
        <p:nvSpPr>
          <p:cNvPr id="12" name="Text 10"/>
          <p:cNvSpPr/>
          <p:nvPr/>
        </p:nvSpPr>
        <p:spPr>
          <a:xfrm>
            <a:off x="987552" y="3138221"/>
            <a:ext cx="2589581" cy="373075"/>
          </a:xfrm>
          <a:prstGeom prst="rect">
            <a:avLst/>
          </a:prstGeom>
          <a:noFill/>
          <a:ln/>
        </p:spPr>
        <p:txBody>
          <a:bodyPr wrap="square" lIns="0" tIns="0" rIns="0" bIns="0" rtlCol="0" anchor="ctr"/>
          <a:lstStyle/>
          <a:p>
            <a:pPr indent="0" marL="0">
              <a:lnSpc>
                <a:spcPts val="1680"/>
              </a:lnSpc>
              <a:buNone/>
            </a:pPr>
            <a:r>
              <a:rPr lang="en-US" sz="1100" dirty="0">
                <a:solidFill>
                  <a:srgbClr val="1F2226"/>
                </a:solidFill>
                <a:latin typeface="Arial" pitchFamily="34" charset="0"/>
                <a:ea typeface="Arial" pitchFamily="34" charset="-122"/>
                <a:cs typeface="Arial" pitchFamily="34" charset="-120"/>
              </a:rPr>
              <a:t>문항 확정 · 사전검사 · 본조사</a:t>
            </a:r>
            <a:endParaRPr lang="en-US" sz="1100" dirty="0"/>
          </a:p>
        </p:txBody>
      </p:sp>
      <p:sp>
        <p:nvSpPr>
          <p:cNvPr id="13" name="Shape 11"/>
          <p:cNvSpPr/>
          <p:nvPr/>
        </p:nvSpPr>
        <p:spPr>
          <a:xfrm>
            <a:off x="3840480" y="3160166"/>
            <a:ext cx="197510" cy="0"/>
          </a:xfrm>
          <a:prstGeom prst="line">
            <a:avLst/>
          </a:prstGeom>
          <a:noFill/>
          <a:ln w="19050">
            <a:solidFill>
              <a:srgbClr val="70757C"/>
            </a:solidFill>
            <a:prstDash val="solid"/>
            <a:tailEnd type="triangle"/>
          </a:ln>
        </p:spPr>
      </p:sp>
      <p:sp>
        <p:nvSpPr>
          <p:cNvPr id="14" name="Shape 12"/>
          <p:cNvSpPr/>
          <p:nvPr/>
        </p:nvSpPr>
        <p:spPr>
          <a:xfrm>
            <a:off x="4081882" y="2721254"/>
            <a:ext cx="3028493" cy="877824"/>
          </a:xfrm>
          <a:prstGeom prst="rect">
            <a:avLst/>
          </a:prstGeom>
          <a:solidFill>
            <a:srgbClr val="F7F8F9"/>
          </a:solidFill>
          <a:ln w="12700">
            <a:solidFill>
              <a:srgbClr val="C9CDD3"/>
            </a:solidFill>
            <a:prstDash val="solid"/>
          </a:ln>
        </p:spPr>
      </p:sp>
      <p:sp>
        <p:nvSpPr>
          <p:cNvPr id="15" name="Text 13"/>
          <p:cNvSpPr/>
          <p:nvPr/>
        </p:nvSpPr>
        <p:spPr>
          <a:xfrm>
            <a:off x="4301338" y="2830982"/>
            <a:ext cx="2589581" cy="307238"/>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10월</a:t>
            </a:r>
            <a:endParaRPr lang="en-US" sz="1350" dirty="0"/>
          </a:p>
        </p:txBody>
      </p:sp>
      <p:sp>
        <p:nvSpPr>
          <p:cNvPr id="16" name="Text 14"/>
          <p:cNvSpPr/>
          <p:nvPr/>
        </p:nvSpPr>
        <p:spPr>
          <a:xfrm>
            <a:off x="4301338" y="3138221"/>
            <a:ext cx="2589581" cy="373075"/>
          </a:xfrm>
          <a:prstGeom prst="rect">
            <a:avLst/>
          </a:prstGeom>
          <a:noFill/>
          <a:ln/>
        </p:spPr>
        <p:txBody>
          <a:bodyPr wrap="square" lIns="0" tIns="0" rIns="0" bIns="0" rtlCol="0" anchor="ctr"/>
          <a:lstStyle/>
          <a:p>
            <a:pPr indent="0" marL="0">
              <a:lnSpc>
                <a:spcPts val="1680"/>
              </a:lnSpc>
              <a:buNone/>
            </a:pPr>
            <a:r>
              <a:rPr lang="en-US" sz="1100" dirty="0">
                <a:solidFill>
                  <a:srgbClr val="1F2226"/>
                </a:solidFill>
                <a:latin typeface="Arial" pitchFamily="34" charset="0"/>
                <a:ea typeface="Arial" pitchFamily="34" charset="-122"/>
                <a:cs typeface="Arial" pitchFamily="34" charset="-120"/>
              </a:rPr>
              <a:t>분석 및 결과 작성</a:t>
            </a:r>
            <a:endParaRPr lang="en-US" sz="1100" dirty="0"/>
          </a:p>
        </p:txBody>
      </p:sp>
      <p:sp>
        <p:nvSpPr>
          <p:cNvPr id="17" name="Shape 15"/>
          <p:cNvSpPr/>
          <p:nvPr/>
        </p:nvSpPr>
        <p:spPr>
          <a:xfrm>
            <a:off x="7154266" y="3160166"/>
            <a:ext cx="197510" cy="0"/>
          </a:xfrm>
          <a:prstGeom prst="line">
            <a:avLst/>
          </a:prstGeom>
          <a:noFill/>
          <a:ln w="19050">
            <a:solidFill>
              <a:srgbClr val="70757C"/>
            </a:solidFill>
            <a:prstDash val="solid"/>
            <a:tailEnd type="triangle"/>
          </a:ln>
        </p:spPr>
      </p:sp>
      <p:sp>
        <p:nvSpPr>
          <p:cNvPr id="18" name="Shape 16"/>
          <p:cNvSpPr/>
          <p:nvPr/>
        </p:nvSpPr>
        <p:spPr>
          <a:xfrm>
            <a:off x="7395667" y="2721254"/>
            <a:ext cx="3028493" cy="877824"/>
          </a:xfrm>
          <a:prstGeom prst="rect">
            <a:avLst/>
          </a:prstGeom>
          <a:solidFill>
            <a:srgbClr val="F7F8F9"/>
          </a:solidFill>
          <a:ln w="12700">
            <a:solidFill>
              <a:srgbClr val="C9CDD3"/>
            </a:solidFill>
            <a:prstDash val="solid"/>
          </a:ln>
        </p:spPr>
      </p:sp>
      <p:sp>
        <p:nvSpPr>
          <p:cNvPr id="19" name="Text 17"/>
          <p:cNvSpPr/>
          <p:nvPr/>
        </p:nvSpPr>
        <p:spPr>
          <a:xfrm>
            <a:off x="7615123" y="2830982"/>
            <a:ext cx="2589581" cy="307238"/>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11월</a:t>
            </a:r>
            <a:endParaRPr lang="en-US" sz="1350" dirty="0"/>
          </a:p>
        </p:txBody>
      </p:sp>
      <p:sp>
        <p:nvSpPr>
          <p:cNvPr id="20" name="Text 18"/>
          <p:cNvSpPr/>
          <p:nvPr/>
        </p:nvSpPr>
        <p:spPr>
          <a:xfrm>
            <a:off x="7615123" y="3138221"/>
            <a:ext cx="2589581" cy="373075"/>
          </a:xfrm>
          <a:prstGeom prst="rect">
            <a:avLst/>
          </a:prstGeom>
          <a:noFill/>
          <a:ln/>
        </p:spPr>
        <p:txBody>
          <a:bodyPr wrap="square" lIns="0" tIns="0" rIns="0" bIns="0" rtlCol="0" anchor="ctr"/>
          <a:lstStyle/>
          <a:p>
            <a:pPr indent="0" marL="0">
              <a:lnSpc>
                <a:spcPts val="1680"/>
              </a:lnSpc>
              <a:buNone/>
            </a:pPr>
            <a:r>
              <a:rPr lang="en-US" sz="1100" dirty="0">
                <a:solidFill>
                  <a:srgbClr val="1F2226"/>
                </a:solidFill>
                <a:latin typeface="Arial" pitchFamily="34" charset="0"/>
                <a:ea typeface="Arial" pitchFamily="34" charset="-122"/>
                <a:cs typeface="Arial" pitchFamily="34" charset="-120"/>
              </a:rPr>
              <a:t>공헌 · 시사점 · 한계</a:t>
            </a:r>
            <a:endParaRPr lang="en-US" sz="1100" dirty="0"/>
          </a:p>
        </p:txBody>
      </p:sp>
      <p:sp>
        <p:nvSpPr>
          <p:cNvPr id="21" name="Shape 19"/>
          <p:cNvSpPr/>
          <p:nvPr/>
        </p:nvSpPr>
        <p:spPr>
          <a:xfrm>
            <a:off x="10468051" y="3160166"/>
            <a:ext cx="197510" cy="0"/>
          </a:xfrm>
          <a:prstGeom prst="line">
            <a:avLst/>
          </a:prstGeom>
          <a:noFill/>
          <a:ln w="19050">
            <a:solidFill>
              <a:srgbClr val="70757C"/>
            </a:solidFill>
            <a:prstDash val="solid"/>
            <a:tailEnd type="triangle"/>
          </a:ln>
        </p:spPr>
      </p:sp>
      <p:sp>
        <p:nvSpPr>
          <p:cNvPr id="22" name="Shape 20"/>
          <p:cNvSpPr/>
          <p:nvPr/>
        </p:nvSpPr>
        <p:spPr>
          <a:xfrm>
            <a:off x="10709453" y="2721254"/>
            <a:ext cx="3028493" cy="877824"/>
          </a:xfrm>
          <a:prstGeom prst="rect">
            <a:avLst/>
          </a:prstGeom>
          <a:solidFill>
            <a:srgbClr val="F7F8F9"/>
          </a:solidFill>
          <a:ln w="12700">
            <a:solidFill>
              <a:srgbClr val="C9CDD3"/>
            </a:solidFill>
            <a:prstDash val="solid"/>
          </a:ln>
        </p:spPr>
      </p:sp>
      <p:sp>
        <p:nvSpPr>
          <p:cNvPr id="23" name="Text 21"/>
          <p:cNvSpPr/>
          <p:nvPr/>
        </p:nvSpPr>
        <p:spPr>
          <a:xfrm>
            <a:off x="10928909" y="2830982"/>
            <a:ext cx="2589581" cy="307238"/>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12월</a:t>
            </a:r>
            <a:endParaRPr lang="en-US" sz="1350" dirty="0"/>
          </a:p>
        </p:txBody>
      </p:sp>
      <p:sp>
        <p:nvSpPr>
          <p:cNvPr id="24" name="Text 22"/>
          <p:cNvSpPr/>
          <p:nvPr/>
        </p:nvSpPr>
        <p:spPr>
          <a:xfrm>
            <a:off x="10928909" y="3138221"/>
            <a:ext cx="2589581" cy="373075"/>
          </a:xfrm>
          <a:prstGeom prst="rect">
            <a:avLst/>
          </a:prstGeom>
          <a:noFill/>
          <a:ln/>
        </p:spPr>
        <p:txBody>
          <a:bodyPr wrap="square" lIns="0" tIns="0" rIns="0" bIns="0" rtlCol="0" anchor="ctr"/>
          <a:lstStyle/>
          <a:p>
            <a:pPr indent="0" marL="0">
              <a:lnSpc>
                <a:spcPts val="1680"/>
              </a:lnSpc>
              <a:buNone/>
            </a:pPr>
            <a:r>
              <a:rPr lang="en-US" sz="1100" dirty="0">
                <a:solidFill>
                  <a:srgbClr val="1F2226"/>
                </a:solidFill>
                <a:latin typeface="Arial" pitchFamily="34" charset="0"/>
                <a:ea typeface="Arial" pitchFamily="34" charset="-122"/>
                <a:cs typeface="Arial" pitchFamily="34" charset="-120"/>
              </a:rPr>
              <a:t>파이널 디펜스</a:t>
            </a:r>
            <a:endParaRPr lang="en-US" sz="1100" dirty="0"/>
          </a:p>
        </p:txBody>
      </p:sp>
      <p:sp>
        <p:nvSpPr>
          <p:cNvPr id="25" name="Text 23"/>
          <p:cNvSpPr/>
          <p:nvPr/>
        </p:nvSpPr>
        <p:spPr>
          <a:xfrm>
            <a:off x="768096" y="3906317"/>
            <a:ext cx="13112496"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남은 논의 — 지도를 구하고자 하는 것 】</a:t>
            </a:r>
            <a:endParaRPr lang="en-US" sz="1300" dirty="0"/>
          </a:p>
        </p:txBody>
      </p:sp>
      <p:sp>
        <p:nvSpPr>
          <p:cNvPr id="26" name="Shape 24"/>
          <p:cNvSpPr/>
          <p:nvPr/>
        </p:nvSpPr>
        <p:spPr>
          <a:xfrm>
            <a:off x="768096" y="4345229"/>
            <a:ext cx="13112496" cy="965606"/>
          </a:xfrm>
          <a:prstGeom prst="rect">
            <a:avLst/>
          </a:prstGeom>
          <a:solidFill>
            <a:srgbClr val="EDEEF0"/>
          </a:solidFill>
          <a:ln w="12700">
            <a:solidFill>
              <a:srgbClr val="DCDDE0"/>
            </a:solidFill>
            <a:prstDash val="solid"/>
          </a:ln>
        </p:spPr>
      </p:sp>
      <p:sp>
        <p:nvSpPr>
          <p:cNvPr id="27" name="Text 25"/>
          <p:cNvSpPr/>
          <p:nvPr/>
        </p:nvSpPr>
        <p:spPr>
          <a:xfrm>
            <a:off x="1097280" y="4345229"/>
            <a:ext cx="438912" cy="965606"/>
          </a:xfrm>
          <a:prstGeom prst="rect">
            <a:avLst/>
          </a:prstGeom>
          <a:noFill/>
          <a:ln/>
        </p:spPr>
        <p:txBody>
          <a:bodyPr wrap="square" lIns="0" tIns="0" rIns="0" bIns="0" rtlCol="0" anchor="ctr"/>
          <a:lstStyle/>
          <a:p>
            <a:pPr indent="0" marL="0">
              <a:buNone/>
            </a:pPr>
            <a:r>
              <a:rPr lang="en-US" sz="1500" b="1" dirty="0">
                <a:solidFill>
                  <a:srgbClr val="1F2226"/>
                </a:solidFill>
                <a:latin typeface="Arial" pitchFamily="34" charset="0"/>
                <a:ea typeface="Arial" pitchFamily="34" charset="-122"/>
                <a:cs typeface="Arial" pitchFamily="34" charset="-120"/>
              </a:rPr>
              <a:t>①</a:t>
            </a:r>
            <a:endParaRPr lang="en-US" sz="1500" dirty="0"/>
          </a:p>
        </p:txBody>
      </p:sp>
      <p:sp>
        <p:nvSpPr>
          <p:cNvPr id="28" name="Text 26"/>
          <p:cNvSpPr/>
          <p:nvPr/>
        </p:nvSpPr>
        <p:spPr>
          <a:xfrm>
            <a:off x="1591056" y="4345229"/>
            <a:ext cx="3840480" cy="965606"/>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조절변수의 조작화</a:t>
            </a:r>
            <a:endParaRPr lang="en-US" sz="1350" dirty="0"/>
          </a:p>
        </p:txBody>
      </p:sp>
      <p:sp>
        <p:nvSpPr>
          <p:cNvPr id="29" name="Text 27"/>
          <p:cNvSpPr/>
          <p:nvPr/>
        </p:nvSpPr>
        <p:spPr>
          <a:xfrm>
            <a:off x="5541264" y="4345229"/>
            <a:ext cx="8010144" cy="965606"/>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측정으로 둘 것인가, 시나리오에서 조작할 것인가.  사전 검정력 분석을 판정 기준으로 두고 있다</a:t>
            </a:r>
            <a:endParaRPr lang="en-US" sz="1200" dirty="0"/>
          </a:p>
        </p:txBody>
      </p:sp>
      <p:sp>
        <p:nvSpPr>
          <p:cNvPr id="30" name="Shape 28"/>
          <p:cNvSpPr/>
          <p:nvPr/>
        </p:nvSpPr>
        <p:spPr>
          <a:xfrm>
            <a:off x="768096" y="5442509"/>
            <a:ext cx="13112496" cy="965606"/>
          </a:xfrm>
          <a:prstGeom prst="rect">
            <a:avLst/>
          </a:prstGeom>
          <a:solidFill>
            <a:srgbClr val="EDEEF0"/>
          </a:solidFill>
          <a:ln w="12700">
            <a:solidFill>
              <a:srgbClr val="DCDDE0"/>
            </a:solidFill>
            <a:prstDash val="solid"/>
          </a:ln>
        </p:spPr>
      </p:sp>
      <p:sp>
        <p:nvSpPr>
          <p:cNvPr id="31" name="Text 29"/>
          <p:cNvSpPr/>
          <p:nvPr/>
        </p:nvSpPr>
        <p:spPr>
          <a:xfrm>
            <a:off x="1097280" y="5442509"/>
            <a:ext cx="438912" cy="965606"/>
          </a:xfrm>
          <a:prstGeom prst="rect">
            <a:avLst/>
          </a:prstGeom>
          <a:noFill/>
          <a:ln/>
        </p:spPr>
        <p:txBody>
          <a:bodyPr wrap="square" lIns="0" tIns="0" rIns="0" bIns="0" rtlCol="0" anchor="ctr"/>
          <a:lstStyle/>
          <a:p>
            <a:pPr indent="0" marL="0">
              <a:buNone/>
            </a:pPr>
            <a:r>
              <a:rPr lang="en-US" sz="1500" b="1" dirty="0">
                <a:solidFill>
                  <a:srgbClr val="1F2226"/>
                </a:solidFill>
                <a:latin typeface="Arial" pitchFamily="34" charset="0"/>
                <a:ea typeface="Arial" pitchFamily="34" charset="-122"/>
                <a:cs typeface="Arial" pitchFamily="34" charset="-120"/>
              </a:rPr>
              <a:t>②</a:t>
            </a:r>
            <a:endParaRPr lang="en-US" sz="1500" dirty="0"/>
          </a:p>
        </p:txBody>
      </p:sp>
      <p:sp>
        <p:nvSpPr>
          <p:cNvPr id="32" name="Text 30"/>
          <p:cNvSpPr/>
          <p:nvPr/>
        </p:nvSpPr>
        <p:spPr>
          <a:xfrm>
            <a:off x="1591056" y="5442509"/>
            <a:ext cx="3840480" cy="965606"/>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가상 시나리오의 구성 타당도</a:t>
            </a:r>
            <a:endParaRPr lang="en-US" sz="1350" dirty="0"/>
          </a:p>
        </p:txBody>
      </p:sp>
      <p:sp>
        <p:nvSpPr>
          <p:cNvPr id="33" name="Text 31"/>
          <p:cNvSpPr/>
          <p:nvPr/>
        </p:nvSpPr>
        <p:spPr>
          <a:xfrm>
            <a:off x="5541264" y="5442509"/>
            <a:ext cx="8010144" cy="965606"/>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겪지 않은 절차에 대한 공정성 지각을 재는 것이 구성 타당도 측면에서 성립하는가</a:t>
            </a:r>
            <a:endParaRPr lang="en-US" sz="1200" dirty="0"/>
          </a:p>
        </p:txBody>
      </p:sp>
      <p:sp>
        <p:nvSpPr>
          <p:cNvPr id="34" name="Shape 32"/>
          <p:cNvSpPr/>
          <p:nvPr/>
        </p:nvSpPr>
        <p:spPr>
          <a:xfrm>
            <a:off x="768096" y="6539789"/>
            <a:ext cx="13112496" cy="965606"/>
          </a:xfrm>
          <a:prstGeom prst="rect">
            <a:avLst/>
          </a:prstGeom>
          <a:solidFill>
            <a:srgbClr val="EDEEF0"/>
          </a:solidFill>
          <a:ln w="12700">
            <a:solidFill>
              <a:srgbClr val="DCDDE0"/>
            </a:solidFill>
            <a:prstDash val="solid"/>
          </a:ln>
        </p:spPr>
      </p:sp>
      <p:sp>
        <p:nvSpPr>
          <p:cNvPr id="35" name="Text 33"/>
          <p:cNvSpPr/>
          <p:nvPr/>
        </p:nvSpPr>
        <p:spPr>
          <a:xfrm>
            <a:off x="1097280" y="6539789"/>
            <a:ext cx="438912" cy="965606"/>
          </a:xfrm>
          <a:prstGeom prst="rect">
            <a:avLst/>
          </a:prstGeom>
          <a:noFill/>
          <a:ln/>
        </p:spPr>
        <p:txBody>
          <a:bodyPr wrap="square" lIns="0" tIns="0" rIns="0" bIns="0" rtlCol="0" anchor="ctr"/>
          <a:lstStyle/>
          <a:p>
            <a:pPr indent="0" marL="0">
              <a:buNone/>
            </a:pPr>
            <a:r>
              <a:rPr lang="en-US" sz="1500" b="1" dirty="0">
                <a:solidFill>
                  <a:srgbClr val="1F2226"/>
                </a:solidFill>
                <a:latin typeface="Arial" pitchFamily="34" charset="0"/>
                <a:ea typeface="Arial" pitchFamily="34" charset="-122"/>
                <a:cs typeface="Arial" pitchFamily="34" charset="-120"/>
              </a:rPr>
              <a:t>③</a:t>
            </a:r>
            <a:endParaRPr lang="en-US" sz="1500" dirty="0"/>
          </a:p>
        </p:txBody>
      </p:sp>
      <p:sp>
        <p:nvSpPr>
          <p:cNvPr id="36" name="Text 34"/>
          <p:cNvSpPr/>
          <p:nvPr/>
        </p:nvSpPr>
        <p:spPr>
          <a:xfrm>
            <a:off x="1591056" y="6539789"/>
            <a:ext cx="3840480" cy="965606"/>
          </a:xfrm>
          <a:prstGeom prst="rect">
            <a:avLst/>
          </a:prstGeom>
          <a:noFill/>
          <a:ln/>
        </p:spPr>
        <p:txBody>
          <a:bodyPr wrap="square" lIns="0" tIns="0" rIns="0" bIns="0" rtlCol="0" anchor="ctr"/>
          <a:lstStyle/>
          <a:p>
            <a:pPr indent="0" marL="0">
              <a:buNone/>
            </a:pPr>
            <a:r>
              <a:rPr lang="en-US" sz="1350" b="1" dirty="0">
                <a:solidFill>
                  <a:srgbClr val="1F2226"/>
                </a:solidFill>
                <a:latin typeface="Arial" pitchFamily="34" charset="0"/>
                <a:ea typeface="Arial" pitchFamily="34" charset="-122"/>
                <a:cs typeface="Arial" pitchFamily="34" charset="-120"/>
              </a:rPr>
              <a:t>공백의 크기</a:t>
            </a:r>
            <a:endParaRPr lang="en-US" sz="1350" dirty="0"/>
          </a:p>
        </p:txBody>
      </p:sp>
      <p:sp>
        <p:nvSpPr>
          <p:cNvPr id="37" name="Text 35"/>
          <p:cNvSpPr/>
          <p:nvPr/>
        </p:nvSpPr>
        <p:spPr>
          <a:xfrm>
            <a:off x="5541264" y="6539789"/>
            <a:ext cx="8010144" cy="965606"/>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본 연구가 다루는 공백이 학위논문의 기여로 충분한가</a:t>
            </a:r>
            <a:endParaRPr lang="en-US" sz="1200" dirty="0"/>
          </a:p>
        </p:txBody>
      </p:sp>
      <p:sp>
        <p:nvSpPr>
          <p:cNvPr id="38" name="Text 36"/>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07 / 07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Appendix A. 인용 근거 대조</a:t>
            </a:r>
            <a:endParaRPr lang="en-US" sz="2600" dirty="0"/>
          </a:p>
        </p:txBody>
      </p:sp>
      <p:sp>
        <p:nvSpPr>
          <p:cNvPr id="9" name="Text 7"/>
          <p:cNvSpPr/>
          <p:nvPr/>
        </p:nvSpPr>
        <p:spPr>
          <a:xfrm>
            <a:off x="768096" y="2260397"/>
            <a:ext cx="7680960"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원전에서 무엇을 가져왔고, 왜 그 근거인가 】</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68096" y="2633472"/>
          <a:ext cx="13112496" cy="914400"/>
        </p:xfrm>
        <a:graphic>
          <a:graphicData uri="http://schemas.openxmlformats.org/drawingml/2006/table">
            <a:tbl>
              <a:tblPr/>
              <a:tblGrid>
                <a:gridCol w="2633472"/>
                <a:gridCol w="4443984"/>
                <a:gridCol w="4718304"/>
                <a:gridCol w="1316736"/>
              </a:tblGrid>
              <a:tr h="493776">
                <a:tc>
                  <a:txBody>
                    <a:bodyPr/>
                    <a:lstStyle/>
                    <a:p>
                      <a:pPr indent="0" marL="0">
                        <a:buNone/>
                      </a:pPr>
                      <a:r>
                        <a:rPr lang="en-US" sz="900" b="1" dirty="0">
                          <a:solidFill>
                            <a:srgbClr val="1F2226"/>
                          </a:solidFill>
                          <a:latin typeface="Arial" pitchFamily="34" charset="0"/>
                          <a:ea typeface="Arial" pitchFamily="34" charset="-122"/>
                          <a:cs typeface="Arial" pitchFamily="34" charset="-120"/>
                        </a:rPr>
                        <a:t>이론 · 문헌</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b="1" dirty="0">
                          <a:solidFill>
                            <a:srgbClr val="1F2226"/>
                          </a:solidFill>
                          <a:latin typeface="Arial" pitchFamily="34" charset="0"/>
                          <a:ea typeface="Arial" pitchFamily="34" charset="-122"/>
                          <a:cs typeface="Arial" pitchFamily="34" charset="-120"/>
                        </a:rPr>
                        <a:t>원전에서 가져온 부분</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b="1" dirty="0">
                          <a:solidFill>
                            <a:srgbClr val="1F2226"/>
                          </a:solidFill>
                          <a:latin typeface="Arial" pitchFamily="34" charset="0"/>
                          <a:ea typeface="Arial" pitchFamily="34" charset="-122"/>
                          <a:cs typeface="Arial" pitchFamily="34" charset="-120"/>
                        </a:rPr>
                        <a:t>왜 이 근거인가</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226"/>
                          </a:solidFill>
                          <a:latin typeface="Arial" pitchFamily="34" charset="0"/>
                          <a:ea typeface="Arial" pitchFamily="34" charset="-122"/>
                          <a:cs typeface="Arial" pitchFamily="34" charset="-120"/>
                        </a:rPr>
                        <a:t>층 · 담당</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사회물질성 · 임브리케이션</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Orlikowski (2007) · Leonardi (2011)</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“The distinction of humans and artifacts … is analytical only.” (Orlikowski, 2007, p.1438)</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“the capacity for nonhuman entities to act on their own” — material agency (Leonardi, 2011, p.148)</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귀속 모호성의 존재론적 근거</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 두 원전은 AI를 다루지 않는다. AI를 material agency의 사례로 보는 확장이며,</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   산출물 자체를 생성한다는 점에서 얽힘이 더 강하다 · 실증이 아니라 이론 근거다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226"/>
                          </a:solidFill>
                          <a:latin typeface="Arial" pitchFamily="34" charset="0"/>
                          <a:ea typeface="Arial" pitchFamily="34" charset="-122"/>
                          <a:cs typeface="Arial" pitchFamily="34" charset="-120"/>
                        </a:rPr>
                        <a:t>존재론 근거</a:t>
                      </a:r>
                      <a:endParaRPr lang="en-US" sz="900" dirty="0">
                        <a:latin typeface="Arial" charset="0"/>
                        <a:ea typeface="Arial" charset="0"/>
                        <a:cs typeface="Arial" charset="0"/>
                      </a:endParaRPr>
                    </a:p>
                    <a:p>
                      <a:pPr algn="ctr" indent="0" marL="0">
                        <a:buNone/>
                      </a:pPr>
                      <a:r>
                        <a:rPr lang="en-US" sz="900" dirty="0">
                          <a:solidFill>
                            <a:srgbClr val="1F2226"/>
                          </a:solidFill>
                          <a:latin typeface="Arial" pitchFamily="34" charset="0"/>
                          <a:ea typeface="Arial" pitchFamily="34" charset="-122"/>
                          <a:cs typeface="Arial" pitchFamily="34" charset="-120"/>
                        </a:rPr>
                        <a:t>IV 정당화</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귀인이론 · 기대원리</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Weiner (1985)</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“causal stability influences changes in goal anticipations” (Weiner, 1985, p.549)</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expectancy principle — 안정적 귀속이 미래 기대를 형성한다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「귀속이 안 되면 예측이 안 된다」가 H1의 인과 동력이다</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 「성과 기대 → 평가 기대」 확장은 논리 논증이며 직접 문헌은 없다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226"/>
                          </a:solidFill>
                          <a:latin typeface="Arial" pitchFamily="34" charset="0"/>
                          <a:ea typeface="Arial" pitchFamily="34" charset="-122"/>
                          <a:cs typeface="Arial" pitchFamily="34" charset="-120"/>
                        </a:rPr>
                        <a:t>발생 기제</a:t>
                      </a:r>
                      <a:endParaRPr lang="en-US" sz="900" dirty="0">
                        <a:latin typeface="Arial" charset="0"/>
                        <a:ea typeface="Arial" charset="0"/>
                        <a:cs typeface="Arial" charset="0"/>
                      </a:endParaRPr>
                    </a:p>
                    <a:p>
                      <a:pPr algn="ctr" indent="0" marL="0">
                        <a:buNone/>
                      </a:pPr>
                      <a:r>
                        <a:rPr lang="en-US" sz="900" b="1" dirty="0">
                          <a:solidFill>
                            <a:srgbClr val="1F2226"/>
                          </a:solidFill>
                          <a:latin typeface="Arial" pitchFamily="34" charset="0"/>
                          <a:ea typeface="Arial" pitchFamily="34" charset="-122"/>
                          <a:cs typeface="Arial" pitchFamily="34" charset="-120"/>
                        </a:rPr>
                        <a:t>H1</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절차 규칙</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Leventhal (1980)</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consistency 규칙이 across persons · over time 두 축을 요구 (ERIC판 p.23–24)</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규칙은 선택적으로 적용된다 (ERIC판 p.22)  ※ 출판본 쪽수는 판본 차이로 미확정</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「왜 6규칙 중 2개만 보는가」의 근거가 원전에 직접 있다</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예측 불가능성이 규칙 충족 판단의 근거를 없앤다는 논리를 여기서 세운다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226"/>
                          </a:solidFill>
                          <a:latin typeface="Arial" pitchFamily="34" charset="0"/>
                          <a:ea typeface="Arial" pitchFamily="34" charset="-122"/>
                          <a:cs typeface="Arial" pitchFamily="34" charset="-120"/>
                        </a:rPr>
                        <a:t>상위 이론</a:t>
                      </a:r>
                      <a:endParaRPr lang="en-US" sz="900" dirty="0">
                        <a:latin typeface="Arial" charset="0"/>
                        <a:ea typeface="Arial" charset="0"/>
                        <a:cs typeface="Arial" charset="0"/>
                      </a:endParaRPr>
                    </a:p>
                    <a:p>
                      <a:pPr algn="ctr" indent="0" marL="0">
                        <a:buNone/>
                      </a:pPr>
                      <a:r>
                        <a:rPr lang="en-US" sz="900" b="1" dirty="0">
                          <a:solidFill>
                            <a:srgbClr val="1F2226"/>
                          </a:solidFill>
                          <a:latin typeface="Arial" pitchFamily="34" charset="0"/>
                          <a:ea typeface="Arial" pitchFamily="34" charset="-122"/>
                          <a:cs typeface="Arial" pitchFamily="34" charset="-120"/>
                        </a:rPr>
                        <a:t>H2 · DV</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조직 공정성</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Colquitt (2001)</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“consistency … applied consistently across persons and time” (p.388)</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Table 1 (p.389) item 4 — bias suppression 문항</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DV3의 문항 출처 · 절차공정성 구성개념의 표준 측정 토대</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226"/>
                          </a:solidFill>
                          <a:latin typeface="Arial" pitchFamily="34" charset="0"/>
                          <a:ea typeface="Arial" pitchFamily="34" charset="-122"/>
                          <a:cs typeface="Arial" pitchFamily="34" charset="-120"/>
                        </a:rPr>
                        <a:t>상위 이론</a:t>
                      </a:r>
                      <a:endParaRPr lang="en-US" sz="900" dirty="0">
                        <a:latin typeface="Arial" charset="0"/>
                        <a:ea typeface="Arial" charset="0"/>
                        <a:cs typeface="Arial" charset="0"/>
                      </a:endParaRPr>
                    </a:p>
                    <a:p>
                      <a:pPr algn="ctr" indent="0" marL="0">
                        <a:buNone/>
                      </a:pPr>
                      <a:r>
                        <a:rPr lang="en-US" sz="900" dirty="0">
                          <a:solidFill>
                            <a:srgbClr val="1F2226"/>
                          </a:solidFill>
                          <a:latin typeface="Arial" pitchFamily="34" charset="0"/>
                          <a:ea typeface="Arial" pitchFamily="34" charset="-122"/>
                          <a:cs typeface="Arial" pitchFamily="34" charset="-120"/>
                        </a:rPr>
                        <a:t>DV 측정</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Niehoff &amp; Moorman (1993)</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Table 1 (p.541) item 5 (λ=.901) · item 1 (λ=.897)</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formal procedures(공식 절차) 6문항 α=.85</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DV1·DV4의 문항 출처 · item 5의 「모든 종업원에 걸쳐」가</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consistency를 사람 간 축에 한정하는 근거가 된다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226"/>
                          </a:solidFill>
                          <a:latin typeface="Arial" pitchFamily="34" charset="0"/>
                          <a:ea typeface="Arial" pitchFamily="34" charset="-122"/>
                          <a:cs typeface="Arial" pitchFamily="34" charset="-120"/>
                        </a:rPr>
                        <a:t>DV 측정</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역할 모호성</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Rizzo, House &amp; Lirtzman (1970)</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role ambiguity(역할 모호성) 정의 ⑴ 결과 예측가능성 (p.155)</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⑴ 계열 4문항 전원 탈락 (p.160·162, Table 3) · item 16 = 승진·급여 평가 예측</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MV는 번안이 아니라 복원이다 — 원전이 정의했으나 측정되지 않은</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구성요소를 잇는다는 논거가 이 세 지점에서 나온다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226"/>
                          </a:solidFill>
                          <a:latin typeface="Arial" pitchFamily="34" charset="0"/>
                          <a:ea typeface="Arial" pitchFamily="34" charset="-122"/>
                          <a:cs typeface="Arial" pitchFamily="34" charset="-120"/>
                        </a:rPr>
                        <a:t>MV 측정</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Hartmann &amp; Slapničar (2012)</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정의 효과가 “conditional on … task uncertainty”라는 진술</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task uncertainty(과업불확실성) = 직무 요구의 변동성 (Thompson, 1967)</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본 연구 MV와 구성개념이 다르고 매개를 검증하지 않았음을 보이는 근거</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H2의 앵커가 아니라 공백의 증거로 쓴다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226"/>
                          </a:solidFill>
                          <a:latin typeface="Arial" pitchFamily="34" charset="0"/>
                          <a:ea typeface="Arial" pitchFamily="34" charset="-122"/>
                          <a:cs typeface="Arial" pitchFamily="34" charset="-120"/>
                        </a:rPr>
                        <a:t>공백 논증</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93776">
                <a:tc>
                  <a:txBody>
                    <a:bodyPr/>
                    <a:lstStyle/>
                    <a:p>
                      <a:pPr indent="0" marL="0">
                        <a:buNone/>
                      </a:pPr>
                      <a:r>
                        <a:rPr lang="en-US" sz="900" dirty="0">
                          <a:solidFill>
                            <a:srgbClr val="1F2226"/>
                          </a:solidFill>
                          <a:latin typeface="Arial" pitchFamily="34" charset="0"/>
                          <a:ea typeface="Arial" pitchFamily="34" charset="-122"/>
                          <a:cs typeface="Arial" pitchFamily="34" charset="-120"/>
                        </a:rPr>
                        <a:t>평가 절차 명확성</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Erdogan (2002) · Kim (2016) · Wang (2023)</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formality · clarity of criteria → procedural justice 주효과  · 원문 대조 미실시</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900" dirty="0">
                          <a:solidFill>
                            <a:srgbClr val="1F2226"/>
                          </a:solidFill>
                          <a:latin typeface="Arial" pitchFamily="34" charset="0"/>
                          <a:ea typeface="Arial" pitchFamily="34" charset="-122"/>
                          <a:cs typeface="Arial" pitchFamily="34" charset="-120"/>
                        </a:rPr>
                        <a:t>MOD의 이론 근거 · ※ 주효과 선례이며 조절 형식의 직접 실증은</a:t>
                      </a:r>
                      <a:endParaRPr lang="en-US" sz="900" dirty="0">
                        <a:latin typeface="Arial" charset="0"/>
                        <a:ea typeface="Arial" charset="0"/>
                        <a:cs typeface="Arial" charset="0"/>
                      </a:endParaRPr>
                    </a:p>
                    <a:p>
                      <a:pPr indent="0" marL="0">
                        <a:buNone/>
                      </a:pPr>
                      <a:r>
                        <a:rPr lang="en-US" sz="900" dirty="0">
                          <a:solidFill>
                            <a:srgbClr val="1F2226"/>
                          </a:solidFill>
                          <a:latin typeface="Arial" pitchFamily="34" charset="0"/>
                          <a:ea typeface="Arial" pitchFamily="34" charset="-122"/>
                          <a:cs typeface="Arial" pitchFamily="34" charset="-120"/>
                        </a:rPr>
                        <a:t>확인되지 않아 한계로 명시한다</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226"/>
                          </a:solidFill>
                          <a:latin typeface="Arial" pitchFamily="34" charset="0"/>
                          <a:ea typeface="Arial" pitchFamily="34" charset="-122"/>
                          <a:cs typeface="Arial" pitchFamily="34" charset="-120"/>
                        </a:rPr>
                        <a:t>H4</a:t>
                      </a:r>
                      <a:endParaRPr lang="en-US" sz="900" dirty="0">
                        <a:latin typeface="Arial" charset="0"/>
                        <a:ea typeface="Arial" charset="0"/>
                        <a:cs typeface="Arial" charset="0"/>
                      </a:endParaRPr>
                    </a:p>
                  </a:txBody>
                  <a:tcPr marL="76200" marR="762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bl>
          </a:graphicData>
        </a:graphic>
      </p:graphicFrame>
      <p:sp>
        <p:nvSpPr>
          <p:cNvPr id="11" name="Text 8"/>
          <p:cNvSpPr/>
          <p:nvPr/>
        </p:nvSpPr>
        <p:spPr>
          <a:xfrm>
            <a:off x="822960" y="7461504"/>
            <a:ext cx="13002768" cy="307238"/>
          </a:xfrm>
          <a:prstGeom prst="rect">
            <a:avLst/>
          </a:prstGeom>
          <a:noFill/>
          <a:ln/>
        </p:spPr>
        <p:txBody>
          <a:bodyPr wrap="square" lIns="0" tIns="0" rIns="0" bIns="0" rtlCol="0" anchor="ctr"/>
          <a:lstStyle/>
          <a:p>
            <a:pPr indent="0" marL="0">
              <a:buNone/>
            </a:pPr>
            <a:r>
              <a:rPr lang="en-US" sz="1050" b="1" dirty="0">
                <a:solidFill>
                  <a:srgbClr val="1F2226"/>
                </a:solidFill>
                <a:latin typeface="Arial" pitchFamily="34" charset="0"/>
                <a:ea typeface="Arial" pitchFamily="34" charset="-122"/>
                <a:cs typeface="Arial" pitchFamily="34" charset="-120"/>
              </a:rPr>
              <a:t>상위 이론은 조직공정성이고, 그 안에서 귀인이론이 발생 기제를 담당한다  ·  담당 이론이 배정되지 않은 경로는 없다  ·  「미확인」은 원전 확인이 남은 항목  ·  UMT는 조절 이론이라 이론 층이 아니라 메커니즘 보조 (Appendix G)</a:t>
            </a:r>
            <a:endParaRPr lang="en-US" sz="1050" dirty="0"/>
          </a:p>
        </p:txBody>
      </p:sp>
      <p:sp>
        <p:nvSpPr>
          <p:cNvPr id="12" name="Text 9"/>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Appendix B. 측정과 점검</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68096" y="2370125"/>
          <a:ext cx="13112496" cy="914400"/>
        </p:xfrm>
        <a:graphic>
          <a:graphicData uri="http://schemas.openxmlformats.org/drawingml/2006/table">
            <a:tbl>
              <a:tblPr/>
              <a:tblGrid>
                <a:gridCol w="3182112"/>
                <a:gridCol w="6166714"/>
                <a:gridCol w="3763670"/>
              </a:tblGrid>
              <a:tr h="460858">
                <a:tc>
                  <a:txBody>
                    <a:bodyPr/>
                    <a:lstStyle/>
                    <a:p>
                      <a:pPr indent="0" marL="0">
                        <a:buNone/>
                      </a:pPr>
                      <a:r>
                        <a:rPr lang="en-US" sz="1150" b="1" dirty="0">
                          <a:solidFill>
                            <a:srgbClr val="1F2226"/>
                          </a:solidFill>
                          <a:latin typeface="Arial" pitchFamily="34" charset="0"/>
                          <a:ea typeface="Arial" pitchFamily="34" charset="-122"/>
                          <a:cs typeface="Arial" pitchFamily="34" charset="-120"/>
                        </a:rPr>
                        <a:t>구분</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226"/>
                          </a:solidFill>
                          <a:latin typeface="Arial" pitchFamily="34" charset="0"/>
                          <a:ea typeface="Arial" pitchFamily="34" charset="-122"/>
                          <a:cs typeface="Arial" pitchFamily="34" charset="-120"/>
                        </a:rPr>
                        <a:t>내용</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226"/>
                          </a:solidFill>
                          <a:latin typeface="Arial" pitchFamily="34" charset="0"/>
                          <a:ea typeface="Arial" pitchFamily="34" charset="-122"/>
                          <a:cs typeface="Arial" pitchFamily="34" charset="-120"/>
                        </a:rPr>
                        <a:t>출처 · 비고</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60858">
                <a:tc>
                  <a:txBody>
                    <a:bodyPr/>
                    <a:lstStyle/>
                    <a:p>
                      <a:pPr indent="0" marL="0">
                        <a:buNone/>
                      </a:pPr>
                      <a:r>
                        <a:rPr lang="en-US" sz="1150" dirty="0">
                          <a:solidFill>
                            <a:srgbClr val="1F2226"/>
                          </a:solidFill>
                          <a:latin typeface="Arial" pitchFamily="34" charset="0"/>
                          <a:ea typeface="Arial" pitchFamily="34" charset="-122"/>
                          <a:cs typeface="Arial" pitchFamily="34" charset="-120"/>
                        </a:rPr>
                        <a:t>MC  조작 점검</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4문항 · 독립표본 t검정으로 조건 간 차이 확인</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조작이 실제로 작동했는가</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60858">
                <a:tc>
                  <a:txBody>
                    <a:bodyPr/>
                    <a:lstStyle/>
                    <a:p>
                      <a:pPr indent="0" marL="0">
                        <a:buNone/>
                      </a:pPr>
                      <a:r>
                        <a:rPr lang="en-US" sz="1150" dirty="0">
                          <a:solidFill>
                            <a:srgbClr val="1F2226"/>
                          </a:solidFill>
                          <a:latin typeface="Arial" pitchFamily="34" charset="0"/>
                          <a:ea typeface="Arial" pitchFamily="34" charset="-122"/>
                          <a:cs typeface="Arial" pitchFamily="34" charset="-120"/>
                        </a:rPr>
                        <a:t>MV  평가 불확실성</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4문항</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Rizzo(1970) 정의 ⑴ (p.155) 복원 · 신규 제작</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60858">
                <a:tc>
                  <a:txBody>
                    <a:bodyPr/>
                    <a:lstStyle/>
                    <a:p>
                      <a:pPr indent="0" marL="0">
                        <a:buNone/>
                      </a:pPr>
                      <a:r>
                        <a:rPr lang="en-US" sz="1150" dirty="0">
                          <a:solidFill>
                            <a:srgbClr val="1F2226"/>
                          </a:solidFill>
                          <a:latin typeface="Arial" pitchFamily="34" charset="0"/>
                          <a:ea typeface="Arial" pitchFamily="34" charset="-122"/>
                          <a:cs typeface="Arial" pitchFamily="34" charset="-120"/>
                        </a:rPr>
                        <a:t>DV  절차공정성 지각</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3문항 · 일관성 1 + 편향 억제 2</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N&amp;M(1993) Table 1 p.541 item 5·1 · Colquitt(2001) Table 1 p.389 item 4</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60858">
                <a:tc>
                  <a:txBody>
                    <a:bodyPr/>
                    <a:lstStyle/>
                    <a:p>
                      <a:pPr indent="0" marL="0">
                        <a:buNone/>
                      </a:pPr>
                      <a:r>
                        <a:rPr lang="en-US" sz="1150" dirty="0">
                          <a:solidFill>
                            <a:srgbClr val="1F2226"/>
                          </a:solidFill>
                          <a:latin typeface="Arial" pitchFamily="34" charset="0"/>
                          <a:ea typeface="Arial" pitchFamily="34" charset="-122"/>
                          <a:cs typeface="Arial" pitchFamily="34" charset="-120"/>
                        </a:rPr>
                        <a:t>MOD  평가 절차 명확성</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4문항 · 재설계 검토 중</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조절 위치 확정 후 확정</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60858">
                <a:tc>
                  <a:txBody>
                    <a:bodyPr/>
                    <a:lstStyle/>
                    <a:p>
                      <a:pPr indent="0" marL="0">
                        <a:buNone/>
                      </a:pPr>
                      <a:r>
                        <a:rPr lang="en-US" sz="1150" dirty="0">
                          <a:solidFill>
                            <a:srgbClr val="1F2226"/>
                          </a:solidFill>
                          <a:latin typeface="Arial" pitchFamily="34" charset="0"/>
                          <a:ea typeface="Arial" pitchFamily="34" charset="-122"/>
                          <a:cs typeface="Arial" pitchFamily="34" charset="-120"/>
                        </a:rPr>
                        <a:t>판별타당도</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IV–MV / MV–DV / MV–MOD 세 쌍 · AVE, HTMT</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사전 분석 계획에 포함</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60858">
                <a:tc>
                  <a:txBody>
                    <a:bodyPr/>
                    <a:lstStyle/>
                    <a:p>
                      <a:pPr indent="0" marL="0">
                        <a:buNone/>
                      </a:pPr>
                      <a:r>
                        <a:rPr lang="en-US" sz="1150" dirty="0">
                          <a:solidFill>
                            <a:srgbClr val="1F2226"/>
                          </a:solidFill>
                          <a:latin typeface="Arial" pitchFamily="34" charset="0"/>
                          <a:ea typeface="Arial" pitchFamily="34" charset="-122"/>
                          <a:cs typeface="Arial" pitchFamily="34" charset="-120"/>
                        </a:rPr>
                        <a:t>문항 분류 과제</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문항을 섞어 제시하고 소속 구성개념을 분류시킨다</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문항 단계의 판별 확인</a:t>
                      </a:r>
                      <a:endParaRPr lang="en-US" sz="1150" dirty="0">
                        <a:latin typeface="Arial" charset="0"/>
                        <a:ea typeface="Arial" charset="0"/>
                        <a:cs typeface="Arial" charset="0"/>
                      </a:endParaRPr>
                    </a:p>
                  </a:txBody>
                  <a:tcPr marL="101600" marR="101600" marT="50800" marB="508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bl>
          </a:graphicData>
        </a:graphic>
      </p:graphicFrame>
      <p:sp>
        <p:nvSpPr>
          <p:cNvPr id="10" name="Shape 7"/>
          <p:cNvSpPr/>
          <p:nvPr/>
        </p:nvSpPr>
        <p:spPr>
          <a:xfrm>
            <a:off x="768096" y="5870448"/>
            <a:ext cx="13112496" cy="1448410"/>
          </a:xfrm>
          <a:prstGeom prst="rect">
            <a:avLst/>
          </a:prstGeom>
          <a:solidFill>
            <a:srgbClr val="EDEEF0"/>
          </a:solidFill>
          <a:ln w="12700">
            <a:solidFill>
              <a:srgbClr val="DCDDE0"/>
            </a:solidFill>
            <a:prstDash val="solid"/>
          </a:ln>
        </p:spPr>
      </p:sp>
      <p:sp>
        <p:nvSpPr>
          <p:cNvPr id="11" name="Text 8"/>
          <p:cNvSpPr/>
          <p:nvPr/>
        </p:nvSpPr>
        <p:spPr>
          <a:xfrm>
            <a:off x="1097280" y="6035040"/>
            <a:ext cx="12399264" cy="307238"/>
          </a:xfrm>
          <a:prstGeom prst="rect">
            <a:avLst/>
          </a:prstGeom>
          <a:noFill/>
          <a:ln/>
        </p:spPr>
        <p:txBody>
          <a:bodyPr wrap="square" lIns="0" tIns="0" rIns="0" bIns="0" rtlCol="0" anchor="ctr"/>
          <a:lstStyle/>
          <a:p>
            <a:pPr indent="0" marL="0">
              <a:buNone/>
            </a:pPr>
            <a:r>
              <a:rPr lang="en-US" sz="1300" b="1" dirty="0">
                <a:solidFill>
                  <a:srgbClr val="2A2D31"/>
                </a:solidFill>
                <a:latin typeface="Arial" pitchFamily="34" charset="0"/>
                <a:ea typeface="Arial" pitchFamily="34" charset="-122"/>
                <a:cs typeface="Arial" pitchFamily="34" charset="-120"/>
              </a:rPr>
              <a:t>MV 척도의 위치 — 번안이 아니라 복원</a:t>
            </a:r>
            <a:endParaRPr lang="en-US" sz="1300" dirty="0"/>
          </a:p>
        </p:txBody>
      </p:sp>
      <p:sp>
        <p:nvSpPr>
          <p:cNvPr id="12" name="Text 9"/>
          <p:cNvSpPr/>
          <p:nvPr/>
        </p:nvSpPr>
        <p:spPr>
          <a:xfrm>
            <a:off x="1097280" y="6386170"/>
            <a:ext cx="12399264" cy="724205"/>
          </a:xfrm>
          <a:prstGeom prst="rect">
            <a:avLst/>
          </a:prstGeom>
          <a:noFill/>
          <a:ln/>
        </p:spPr>
        <p:txBody>
          <a:bodyPr wrap="square" lIns="0" tIns="0" rIns="0" bIns="0" rtlCol="0" anchor="ctr"/>
          <a:lstStyle/>
          <a:p>
            <a:pPr indent="0" marL="0">
              <a:lnSpc>
                <a:spcPts val="2040"/>
              </a:lnSpc>
              <a:buNone/>
            </a:pPr>
            <a:r>
              <a:rPr lang="en-US" sz="1150" dirty="0">
                <a:solidFill>
                  <a:srgbClr val="1F2226"/>
                </a:solidFill>
                <a:latin typeface="Arial" pitchFamily="34" charset="0"/>
                <a:ea typeface="Arial" pitchFamily="34" charset="-122"/>
                <a:cs typeface="Arial" pitchFamily="34" charset="-120"/>
              </a:rPr>
              <a:t>Rizzo(1970)는 역할 모호성을 ⑴ 자기 행동 결과의 예측가능성과 ⑵ 행동 요구의 명확성으로 정의했으나, ⑴ 계열 문항은 원전 요인분석에서 전원 탈락했고</a:t>
            </a:r>
            <a:endParaRPr lang="en-US" sz="1150" dirty="0"/>
          </a:p>
          <a:p>
            <a:pPr indent="0" marL="0">
              <a:lnSpc>
                <a:spcPts val="2040"/>
              </a:lnSpc>
              <a:buNone/>
            </a:pPr>
            <a:r>
              <a:rPr lang="en-US" sz="1150" dirty="0">
                <a:solidFill>
                  <a:srgbClr val="1F2226"/>
                </a:solidFill>
                <a:latin typeface="Arial" pitchFamily="34" charset="0"/>
                <a:ea typeface="Arial" pitchFamily="34" charset="-122"/>
                <a:cs typeface="Arial" pitchFamily="34" charset="-120"/>
              </a:rPr>
              <a:t>오늘날 통용되는 6문항은 전부 ⑵ 계열이다. 본 연구는 ⑴ 계열을 계승한다. 탈락 문항 중 하나는 승진·급여 평가에 대한 예측을 직접 묻는다.</a:t>
            </a:r>
            <a:endParaRPr lang="en-US" sz="1150" dirty="0"/>
          </a:p>
        </p:txBody>
      </p:sp>
      <p:sp>
        <p:nvSpPr>
          <p:cNvPr id="13" name="Text 10"/>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B</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Appendix C. 분석 절차</a:t>
            </a:r>
            <a:endParaRPr lang="en-US" sz="2600" dirty="0"/>
          </a:p>
        </p:txBody>
      </p:sp>
      <p:sp>
        <p:nvSpPr>
          <p:cNvPr id="9" name="Text 7"/>
          <p:cNvSpPr/>
          <p:nvPr/>
        </p:nvSpPr>
        <p:spPr>
          <a:xfrm>
            <a:off x="822960" y="2457907"/>
            <a:ext cx="438912" cy="351130"/>
          </a:xfrm>
          <a:prstGeom prst="rect">
            <a:avLst/>
          </a:prstGeom>
          <a:noFill/>
          <a:ln/>
        </p:spPr>
        <p:txBody>
          <a:bodyPr wrap="square" lIns="0" tIns="0" rIns="0" bIns="0" rtlCol="0" anchor="ctr"/>
          <a:lstStyle/>
          <a:p>
            <a:pPr indent="0" marL="0">
              <a:buNone/>
            </a:pPr>
            <a:r>
              <a:rPr lang="en-US" sz="1400" b="1" dirty="0">
                <a:solidFill>
                  <a:srgbClr val="70757C"/>
                </a:solidFill>
                <a:latin typeface="Arial" pitchFamily="34" charset="0"/>
                <a:ea typeface="Arial" pitchFamily="34" charset="-122"/>
                <a:cs typeface="Arial" pitchFamily="34" charset="-120"/>
              </a:rPr>
              <a:t>①</a:t>
            </a:r>
            <a:endParaRPr lang="en-US" sz="1400" dirty="0"/>
          </a:p>
        </p:txBody>
      </p:sp>
      <p:sp>
        <p:nvSpPr>
          <p:cNvPr id="10" name="Text 8"/>
          <p:cNvSpPr/>
          <p:nvPr/>
        </p:nvSpPr>
        <p:spPr>
          <a:xfrm>
            <a:off x="1371600" y="2457907"/>
            <a:ext cx="3291840" cy="351130"/>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조작 점검</a:t>
            </a:r>
            <a:endParaRPr lang="en-US" sz="1300" dirty="0"/>
          </a:p>
        </p:txBody>
      </p:sp>
      <p:sp>
        <p:nvSpPr>
          <p:cNvPr id="11" name="Text 9"/>
          <p:cNvSpPr/>
          <p:nvPr/>
        </p:nvSpPr>
        <p:spPr>
          <a:xfrm>
            <a:off x="4773168" y="2468880"/>
            <a:ext cx="9107424" cy="351130"/>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독립표본 t검정</a:t>
            </a:r>
            <a:endParaRPr lang="en-US" sz="1200" dirty="0"/>
          </a:p>
        </p:txBody>
      </p:sp>
      <p:sp>
        <p:nvSpPr>
          <p:cNvPr id="12" name="Shape 10"/>
          <p:cNvSpPr/>
          <p:nvPr/>
        </p:nvSpPr>
        <p:spPr>
          <a:xfrm>
            <a:off x="822960" y="2918765"/>
            <a:ext cx="13002768" cy="0"/>
          </a:xfrm>
          <a:prstGeom prst="line">
            <a:avLst/>
          </a:prstGeom>
          <a:noFill/>
          <a:ln w="9525">
            <a:solidFill>
              <a:srgbClr val="C9CDD3"/>
            </a:solidFill>
            <a:prstDash val="solid"/>
          </a:ln>
        </p:spPr>
      </p:sp>
      <p:sp>
        <p:nvSpPr>
          <p:cNvPr id="13" name="Text 11"/>
          <p:cNvSpPr/>
          <p:nvPr/>
        </p:nvSpPr>
        <p:spPr>
          <a:xfrm>
            <a:off x="822960" y="3094330"/>
            <a:ext cx="438912" cy="351130"/>
          </a:xfrm>
          <a:prstGeom prst="rect">
            <a:avLst/>
          </a:prstGeom>
          <a:noFill/>
          <a:ln/>
        </p:spPr>
        <p:txBody>
          <a:bodyPr wrap="square" lIns="0" tIns="0" rIns="0" bIns="0" rtlCol="0" anchor="ctr"/>
          <a:lstStyle/>
          <a:p>
            <a:pPr indent="0" marL="0">
              <a:buNone/>
            </a:pPr>
            <a:r>
              <a:rPr lang="en-US" sz="1400" b="1" dirty="0">
                <a:solidFill>
                  <a:srgbClr val="70757C"/>
                </a:solidFill>
                <a:latin typeface="Arial" pitchFamily="34" charset="0"/>
                <a:ea typeface="Arial" pitchFamily="34" charset="-122"/>
                <a:cs typeface="Arial" pitchFamily="34" charset="-120"/>
              </a:rPr>
              <a:t>②</a:t>
            </a:r>
            <a:endParaRPr lang="en-US" sz="1400" dirty="0"/>
          </a:p>
        </p:txBody>
      </p:sp>
      <p:sp>
        <p:nvSpPr>
          <p:cNvPr id="14" name="Text 12"/>
          <p:cNvSpPr/>
          <p:nvPr/>
        </p:nvSpPr>
        <p:spPr>
          <a:xfrm>
            <a:off x="1371600" y="3094330"/>
            <a:ext cx="3291840" cy="351130"/>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신뢰도 · 타당도</a:t>
            </a:r>
            <a:endParaRPr lang="en-US" sz="1300" dirty="0"/>
          </a:p>
        </p:txBody>
      </p:sp>
      <p:sp>
        <p:nvSpPr>
          <p:cNvPr id="15" name="Text 13"/>
          <p:cNvSpPr/>
          <p:nvPr/>
        </p:nvSpPr>
        <p:spPr>
          <a:xfrm>
            <a:off x="4773168" y="3105302"/>
            <a:ext cx="9107424" cy="351130"/>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Cronbach's α · EFA / CFA · 판별타당도 (AVE, HTMT)</a:t>
            </a:r>
            <a:endParaRPr lang="en-US" sz="1200" dirty="0"/>
          </a:p>
        </p:txBody>
      </p:sp>
      <p:sp>
        <p:nvSpPr>
          <p:cNvPr id="16" name="Shape 14"/>
          <p:cNvSpPr/>
          <p:nvPr/>
        </p:nvSpPr>
        <p:spPr>
          <a:xfrm>
            <a:off x="822960" y="3555187"/>
            <a:ext cx="13002768" cy="0"/>
          </a:xfrm>
          <a:prstGeom prst="line">
            <a:avLst/>
          </a:prstGeom>
          <a:noFill/>
          <a:ln w="9525">
            <a:solidFill>
              <a:srgbClr val="C9CDD3"/>
            </a:solidFill>
            <a:prstDash val="solid"/>
          </a:ln>
        </p:spPr>
      </p:sp>
      <p:sp>
        <p:nvSpPr>
          <p:cNvPr id="17" name="Text 15"/>
          <p:cNvSpPr/>
          <p:nvPr/>
        </p:nvSpPr>
        <p:spPr>
          <a:xfrm>
            <a:off x="822960" y="3730752"/>
            <a:ext cx="438912" cy="351130"/>
          </a:xfrm>
          <a:prstGeom prst="rect">
            <a:avLst/>
          </a:prstGeom>
          <a:noFill/>
          <a:ln/>
        </p:spPr>
        <p:txBody>
          <a:bodyPr wrap="square" lIns="0" tIns="0" rIns="0" bIns="0" rtlCol="0" anchor="ctr"/>
          <a:lstStyle/>
          <a:p>
            <a:pPr indent="0" marL="0">
              <a:buNone/>
            </a:pPr>
            <a:r>
              <a:rPr lang="en-US" sz="1400" b="1" dirty="0">
                <a:solidFill>
                  <a:srgbClr val="70757C"/>
                </a:solidFill>
                <a:latin typeface="Arial" pitchFamily="34" charset="0"/>
                <a:ea typeface="Arial" pitchFamily="34" charset="-122"/>
                <a:cs typeface="Arial" pitchFamily="34" charset="-120"/>
              </a:rPr>
              <a:t>③</a:t>
            </a:r>
            <a:endParaRPr lang="en-US" sz="1400" dirty="0"/>
          </a:p>
        </p:txBody>
      </p:sp>
      <p:sp>
        <p:nvSpPr>
          <p:cNvPr id="18" name="Text 16"/>
          <p:cNvSpPr/>
          <p:nvPr/>
        </p:nvSpPr>
        <p:spPr>
          <a:xfrm>
            <a:off x="1371600" y="3730752"/>
            <a:ext cx="3291840" cy="351130"/>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공통방법편의</a:t>
            </a:r>
            <a:endParaRPr lang="en-US" sz="1300" dirty="0"/>
          </a:p>
        </p:txBody>
      </p:sp>
      <p:sp>
        <p:nvSpPr>
          <p:cNvPr id="19" name="Text 17"/>
          <p:cNvSpPr/>
          <p:nvPr/>
        </p:nvSpPr>
        <p:spPr>
          <a:xfrm>
            <a:off x="4773168" y="3741725"/>
            <a:ext cx="9107424" cy="351130"/>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Harman single-factor / marker variable</a:t>
            </a:r>
            <a:endParaRPr lang="en-US" sz="1200" dirty="0"/>
          </a:p>
        </p:txBody>
      </p:sp>
      <p:sp>
        <p:nvSpPr>
          <p:cNvPr id="20" name="Shape 18"/>
          <p:cNvSpPr/>
          <p:nvPr/>
        </p:nvSpPr>
        <p:spPr>
          <a:xfrm>
            <a:off x="822960" y="4191610"/>
            <a:ext cx="13002768" cy="0"/>
          </a:xfrm>
          <a:prstGeom prst="line">
            <a:avLst/>
          </a:prstGeom>
          <a:noFill/>
          <a:ln w="9525">
            <a:solidFill>
              <a:srgbClr val="C9CDD3"/>
            </a:solidFill>
            <a:prstDash val="solid"/>
          </a:ln>
        </p:spPr>
      </p:sp>
      <p:sp>
        <p:nvSpPr>
          <p:cNvPr id="21" name="Text 19"/>
          <p:cNvSpPr/>
          <p:nvPr/>
        </p:nvSpPr>
        <p:spPr>
          <a:xfrm>
            <a:off x="822960" y="4367174"/>
            <a:ext cx="438912" cy="351130"/>
          </a:xfrm>
          <a:prstGeom prst="rect">
            <a:avLst/>
          </a:prstGeom>
          <a:noFill/>
          <a:ln/>
        </p:spPr>
        <p:txBody>
          <a:bodyPr wrap="square" lIns="0" tIns="0" rIns="0" bIns="0" rtlCol="0" anchor="ctr"/>
          <a:lstStyle/>
          <a:p>
            <a:pPr indent="0" marL="0">
              <a:buNone/>
            </a:pPr>
            <a:r>
              <a:rPr lang="en-US" sz="1400" b="1" dirty="0">
                <a:solidFill>
                  <a:srgbClr val="70757C"/>
                </a:solidFill>
                <a:latin typeface="Arial" pitchFamily="34" charset="0"/>
                <a:ea typeface="Arial" pitchFamily="34" charset="-122"/>
                <a:cs typeface="Arial" pitchFamily="34" charset="-120"/>
              </a:rPr>
              <a:t>④</a:t>
            </a:r>
            <a:endParaRPr lang="en-US" sz="1400" dirty="0"/>
          </a:p>
        </p:txBody>
      </p:sp>
      <p:sp>
        <p:nvSpPr>
          <p:cNvPr id="22" name="Text 20"/>
          <p:cNvSpPr/>
          <p:nvPr/>
        </p:nvSpPr>
        <p:spPr>
          <a:xfrm>
            <a:off x="1371600" y="4367174"/>
            <a:ext cx="3291840" cy="351130"/>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H1</a:t>
            </a:r>
            <a:endParaRPr lang="en-US" sz="1300" dirty="0"/>
          </a:p>
        </p:txBody>
      </p:sp>
      <p:sp>
        <p:nvSpPr>
          <p:cNvPr id="23" name="Text 21"/>
          <p:cNvSpPr/>
          <p:nvPr/>
        </p:nvSpPr>
        <p:spPr>
          <a:xfrm>
            <a:off x="4773168" y="4378147"/>
            <a:ext cx="9107424" cy="351130"/>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집단 간 평균차</a:t>
            </a:r>
            <a:endParaRPr lang="en-US" sz="1200" dirty="0"/>
          </a:p>
        </p:txBody>
      </p:sp>
      <p:sp>
        <p:nvSpPr>
          <p:cNvPr id="24" name="Shape 22"/>
          <p:cNvSpPr/>
          <p:nvPr/>
        </p:nvSpPr>
        <p:spPr>
          <a:xfrm>
            <a:off x="822960" y="4828032"/>
            <a:ext cx="13002768" cy="0"/>
          </a:xfrm>
          <a:prstGeom prst="line">
            <a:avLst/>
          </a:prstGeom>
          <a:noFill/>
          <a:ln w="9525">
            <a:solidFill>
              <a:srgbClr val="C9CDD3"/>
            </a:solidFill>
            <a:prstDash val="solid"/>
          </a:ln>
        </p:spPr>
      </p:sp>
      <p:sp>
        <p:nvSpPr>
          <p:cNvPr id="25" name="Text 23"/>
          <p:cNvSpPr/>
          <p:nvPr/>
        </p:nvSpPr>
        <p:spPr>
          <a:xfrm>
            <a:off x="822960" y="5003597"/>
            <a:ext cx="438912" cy="351130"/>
          </a:xfrm>
          <a:prstGeom prst="rect">
            <a:avLst/>
          </a:prstGeom>
          <a:noFill/>
          <a:ln/>
        </p:spPr>
        <p:txBody>
          <a:bodyPr wrap="square" lIns="0" tIns="0" rIns="0" bIns="0" rtlCol="0" anchor="ctr"/>
          <a:lstStyle/>
          <a:p>
            <a:pPr indent="0" marL="0">
              <a:buNone/>
            </a:pPr>
            <a:r>
              <a:rPr lang="en-US" sz="1400" b="1" dirty="0">
                <a:solidFill>
                  <a:srgbClr val="1F2226"/>
                </a:solidFill>
                <a:latin typeface="Arial" pitchFamily="34" charset="0"/>
                <a:ea typeface="Arial" pitchFamily="34" charset="-122"/>
                <a:cs typeface="Arial" pitchFamily="34" charset="-120"/>
              </a:rPr>
              <a:t>⑤</a:t>
            </a:r>
            <a:endParaRPr lang="en-US" sz="1400" dirty="0"/>
          </a:p>
        </p:txBody>
      </p:sp>
      <p:sp>
        <p:nvSpPr>
          <p:cNvPr id="26" name="Text 24"/>
          <p:cNvSpPr/>
          <p:nvPr/>
        </p:nvSpPr>
        <p:spPr>
          <a:xfrm>
            <a:off x="1371600" y="5003597"/>
            <a:ext cx="3291840" cy="351130"/>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H2 · H3</a:t>
            </a:r>
            <a:endParaRPr lang="en-US" sz="1300" dirty="0"/>
          </a:p>
        </p:txBody>
      </p:sp>
      <p:sp>
        <p:nvSpPr>
          <p:cNvPr id="27" name="Text 25"/>
          <p:cNvSpPr/>
          <p:nvPr/>
        </p:nvSpPr>
        <p:spPr>
          <a:xfrm>
            <a:off x="4773168" y="5014570"/>
            <a:ext cx="9107424" cy="351130"/>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매개 + 부트스트래핑 5,000회 · 95% 신뢰구간</a:t>
            </a:r>
            <a:endParaRPr lang="en-US" sz="1200" dirty="0"/>
          </a:p>
        </p:txBody>
      </p:sp>
      <p:sp>
        <p:nvSpPr>
          <p:cNvPr id="28" name="Shape 26"/>
          <p:cNvSpPr/>
          <p:nvPr/>
        </p:nvSpPr>
        <p:spPr>
          <a:xfrm>
            <a:off x="822960" y="5464454"/>
            <a:ext cx="13002768" cy="0"/>
          </a:xfrm>
          <a:prstGeom prst="line">
            <a:avLst/>
          </a:prstGeom>
          <a:noFill/>
          <a:ln w="9525">
            <a:solidFill>
              <a:srgbClr val="C9CDD3"/>
            </a:solidFill>
            <a:prstDash val="solid"/>
          </a:ln>
        </p:spPr>
      </p:sp>
      <p:sp>
        <p:nvSpPr>
          <p:cNvPr id="29" name="Text 27"/>
          <p:cNvSpPr/>
          <p:nvPr/>
        </p:nvSpPr>
        <p:spPr>
          <a:xfrm>
            <a:off x="822960" y="5640019"/>
            <a:ext cx="438912" cy="351130"/>
          </a:xfrm>
          <a:prstGeom prst="rect">
            <a:avLst/>
          </a:prstGeom>
          <a:noFill/>
          <a:ln/>
        </p:spPr>
        <p:txBody>
          <a:bodyPr wrap="square" lIns="0" tIns="0" rIns="0" bIns="0" rtlCol="0" anchor="ctr"/>
          <a:lstStyle/>
          <a:p>
            <a:pPr indent="0" marL="0">
              <a:buNone/>
            </a:pPr>
            <a:r>
              <a:rPr lang="en-US" sz="1400" b="1" dirty="0">
                <a:solidFill>
                  <a:srgbClr val="1F2226"/>
                </a:solidFill>
                <a:latin typeface="Arial" pitchFamily="34" charset="0"/>
                <a:ea typeface="Arial" pitchFamily="34" charset="-122"/>
                <a:cs typeface="Arial" pitchFamily="34" charset="-120"/>
              </a:rPr>
              <a:t>⑥</a:t>
            </a:r>
            <a:endParaRPr lang="en-US" sz="1400" dirty="0"/>
          </a:p>
        </p:txBody>
      </p:sp>
      <p:sp>
        <p:nvSpPr>
          <p:cNvPr id="30" name="Text 28"/>
          <p:cNvSpPr/>
          <p:nvPr/>
        </p:nvSpPr>
        <p:spPr>
          <a:xfrm>
            <a:off x="1371600" y="5640019"/>
            <a:ext cx="3291840" cy="351130"/>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H4</a:t>
            </a:r>
            <a:endParaRPr lang="en-US" sz="1300" dirty="0"/>
          </a:p>
        </p:txBody>
      </p:sp>
      <p:sp>
        <p:nvSpPr>
          <p:cNvPr id="31" name="Text 29"/>
          <p:cNvSpPr/>
          <p:nvPr/>
        </p:nvSpPr>
        <p:spPr>
          <a:xfrm>
            <a:off x="4773168" y="5650992"/>
            <a:ext cx="9107424" cy="351130"/>
          </a:xfrm>
          <a:prstGeom prst="rect">
            <a:avLst/>
          </a:prstGeom>
          <a:noFill/>
          <a:ln/>
        </p:spPr>
        <p:txBody>
          <a:bodyPr wrap="square" lIns="0" tIns="0" rIns="0" bIns="0" rtlCol="0" anchor="ctr"/>
          <a:lstStyle/>
          <a:p>
            <a:pPr indent="0" marL="0">
              <a:buNone/>
            </a:pPr>
            <a:r>
              <a:rPr lang="en-US" sz="1200" dirty="0">
                <a:solidFill>
                  <a:srgbClr val="70757C"/>
                </a:solidFill>
                <a:latin typeface="Arial" pitchFamily="34" charset="0"/>
                <a:ea typeface="Arial" pitchFamily="34" charset="-122"/>
                <a:cs typeface="Arial" pitchFamily="34" charset="-120"/>
              </a:rPr>
              <a:t>조절된 매개 — PROCESS Model 7 · 상호작용항(IV×MOD) + 조건부 간접효과</a:t>
            </a:r>
            <a:endParaRPr lang="en-US" sz="1200" dirty="0"/>
          </a:p>
        </p:txBody>
      </p:sp>
      <p:sp>
        <p:nvSpPr>
          <p:cNvPr id="32" name="Shape 30"/>
          <p:cNvSpPr/>
          <p:nvPr/>
        </p:nvSpPr>
        <p:spPr>
          <a:xfrm>
            <a:off x="822960" y="6100877"/>
            <a:ext cx="13002768" cy="0"/>
          </a:xfrm>
          <a:prstGeom prst="line">
            <a:avLst/>
          </a:prstGeom>
          <a:noFill/>
          <a:ln w="9525">
            <a:solidFill>
              <a:srgbClr val="C9CDD3"/>
            </a:solidFill>
            <a:prstDash val="solid"/>
          </a:ln>
        </p:spPr>
      </p:sp>
      <p:sp>
        <p:nvSpPr>
          <p:cNvPr id="33" name="Shape 31"/>
          <p:cNvSpPr/>
          <p:nvPr/>
        </p:nvSpPr>
        <p:spPr>
          <a:xfrm>
            <a:off x="768096" y="6528816"/>
            <a:ext cx="13112496" cy="1042416"/>
          </a:xfrm>
          <a:prstGeom prst="rect">
            <a:avLst/>
          </a:prstGeom>
          <a:solidFill>
            <a:srgbClr val="2A2D31"/>
          </a:solidFill>
          <a:ln/>
        </p:spPr>
      </p:sp>
      <p:sp>
        <p:nvSpPr>
          <p:cNvPr id="34" name="Text 32"/>
          <p:cNvSpPr/>
          <p:nvPr/>
        </p:nvSpPr>
        <p:spPr>
          <a:xfrm>
            <a:off x="1097280" y="6649517"/>
            <a:ext cx="12399264" cy="307238"/>
          </a:xfrm>
          <a:prstGeom prst="rect">
            <a:avLst/>
          </a:prstGeom>
          <a:noFill/>
          <a:ln/>
        </p:spPr>
        <p:txBody>
          <a:bodyPr wrap="square" lIns="0" tIns="0" rIns="0" bIns="0" rtlCol="0" anchor="ctr"/>
          <a:lstStyle/>
          <a:p>
            <a:pPr indent="0" marL="0">
              <a:buNone/>
            </a:pPr>
            <a:r>
              <a:rPr lang="en-US" sz="1250" b="1" dirty="0">
                <a:solidFill>
                  <a:srgbClr val="E7E8EA"/>
                </a:solidFill>
                <a:latin typeface="Arial" pitchFamily="34" charset="0"/>
                <a:ea typeface="Arial" pitchFamily="34" charset="-122"/>
                <a:cs typeface="Arial" pitchFamily="34" charset="-120"/>
              </a:rPr>
              <a:t>간접효과를 어떻게 읽는가</a:t>
            </a:r>
            <a:endParaRPr lang="en-US" sz="1250" dirty="0"/>
          </a:p>
        </p:txBody>
      </p:sp>
      <p:sp>
        <p:nvSpPr>
          <p:cNvPr id="35" name="Text 33"/>
          <p:cNvSpPr/>
          <p:nvPr/>
        </p:nvSpPr>
        <p:spPr>
          <a:xfrm>
            <a:off x="1097280" y="6978701"/>
            <a:ext cx="12399264" cy="438912"/>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H3의 간접효과는 두 계단의 계수를 곱한 값이다. 두 계단 중 하나라도 끊기면 곱이 0이 되므로, 그 숫자 하나가 경로 전체가 실제로 이어져 있는지를 요약한다.</a:t>
            </a:r>
            <a:endParaRPr lang="en-US" sz="1200" dirty="0"/>
          </a:p>
        </p:txBody>
      </p:sp>
      <p:sp>
        <p:nvSpPr>
          <p:cNvPr id="36" name="Text 34"/>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C</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Appendix D. 한계</a:t>
            </a:r>
            <a:endParaRPr lang="en-US" sz="2600" dirty="0"/>
          </a:p>
        </p:txBody>
      </p:sp>
      <p:sp>
        <p:nvSpPr>
          <p:cNvPr id="9" name="Shape 7"/>
          <p:cNvSpPr/>
          <p:nvPr/>
        </p:nvSpPr>
        <p:spPr>
          <a:xfrm>
            <a:off x="768096" y="2457907"/>
            <a:ext cx="13112496" cy="921715"/>
          </a:xfrm>
          <a:prstGeom prst="rect">
            <a:avLst/>
          </a:prstGeom>
          <a:solidFill>
            <a:srgbClr val="F7F8F9"/>
          </a:solidFill>
          <a:ln w="12700">
            <a:solidFill>
              <a:srgbClr val="C9CDD3"/>
            </a:solidFill>
            <a:prstDash val="solid"/>
          </a:ln>
        </p:spPr>
      </p:sp>
      <p:sp>
        <p:nvSpPr>
          <p:cNvPr id="10" name="Text 8"/>
          <p:cNvSpPr/>
          <p:nvPr/>
        </p:nvSpPr>
        <p:spPr>
          <a:xfrm>
            <a:off x="1097280" y="2457907"/>
            <a:ext cx="2852928" cy="921715"/>
          </a:xfrm>
          <a:prstGeom prst="rect">
            <a:avLst/>
          </a:prstGeom>
          <a:noFill/>
          <a:ln/>
        </p:spPr>
        <p:txBody>
          <a:bodyPr wrap="square" lIns="0" tIns="0" rIns="0" bIns="0" rtlCol="0" anchor="ctr"/>
          <a:lstStyle/>
          <a:p>
            <a:pPr indent="0" marL="0">
              <a:buNone/>
            </a:pPr>
            <a:r>
              <a:rPr lang="en-US" sz="1250" b="1" dirty="0">
                <a:solidFill>
                  <a:srgbClr val="1F2226"/>
                </a:solidFill>
                <a:latin typeface="Arial" pitchFamily="34" charset="0"/>
                <a:ea typeface="Arial" pitchFamily="34" charset="-122"/>
                <a:cs typeface="Arial" pitchFamily="34" charset="-120"/>
              </a:rPr>
              <a:t>a경로   IV → MV</a:t>
            </a:r>
            <a:endParaRPr lang="en-US" sz="1250" dirty="0"/>
          </a:p>
        </p:txBody>
      </p:sp>
      <p:sp>
        <p:nvSpPr>
          <p:cNvPr id="11" name="Text 9"/>
          <p:cNvSpPr/>
          <p:nvPr/>
        </p:nvSpPr>
        <p:spPr>
          <a:xfrm>
            <a:off x="4059936" y="2457907"/>
            <a:ext cx="9546336" cy="921715"/>
          </a:xfrm>
          <a:prstGeom prst="rect">
            <a:avLst/>
          </a:prstGeom>
          <a:noFill/>
          <a:ln/>
        </p:spPr>
        <p:txBody>
          <a:bodyPr wrap="square" lIns="0" tIns="0" rIns="0" bIns="0" rtlCol="0" anchor="ctr"/>
          <a:lstStyle/>
          <a:p>
            <a:pPr indent="0" marL="0">
              <a:lnSpc>
                <a:spcPts val="2040"/>
              </a:lnSpc>
              <a:buNone/>
            </a:pPr>
            <a:r>
              <a:rPr lang="en-US" sz="1200" dirty="0">
                <a:solidFill>
                  <a:srgbClr val="1F2226"/>
                </a:solidFill>
                <a:latin typeface="Arial" pitchFamily="34" charset="0"/>
                <a:ea typeface="Arial" pitchFamily="34" charset="-122"/>
                <a:cs typeface="Arial" pitchFamily="34" charset="-120"/>
              </a:rPr>
              <a:t>IV가 무작위 배정 조작이므로 응답자 특성과 무관하다</a:t>
            </a:r>
            <a:endParaRPr lang="en-US" sz="1200" dirty="0"/>
          </a:p>
        </p:txBody>
      </p:sp>
      <p:sp>
        <p:nvSpPr>
          <p:cNvPr id="12" name="Shape 10"/>
          <p:cNvSpPr/>
          <p:nvPr/>
        </p:nvSpPr>
        <p:spPr>
          <a:xfrm>
            <a:off x="768096" y="3708806"/>
            <a:ext cx="13112496" cy="1119226"/>
          </a:xfrm>
          <a:prstGeom prst="rect">
            <a:avLst/>
          </a:prstGeom>
          <a:solidFill>
            <a:srgbClr val="EDEEF0"/>
          </a:solidFill>
          <a:ln w="12700">
            <a:solidFill>
              <a:srgbClr val="E2D2D1"/>
            </a:solidFill>
            <a:prstDash val="solid"/>
          </a:ln>
        </p:spPr>
      </p:sp>
      <p:sp>
        <p:nvSpPr>
          <p:cNvPr id="13" name="Text 11"/>
          <p:cNvSpPr/>
          <p:nvPr/>
        </p:nvSpPr>
        <p:spPr>
          <a:xfrm>
            <a:off x="1097280" y="3708806"/>
            <a:ext cx="2852928" cy="1119226"/>
          </a:xfrm>
          <a:prstGeom prst="rect">
            <a:avLst/>
          </a:prstGeom>
          <a:noFill/>
          <a:ln/>
        </p:spPr>
        <p:txBody>
          <a:bodyPr wrap="square" lIns="0" tIns="0" rIns="0" bIns="0" rtlCol="0" anchor="ctr"/>
          <a:lstStyle/>
          <a:p>
            <a:pPr indent="0" marL="0">
              <a:buNone/>
            </a:pPr>
            <a:r>
              <a:rPr lang="en-US" sz="1250" b="1" dirty="0">
                <a:solidFill>
                  <a:srgbClr val="1F2226"/>
                </a:solidFill>
                <a:latin typeface="Arial" pitchFamily="34" charset="0"/>
                <a:ea typeface="Arial" pitchFamily="34" charset="-122"/>
                <a:cs typeface="Arial" pitchFamily="34" charset="-120"/>
              </a:rPr>
              <a:t>b경로   MV → DV</a:t>
            </a:r>
            <a:endParaRPr lang="en-US" sz="1250" dirty="0"/>
          </a:p>
        </p:txBody>
      </p:sp>
      <p:sp>
        <p:nvSpPr>
          <p:cNvPr id="14" name="Text 12"/>
          <p:cNvSpPr/>
          <p:nvPr/>
        </p:nvSpPr>
        <p:spPr>
          <a:xfrm>
            <a:off x="4059936" y="3708806"/>
            <a:ext cx="9546336" cy="1119226"/>
          </a:xfrm>
          <a:prstGeom prst="rect">
            <a:avLst/>
          </a:prstGeom>
          <a:noFill/>
          <a:ln/>
        </p:spPr>
        <p:txBody>
          <a:bodyPr wrap="square" lIns="0" tIns="0" rIns="0" bIns="0" rtlCol="0" anchor="ctr"/>
          <a:lstStyle/>
          <a:p>
            <a:pPr indent="0" marL="0">
              <a:lnSpc>
                <a:spcPts val="2040"/>
              </a:lnSpc>
              <a:buNone/>
            </a:pPr>
            <a:r>
              <a:rPr lang="en-US" sz="1200" dirty="0">
                <a:solidFill>
                  <a:srgbClr val="1F2226"/>
                </a:solidFill>
                <a:latin typeface="Arial" pitchFamily="34" charset="0"/>
                <a:ea typeface="Arial" pitchFamily="34" charset="-122"/>
                <a:cs typeface="Arial" pitchFamily="34" charset="-120"/>
              </a:rPr>
              <a:t>매개변수는 무작위 배정할 수 없다. 순차적 무시가능성 가정에 의존하며, 이는 실험적 매개분석의 표준적 한계다.</a:t>
            </a:r>
            <a:endParaRPr lang="en-US" sz="1200" dirty="0"/>
          </a:p>
          <a:p>
            <a:pPr indent="0" marL="0">
              <a:lnSpc>
                <a:spcPts val="2040"/>
              </a:lnSpc>
              <a:buNone/>
            </a:pPr>
            <a:r>
              <a:rPr lang="en-US" sz="1200" dirty="0">
                <a:solidFill>
                  <a:srgbClr val="1F2226"/>
                </a:solidFill>
                <a:latin typeface="Arial" pitchFamily="34" charset="0"/>
                <a:ea typeface="Arial" pitchFamily="34" charset="-122"/>
                <a:cs typeface="Arial" pitchFamily="34" charset="-120"/>
              </a:rPr>
              <a:t>→  통제변수 투입 + 한계 명시</a:t>
            </a:r>
            <a:endParaRPr lang="en-US" sz="1200" dirty="0"/>
          </a:p>
        </p:txBody>
      </p:sp>
      <p:sp>
        <p:nvSpPr>
          <p:cNvPr id="15" name="Shape 13"/>
          <p:cNvSpPr/>
          <p:nvPr/>
        </p:nvSpPr>
        <p:spPr>
          <a:xfrm>
            <a:off x="768096" y="4959706"/>
            <a:ext cx="13112496" cy="921715"/>
          </a:xfrm>
          <a:prstGeom prst="rect">
            <a:avLst/>
          </a:prstGeom>
          <a:solidFill>
            <a:srgbClr val="F7F8F9"/>
          </a:solidFill>
          <a:ln w="12700">
            <a:solidFill>
              <a:srgbClr val="C9CDD3"/>
            </a:solidFill>
            <a:prstDash val="solid"/>
          </a:ln>
        </p:spPr>
      </p:sp>
      <p:sp>
        <p:nvSpPr>
          <p:cNvPr id="16" name="Text 14"/>
          <p:cNvSpPr/>
          <p:nvPr/>
        </p:nvSpPr>
        <p:spPr>
          <a:xfrm>
            <a:off x="1097280" y="4959706"/>
            <a:ext cx="2852928" cy="921715"/>
          </a:xfrm>
          <a:prstGeom prst="rect">
            <a:avLst/>
          </a:prstGeom>
          <a:noFill/>
          <a:ln/>
        </p:spPr>
        <p:txBody>
          <a:bodyPr wrap="square" lIns="0" tIns="0" rIns="0" bIns="0" rtlCol="0" anchor="ctr"/>
          <a:lstStyle/>
          <a:p>
            <a:pPr indent="0" marL="0">
              <a:buNone/>
            </a:pPr>
            <a:r>
              <a:rPr lang="en-US" sz="1250" b="1" dirty="0">
                <a:solidFill>
                  <a:srgbClr val="1F2226"/>
                </a:solidFill>
                <a:latin typeface="Arial" pitchFamily="34" charset="0"/>
                <a:ea typeface="Arial" pitchFamily="34" charset="-122"/>
                <a:cs typeface="Arial" pitchFamily="34" charset="-120"/>
              </a:rPr>
              <a:t>시나리오</a:t>
            </a:r>
            <a:endParaRPr lang="en-US" sz="1250" dirty="0"/>
          </a:p>
        </p:txBody>
      </p:sp>
      <p:sp>
        <p:nvSpPr>
          <p:cNvPr id="17" name="Text 15"/>
          <p:cNvSpPr/>
          <p:nvPr/>
        </p:nvSpPr>
        <p:spPr>
          <a:xfrm>
            <a:off x="4059936" y="4959706"/>
            <a:ext cx="9546336" cy="921715"/>
          </a:xfrm>
          <a:prstGeom prst="rect">
            <a:avLst/>
          </a:prstGeom>
          <a:noFill/>
          <a:ln/>
        </p:spPr>
        <p:txBody>
          <a:bodyPr wrap="square" lIns="0" tIns="0" rIns="0" bIns="0" rtlCol="0" anchor="ctr"/>
          <a:lstStyle/>
          <a:p>
            <a:pPr indent="0" marL="0">
              <a:lnSpc>
                <a:spcPts val="2040"/>
              </a:lnSpc>
              <a:buNone/>
            </a:pPr>
            <a:r>
              <a:rPr lang="en-US" sz="1200" dirty="0">
                <a:solidFill>
                  <a:srgbClr val="1F2226"/>
                </a:solidFill>
                <a:latin typeface="Arial" pitchFamily="34" charset="0"/>
                <a:ea typeface="Arial" pitchFamily="34" charset="-122"/>
                <a:cs typeface="Arial" pitchFamily="34" charset="-120"/>
              </a:rPr>
              <a:t>가상 상황이므로 실제 평가 맥락에 대한 외적 타당도에 제약이 있다</a:t>
            </a:r>
            <a:endParaRPr lang="en-US" sz="1200" dirty="0"/>
          </a:p>
        </p:txBody>
      </p:sp>
      <p:sp>
        <p:nvSpPr>
          <p:cNvPr id="18" name="Shape 16"/>
          <p:cNvSpPr/>
          <p:nvPr/>
        </p:nvSpPr>
        <p:spPr>
          <a:xfrm>
            <a:off x="768096" y="6210605"/>
            <a:ext cx="13112496" cy="921715"/>
          </a:xfrm>
          <a:prstGeom prst="rect">
            <a:avLst/>
          </a:prstGeom>
          <a:solidFill>
            <a:srgbClr val="F7F8F9"/>
          </a:solidFill>
          <a:ln w="12700">
            <a:solidFill>
              <a:srgbClr val="C9CDD3"/>
            </a:solidFill>
            <a:prstDash val="solid"/>
          </a:ln>
        </p:spPr>
      </p:sp>
      <p:sp>
        <p:nvSpPr>
          <p:cNvPr id="19" name="Text 17"/>
          <p:cNvSpPr/>
          <p:nvPr/>
        </p:nvSpPr>
        <p:spPr>
          <a:xfrm>
            <a:off x="1097280" y="6210605"/>
            <a:ext cx="2852928" cy="921715"/>
          </a:xfrm>
          <a:prstGeom prst="rect">
            <a:avLst/>
          </a:prstGeom>
          <a:noFill/>
          <a:ln/>
        </p:spPr>
        <p:txBody>
          <a:bodyPr wrap="square" lIns="0" tIns="0" rIns="0" bIns="0" rtlCol="0" anchor="ctr"/>
          <a:lstStyle/>
          <a:p>
            <a:pPr indent="0" marL="0">
              <a:buNone/>
            </a:pPr>
            <a:r>
              <a:rPr lang="en-US" sz="1250" b="1" dirty="0">
                <a:solidFill>
                  <a:srgbClr val="1F2226"/>
                </a:solidFill>
                <a:latin typeface="Arial" pitchFamily="34" charset="0"/>
                <a:ea typeface="Arial" pitchFamily="34" charset="-122"/>
                <a:cs typeface="Arial" pitchFamily="34" charset="-120"/>
              </a:rPr>
              <a:t>단일 시점</a:t>
            </a:r>
            <a:endParaRPr lang="en-US" sz="1250" dirty="0"/>
          </a:p>
        </p:txBody>
      </p:sp>
      <p:sp>
        <p:nvSpPr>
          <p:cNvPr id="20" name="Text 18"/>
          <p:cNvSpPr/>
          <p:nvPr/>
        </p:nvSpPr>
        <p:spPr>
          <a:xfrm>
            <a:off x="4059936" y="6210605"/>
            <a:ext cx="9546336" cy="921715"/>
          </a:xfrm>
          <a:prstGeom prst="rect">
            <a:avLst/>
          </a:prstGeom>
          <a:noFill/>
          <a:ln/>
        </p:spPr>
        <p:txBody>
          <a:bodyPr wrap="square" lIns="0" tIns="0" rIns="0" bIns="0" rtlCol="0" anchor="ctr"/>
          <a:lstStyle/>
          <a:p>
            <a:pPr indent="0" marL="0">
              <a:lnSpc>
                <a:spcPts val="2040"/>
              </a:lnSpc>
              <a:buNone/>
            </a:pPr>
            <a:r>
              <a:rPr lang="en-US" sz="1200" dirty="0">
                <a:solidFill>
                  <a:srgbClr val="1F2226"/>
                </a:solidFill>
                <a:latin typeface="Arial" pitchFamily="34" charset="0"/>
                <a:ea typeface="Arial" pitchFamily="34" charset="-122"/>
                <a:cs typeface="Arial" pitchFamily="34" charset="-120"/>
              </a:rPr>
              <a:t>MV·DV를 같은 응답자가 자기보고 → 공통방법편의 점검으로 대응</a:t>
            </a:r>
            <a:endParaRPr lang="en-US" sz="1200" dirty="0"/>
          </a:p>
        </p:txBody>
      </p:sp>
      <p:sp>
        <p:nvSpPr>
          <p:cNvPr id="21" name="Text 19"/>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Appendix E. 시나리오 조작</a:t>
            </a:r>
            <a:endParaRPr lang="en-US" sz="2600" dirty="0"/>
          </a:p>
        </p:txBody>
      </p:sp>
      <p:sp>
        <p:nvSpPr>
          <p:cNvPr id="9" name="Text 7"/>
          <p:cNvSpPr/>
          <p:nvPr/>
        </p:nvSpPr>
        <p:spPr>
          <a:xfrm>
            <a:off x="768096" y="2304288"/>
            <a:ext cx="7132320"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본문 구조 — 5문장 중 ④만 조건 간 상이 】</a:t>
            </a:r>
            <a:endParaRPr lang="en-US" sz="1300" dirty="0"/>
          </a:p>
        </p:txBody>
      </p:sp>
      <p:sp>
        <p:nvSpPr>
          <p:cNvPr id="10" name="Text 8"/>
          <p:cNvSpPr/>
          <p:nvPr/>
        </p:nvSpPr>
        <p:spPr>
          <a:xfrm>
            <a:off x="855878" y="2721254"/>
            <a:ext cx="329184" cy="351130"/>
          </a:xfrm>
          <a:prstGeom prst="rect">
            <a:avLst/>
          </a:prstGeom>
          <a:noFill/>
          <a:ln/>
        </p:spPr>
        <p:txBody>
          <a:bodyPr wrap="square" lIns="0" tIns="0" rIns="0" bIns="0" rtlCol="0" anchor="ctr"/>
          <a:lstStyle/>
          <a:p>
            <a:pPr indent="0" marL="0">
              <a:buNone/>
            </a:pPr>
            <a:r>
              <a:rPr lang="en-US" sz="1200" b="1" dirty="0">
                <a:solidFill>
                  <a:srgbClr val="70757C"/>
                </a:solidFill>
                <a:latin typeface="Arial" pitchFamily="34" charset="0"/>
                <a:ea typeface="Arial" pitchFamily="34" charset="-122"/>
                <a:cs typeface="Arial" pitchFamily="34" charset="-120"/>
              </a:rPr>
              <a:t>①</a:t>
            </a:r>
            <a:endParaRPr lang="en-US" sz="1200" dirty="0"/>
          </a:p>
        </p:txBody>
      </p:sp>
      <p:sp>
        <p:nvSpPr>
          <p:cNvPr id="11" name="Text 9"/>
          <p:cNvSpPr/>
          <p:nvPr/>
        </p:nvSpPr>
        <p:spPr>
          <a:xfrm>
            <a:off x="1261872" y="2721254"/>
            <a:ext cx="2194560"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소속 · 직무</a:t>
            </a:r>
            <a:endParaRPr lang="en-US" sz="1200" dirty="0"/>
          </a:p>
        </p:txBody>
      </p:sp>
      <p:sp>
        <p:nvSpPr>
          <p:cNvPr id="12" name="Text 10"/>
          <p:cNvSpPr/>
          <p:nvPr/>
        </p:nvSpPr>
        <p:spPr>
          <a:xfrm>
            <a:off x="3566160" y="2721254"/>
            <a:ext cx="6803136"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귀하는 B사 소속 개발자다</a:t>
            </a:r>
            <a:endParaRPr lang="en-US" sz="1200" dirty="0"/>
          </a:p>
        </p:txBody>
      </p:sp>
      <p:sp>
        <p:nvSpPr>
          <p:cNvPr id="13" name="Text 11"/>
          <p:cNvSpPr/>
          <p:nvPr/>
        </p:nvSpPr>
        <p:spPr>
          <a:xfrm>
            <a:off x="10424160" y="2721254"/>
            <a:ext cx="3182112" cy="351130"/>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동일</a:t>
            </a:r>
            <a:endParaRPr lang="en-US" sz="1050" dirty="0"/>
          </a:p>
        </p:txBody>
      </p:sp>
      <p:sp>
        <p:nvSpPr>
          <p:cNvPr id="14" name="Shape 12"/>
          <p:cNvSpPr/>
          <p:nvPr/>
        </p:nvSpPr>
        <p:spPr>
          <a:xfrm>
            <a:off x="855878" y="3116275"/>
            <a:ext cx="12750394" cy="0"/>
          </a:xfrm>
          <a:prstGeom prst="line">
            <a:avLst/>
          </a:prstGeom>
          <a:noFill/>
          <a:ln w="9525">
            <a:solidFill>
              <a:srgbClr val="C9CDD3"/>
            </a:solidFill>
            <a:prstDash val="solid"/>
          </a:ln>
        </p:spPr>
      </p:sp>
      <p:sp>
        <p:nvSpPr>
          <p:cNvPr id="15" name="Text 13"/>
          <p:cNvSpPr/>
          <p:nvPr/>
        </p:nvSpPr>
        <p:spPr>
          <a:xfrm>
            <a:off x="855878" y="3182112"/>
            <a:ext cx="329184" cy="351130"/>
          </a:xfrm>
          <a:prstGeom prst="rect">
            <a:avLst/>
          </a:prstGeom>
          <a:noFill/>
          <a:ln/>
        </p:spPr>
        <p:txBody>
          <a:bodyPr wrap="square" lIns="0" tIns="0" rIns="0" bIns="0" rtlCol="0" anchor="ctr"/>
          <a:lstStyle/>
          <a:p>
            <a:pPr indent="0" marL="0">
              <a:buNone/>
            </a:pPr>
            <a:r>
              <a:rPr lang="en-US" sz="1200" b="1" dirty="0">
                <a:solidFill>
                  <a:srgbClr val="70757C"/>
                </a:solidFill>
                <a:latin typeface="Arial" pitchFamily="34" charset="0"/>
                <a:ea typeface="Arial" pitchFamily="34" charset="-122"/>
                <a:cs typeface="Arial" pitchFamily="34" charset="-120"/>
              </a:rPr>
              <a:t>②</a:t>
            </a:r>
            <a:endParaRPr lang="en-US" sz="1200" dirty="0"/>
          </a:p>
        </p:txBody>
      </p:sp>
      <p:sp>
        <p:nvSpPr>
          <p:cNvPr id="16" name="Text 14"/>
          <p:cNvSpPr/>
          <p:nvPr/>
        </p:nvSpPr>
        <p:spPr>
          <a:xfrm>
            <a:off x="1261872" y="3182112"/>
            <a:ext cx="2194560"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산출물</a:t>
            </a:r>
            <a:endParaRPr lang="en-US" sz="1200" dirty="0"/>
          </a:p>
        </p:txBody>
      </p:sp>
      <p:sp>
        <p:nvSpPr>
          <p:cNvPr id="17" name="Text 15"/>
          <p:cNvSpPr/>
          <p:nvPr/>
        </p:nvSpPr>
        <p:spPr>
          <a:xfrm>
            <a:off x="3566160" y="3182112"/>
            <a:ext cx="6803136"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신규 서비스 제안서를 작성했다 (5요소)</a:t>
            </a:r>
            <a:endParaRPr lang="en-US" sz="1200" dirty="0"/>
          </a:p>
        </p:txBody>
      </p:sp>
      <p:sp>
        <p:nvSpPr>
          <p:cNvPr id="18" name="Text 16"/>
          <p:cNvSpPr/>
          <p:nvPr/>
        </p:nvSpPr>
        <p:spPr>
          <a:xfrm>
            <a:off x="10424160" y="3182112"/>
            <a:ext cx="3182112" cy="351130"/>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동일</a:t>
            </a:r>
            <a:endParaRPr lang="en-US" sz="1050" dirty="0"/>
          </a:p>
        </p:txBody>
      </p:sp>
      <p:sp>
        <p:nvSpPr>
          <p:cNvPr id="19" name="Shape 17"/>
          <p:cNvSpPr/>
          <p:nvPr/>
        </p:nvSpPr>
        <p:spPr>
          <a:xfrm>
            <a:off x="855878" y="3577133"/>
            <a:ext cx="12750394" cy="0"/>
          </a:xfrm>
          <a:prstGeom prst="line">
            <a:avLst/>
          </a:prstGeom>
          <a:noFill/>
          <a:ln w="9525">
            <a:solidFill>
              <a:srgbClr val="C9CDD3"/>
            </a:solidFill>
            <a:prstDash val="solid"/>
          </a:ln>
        </p:spPr>
      </p:sp>
      <p:sp>
        <p:nvSpPr>
          <p:cNvPr id="20" name="Text 18"/>
          <p:cNvSpPr/>
          <p:nvPr/>
        </p:nvSpPr>
        <p:spPr>
          <a:xfrm>
            <a:off x="855878" y="3642970"/>
            <a:ext cx="329184" cy="351130"/>
          </a:xfrm>
          <a:prstGeom prst="rect">
            <a:avLst/>
          </a:prstGeom>
          <a:noFill/>
          <a:ln/>
        </p:spPr>
        <p:txBody>
          <a:bodyPr wrap="square" lIns="0" tIns="0" rIns="0" bIns="0" rtlCol="0" anchor="ctr"/>
          <a:lstStyle/>
          <a:p>
            <a:pPr indent="0" marL="0">
              <a:buNone/>
            </a:pPr>
            <a:r>
              <a:rPr lang="en-US" sz="1200" b="1" dirty="0">
                <a:solidFill>
                  <a:srgbClr val="70757C"/>
                </a:solidFill>
                <a:latin typeface="Arial" pitchFamily="34" charset="0"/>
                <a:ea typeface="Arial" pitchFamily="34" charset="-122"/>
                <a:cs typeface="Arial" pitchFamily="34" charset="-120"/>
              </a:rPr>
              <a:t>③</a:t>
            </a:r>
            <a:endParaRPr lang="en-US" sz="1200" dirty="0"/>
          </a:p>
        </p:txBody>
      </p:sp>
      <p:sp>
        <p:nvSpPr>
          <p:cNvPr id="21" name="Text 19"/>
          <p:cNvSpPr/>
          <p:nvPr/>
        </p:nvSpPr>
        <p:spPr>
          <a:xfrm>
            <a:off x="1261872" y="3642970"/>
            <a:ext cx="2194560"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AI 활용 범위</a:t>
            </a:r>
            <a:endParaRPr lang="en-US" sz="1200" dirty="0"/>
          </a:p>
        </p:txBody>
      </p:sp>
      <p:sp>
        <p:nvSpPr>
          <p:cNvPr id="22" name="Text 20"/>
          <p:cNvSpPr/>
          <p:nvPr/>
        </p:nvSpPr>
        <p:spPr>
          <a:xfrm>
            <a:off x="3566160" y="3642970"/>
            <a:ext cx="6803136"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업무 전 과정에서 AI를 활용했다</a:t>
            </a:r>
            <a:endParaRPr lang="en-US" sz="1200" dirty="0"/>
          </a:p>
        </p:txBody>
      </p:sp>
      <p:sp>
        <p:nvSpPr>
          <p:cNvPr id="23" name="Text 21"/>
          <p:cNvSpPr/>
          <p:nvPr/>
        </p:nvSpPr>
        <p:spPr>
          <a:xfrm>
            <a:off x="10424160" y="3642970"/>
            <a:ext cx="3182112" cy="351130"/>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동일 (통제 3)</a:t>
            </a:r>
            <a:endParaRPr lang="en-US" sz="1050" dirty="0"/>
          </a:p>
        </p:txBody>
      </p:sp>
      <p:sp>
        <p:nvSpPr>
          <p:cNvPr id="24" name="Shape 22"/>
          <p:cNvSpPr/>
          <p:nvPr/>
        </p:nvSpPr>
        <p:spPr>
          <a:xfrm>
            <a:off x="855878" y="4037990"/>
            <a:ext cx="12750394" cy="0"/>
          </a:xfrm>
          <a:prstGeom prst="line">
            <a:avLst/>
          </a:prstGeom>
          <a:noFill/>
          <a:ln w="9525">
            <a:solidFill>
              <a:srgbClr val="C9CDD3"/>
            </a:solidFill>
            <a:prstDash val="solid"/>
          </a:ln>
        </p:spPr>
      </p:sp>
      <p:sp>
        <p:nvSpPr>
          <p:cNvPr id="25" name="Text 23"/>
          <p:cNvSpPr/>
          <p:nvPr/>
        </p:nvSpPr>
        <p:spPr>
          <a:xfrm>
            <a:off x="855878" y="4103827"/>
            <a:ext cx="329184" cy="351130"/>
          </a:xfrm>
          <a:prstGeom prst="rect">
            <a:avLst/>
          </a:prstGeom>
          <a:noFill/>
          <a:ln/>
        </p:spPr>
        <p:txBody>
          <a:bodyPr wrap="square" lIns="0" tIns="0" rIns="0" bIns="0" rtlCol="0" anchor="ctr"/>
          <a:lstStyle/>
          <a:p>
            <a:pPr indent="0" marL="0">
              <a:buNone/>
            </a:pPr>
            <a:r>
              <a:rPr lang="en-US" sz="1200" b="1" dirty="0">
                <a:solidFill>
                  <a:srgbClr val="1F2226"/>
                </a:solidFill>
                <a:latin typeface="Arial" pitchFamily="34" charset="0"/>
                <a:ea typeface="Arial" pitchFamily="34" charset="-122"/>
                <a:cs typeface="Arial" pitchFamily="34" charset="-120"/>
              </a:rPr>
              <a:t>④</a:t>
            </a:r>
            <a:endParaRPr lang="en-US" sz="1200" dirty="0"/>
          </a:p>
        </p:txBody>
      </p:sp>
      <p:sp>
        <p:nvSpPr>
          <p:cNvPr id="26" name="Text 24"/>
          <p:cNvSpPr/>
          <p:nvPr/>
        </p:nvSpPr>
        <p:spPr>
          <a:xfrm>
            <a:off x="1261872" y="4103827"/>
            <a:ext cx="2194560" cy="351130"/>
          </a:xfrm>
          <a:prstGeom prst="rect">
            <a:avLst/>
          </a:prstGeom>
          <a:noFill/>
          <a:ln/>
        </p:spPr>
        <p:txBody>
          <a:bodyPr wrap="square" lIns="0" tIns="0" rIns="0" bIns="0" rtlCol="0" anchor="ctr"/>
          <a:lstStyle/>
          <a:p>
            <a:pPr indent="0" marL="0">
              <a:buNone/>
            </a:pPr>
            <a:r>
              <a:rPr lang="en-US" sz="1200" b="1" dirty="0">
                <a:solidFill>
                  <a:srgbClr val="1F2226"/>
                </a:solidFill>
                <a:latin typeface="Arial" pitchFamily="34" charset="0"/>
                <a:ea typeface="Arial" pitchFamily="34" charset="-122"/>
                <a:cs typeface="Arial" pitchFamily="34" charset="-120"/>
              </a:rPr>
              <a:t>처리 방식</a:t>
            </a:r>
            <a:endParaRPr lang="en-US" sz="1200" dirty="0"/>
          </a:p>
        </p:txBody>
      </p:sp>
      <p:sp>
        <p:nvSpPr>
          <p:cNvPr id="27" name="Text 25"/>
          <p:cNvSpPr/>
          <p:nvPr/>
        </p:nvSpPr>
        <p:spPr>
          <a:xfrm>
            <a:off x="3566160" y="4103827"/>
            <a:ext cx="6803136" cy="351130"/>
          </a:xfrm>
          <a:prstGeom prst="rect">
            <a:avLst/>
          </a:prstGeom>
          <a:noFill/>
          <a:ln/>
        </p:spPr>
        <p:txBody>
          <a:bodyPr wrap="square" lIns="0" tIns="0" rIns="0" bIns="0" rtlCol="0" anchor="ctr"/>
          <a:lstStyle/>
          <a:p>
            <a:pPr indent="0" marL="0">
              <a:buNone/>
            </a:pPr>
            <a:r>
              <a:rPr lang="en-US" sz="1200" b="1" dirty="0">
                <a:solidFill>
                  <a:srgbClr val="1F2226"/>
                </a:solidFill>
                <a:latin typeface="Arial" pitchFamily="34" charset="0"/>
                <a:ea typeface="Arial" pitchFamily="34" charset="-122"/>
                <a:cs typeface="Arial" pitchFamily="34" charset="-120"/>
              </a:rPr>
              <a:t>[  조 작  ]</a:t>
            </a:r>
            <a:endParaRPr lang="en-US" sz="1200" dirty="0"/>
          </a:p>
        </p:txBody>
      </p:sp>
      <p:sp>
        <p:nvSpPr>
          <p:cNvPr id="28" name="Text 26"/>
          <p:cNvSpPr/>
          <p:nvPr/>
        </p:nvSpPr>
        <p:spPr>
          <a:xfrm>
            <a:off x="10424160" y="4103827"/>
            <a:ext cx="3182112" cy="351130"/>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조건 간 상이</a:t>
            </a:r>
            <a:endParaRPr lang="en-US" sz="1050" dirty="0"/>
          </a:p>
        </p:txBody>
      </p:sp>
      <p:sp>
        <p:nvSpPr>
          <p:cNvPr id="29" name="Shape 27"/>
          <p:cNvSpPr/>
          <p:nvPr/>
        </p:nvSpPr>
        <p:spPr>
          <a:xfrm>
            <a:off x="855878" y="4498848"/>
            <a:ext cx="12750394" cy="0"/>
          </a:xfrm>
          <a:prstGeom prst="line">
            <a:avLst/>
          </a:prstGeom>
          <a:noFill/>
          <a:ln w="9525">
            <a:solidFill>
              <a:srgbClr val="C9CDD3"/>
            </a:solidFill>
            <a:prstDash val="solid"/>
          </a:ln>
        </p:spPr>
      </p:sp>
      <p:sp>
        <p:nvSpPr>
          <p:cNvPr id="30" name="Text 28"/>
          <p:cNvSpPr/>
          <p:nvPr/>
        </p:nvSpPr>
        <p:spPr>
          <a:xfrm>
            <a:off x="855878" y="4564685"/>
            <a:ext cx="329184" cy="351130"/>
          </a:xfrm>
          <a:prstGeom prst="rect">
            <a:avLst/>
          </a:prstGeom>
          <a:noFill/>
          <a:ln/>
        </p:spPr>
        <p:txBody>
          <a:bodyPr wrap="square" lIns="0" tIns="0" rIns="0" bIns="0" rtlCol="0" anchor="ctr"/>
          <a:lstStyle/>
          <a:p>
            <a:pPr indent="0" marL="0">
              <a:buNone/>
            </a:pPr>
            <a:r>
              <a:rPr lang="en-US" sz="1200" b="1" dirty="0">
                <a:solidFill>
                  <a:srgbClr val="70757C"/>
                </a:solidFill>
                <a:latin typeface="Arial" pitchFamily="34" charset="0"/>
                <a:ea typeface="Arial" pitchFamily="34" charset="-122"/>
                <a:cs typeface="Arial" pitchFamily="34" charset="-120"/>
              </a:rPr>
              <a:t>⑤</a:t>
            </a:r>
            <a:endParaRPr lang="en-US" sz="1200" dirty="0"/>
          </a:p>
        </p:txBody>
      </p:sp>
      <p:sp>
        <p:nvSpPr>
          <p:cNvPr id="31" name="Text 29"/>
          <p:cNvSpPr/>
          <p:nvPr/>
        </p:nvSpPr>
        <p:spPr>
          <a:xfrm>
            <a:off x="1261872" y="4564685"/>
            <a:ext cx="2194560"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평가</a:t>
            </a:r>
            <a:endParaRPr lang="en-US" sz="1200" dirty="0"/>
          </a:p>
        </p:txBody>
      </p:sp>
      <p:sp>
        <p:nvSpPr>
          <p:cNvPr id="32" name="Text 30"/>
          <p:cNvSpPr/>
          <p:nvPr/>
        </p:nvSpPr>
        <p:spPr>
          <a:xfrm>
            <a:off x="3566160" y="4564685"/>
            <a:ext cx="6803136" cy="351130"/>
          </a:xfrm>
          <a:prstGeom prst="rect">
            <a:avLst/>
          </a:prstGeom>
          <a:noFill/>
          <a:ln/>
        </p:spPr>
        <p:txBody>
          <a:bodyPr wrap="square" lIns="0" tIns="0" rIns="0" bIns="0" rtlCol="0" anchor="ctr"/>
          <a:lstStyle/>
          <a:p>
            <a:pPr indent="0" marL="0">
              <a:buNone/>
            </a:pPr>
            <a:r>
              <a:rPr lang="en-US" sz="1200" dirty="0">
                <a:solidFill>
                  <a:srgbClr val="1F2226"/>
                </a:solidFill>
                <a:latin typeface="Arial" pitchFamily="34" charset="0"/>
                <a:ea typeface="Arial" pitchFamily="34" charset="-122"/>
                <a:cs typeface="Arial" pitchFamily="34" charset="-120"/>
              </a:rPr>
              <a:t>B사의 평가자가 성과평가에 반영한다</a:t>
            </a:r>
            <a:endParaRPr lang="en-US" sz="1200" dirty="0"/>
          </a:p>
        </p:txBody>
      </p:sp>
      <p:sp>
        <p:nvSpPr>
          <p:cNvPr id="33" name="Text 31"/>
          <p:cNvSpPr/>
          <p:nvPr/>
        </p:nvSpPr>
        <p:spPr>
          <a:xfrm>
            <a:off x="10424160" y="4564685"/>
            <a:ext cx="3182112" cy="351130"/>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동일 · 단정형 (통제 9)</a:t>
            </a:r>
            <a:endParaRPr lang="en-US" sz="1050" dirty="0"/>
          </a:p>
        </p:txBody>
      </p:sp>
      <p:sp>
        <p:nvSpPr>
          <p:cNvPr id="34" name="Shape 32"/>
          <p:cNvSpPr/>
          <p:nvPr/>
        </p:nvSpPr>
        <p:spPr>
          <a:xfrm>
            <a:off x="855878" y="4959706"/>
            <a:ext cx="12750394" cy="0"/>
          </a:xfrm>
          <a:prstGeom prst="line">
            <a:avLst/>
          </a:prstGeom>
          <a:noFill/>
          <a:ln w="9525">
            <a:solidFill>
              <a:srgbClr val="C9CDD3"/>
            </a:solidFill>
            <a:prstDash val="solid"/>
          </a:ln>
        </p:spPr>
      </p:sp>
      <p:sp>
        <p:nvSpPr>
          <p:cNvPr id="35" name="Text 33"/>
          <p:cNvSpPr/>
          <p:nvPr/>
        </p:nvSpPr>
        <p:spPr>
          <a:xfrm>
            <a:off x="768096" y="5179162"/>
            <a:ext cx="7132320"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④ 처리 방식 — 두 조건 】</a:t>
            </a:r>
            <a:endParaRPr lang="en-US" sz="1300" dirty="0"/>
          </a:p>
        </p:txBody>
      </p:sp>
      <p:sp>
        <p:nvSpPr>
          <p:cNvPr id="36" name="Shape 34"/>
          <p:cNvSpPr/>
          <p:nvPr/>
        </p:nvSpPr>
        <p:spPr>
          <a:xfrm>
            <a:off x="768096" y="5596128"/>
            <a:ext cx="6419088" cy="1426464"/>
          </a:xfrm>
          <a:prstGeom prst="rect">
            <a:avLst/>
          </a:prstGeom>
          <a:solidFill>
            <a:srgbClr val="F7F8F9"/>
          </a:solidFill>
          <a:ln w="12700">
            <a:solidFill>
              <a:srgbClr val="C9CDD3"/>
            </a:solidFill>
            <a:prstDash val="solid"/>
          </a:ln>
        </p:spPr>
      </p:sp>
      <p:sp>
        <p:nvSpPr>
          <p:cNvPr id="37" name="Text 35"/>
          <p:cNvSpPr/>
          <p:nvPr/>
        </p:nvSpPr>
        <p:spPr>
          <a:xfrm>
            <a:off x="1075334" y="5749747"/>
            <a:ext cx="5815584" cy="329184"/>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귀속 명확 조건</a:t>
            </a:r>
            <a:endParaRPr lang="en-US" sz="1300" dirty="0"/>
          </a:p>
        </p:txBody>
      </p:sp>
      <p:sp>
        <p:nvSpPr>
          <p:cNvPr id="38" name="Text 36"/>
          <p:cNvSpPr/>
          <p:nvPr/>
        </p:nvSpPr>
        <p:spPr>
          <a:xfrm>
            <a:off x="1075334" y="6100877"/>
            <a:ext cx="5815584" cy="548640"/>
          </a:xfrm>
          <a:prstGeom prst="rect">
            <a:avLst/>
          </a:prstGeom>
          <a:noFill/>
          <a:ln/>
        </p:spPr>
        <p:txBody>
          <a:bodyPr wrap="square" lIns="0" tIns="0" rIns="0" bIns="0" rtlCol="0" anchor="ctr"/>
          <a:lstStyle/>
          <a:p>
            <a:pPr indent="0" marL="0">
              <a:lnSpc>
                <a:spcPts val="2040"/>
              </a:lnSpc>
              <a:buNone/>
            </a:pPr>
            <a:r>
              <a:rPr lang="en-US" sz="1200" dirty="0">
                <a:solidFill>
                  <a:srgbClr val="1F2226"/>
                </a:solidFill>
                <a:latin typeface="Arial" pitchFamily="34" charset="0"/>
                <a:ea typeface="Arial" pitchFamily="34" charset="-122"/>
                <a:cs typeface="Arial" pitchFamily="34" charset="-120"/>
              </a:rPr>
              <a:t>「 AI 산출물을 각 부분 검토하고 본인의 설계 의도에 맞게 재구성했다 」</a:t>
            </a:r>
            <a:endParaRPr lang="en-US" sz="1200" dirty="0"/>
          </a:p>
        </p:txBody>
      </p:sp>
      <p:sp>
        <p:nvSpPr>
          <p:cNvPr id="39" name="Text 37"/>
          <p:cNvSpPr/>
          <p:nvPr/>
        </p:nvSpPr>
        <p:spPr>
          <a:xfrm>
            <a:off x="1075334" y="6649517"/>
            <a:ext cx="5815584" cy="285293"/>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내 판단의 흔적이 남는다</a:t>
            </a:r>
            <a:endParaRPr lang="en-US" sz="1050" dirty="0"/>
          </a:p>
        </p:txBody>
      </p:sp>
      <p:sp>
        <p:nvSpPr>
          <p:cNvPr id="40" name="Shape 38"/>
          <p:cNvSpPr/>
          <p:nvPr/>
        </p:nvSpPr>
        <p:spPr>
          <a:xfrm>
            <a:off x="7439558" y="5596128"/>
            <a:ext cx="6419088" cy="1426464"/>
          </a:xfrm>
          <a:prstGeom prst="rect">
            <a:avLst/>
          </a:prstGeom>
          <a:solidFill>
            <a:srgbClr val="EDEEF0"/>
          </a:solidFill>
          <a:ln w="12700">
            <a:solidFill>
              <a:srgbClr val="E2D2D1"/>
            </a:solidFill>
            <a:prstDash val="solid"/>
          </a:ln>
        </p:spPr>
      </p:sp>
      <p:sp>
        <p:nvSpPr>
          <p:cNvPr id="41" name="Text 39"/>
          <p:cNvSpPr/>
          <p:nvPr/>
        </p:nvSpPr>
        <p:spPr>
          <a:xfrm>
            <a:off x="7746797" y="5749747"/>
            <a:ext cx="5815584" cy="329184"/>
          </a:xfrm>
          <a:prstGeom prst="rect">
            <a:avLst/>
          </a:prstGeom>
          <a:noFill/>
          <a:ln/>
        </p:spPr>
        <p:txBody>
          <a:bodyPr wrap="square" lIns="0" tIns="0" rIns="0" bIns="0" rtlCol="0" anchor="ctr"/>
          <a:lstStyle/>
          <a:p>
            <a:pPr indent="0" marL="0">
              <a:buNone/>
            </a:pPr>
            <a:r>
              <a:rPr lang="en-US" sz="1300" b="1" dirty="0">
                <a:solidFill>
                  <a:srgbClr val="1F2226"/>
                </a:solidFill>
                <a:latin typeface="Arial" pitchFamily="34" charset="0"/>
                <a:ea typeface="Arial" pitchFamily="34" charset="-122"/>
                <a:cs typeface="Arial" pitchFamily="34" charset="-120"/>
              </a:rPr>
              <a:t>귀속 모호 조건</a:t>
            </a:r>
            <a:endParaRPr lang="en-US" sz="1300" dirty="0"/>
          </a:p>
        </p:txBody>
      </p:sp>
      <p:sp>
        <p:nvSpPr>
          <p:cNvPr id="42" name="Text 40"/>
          <p:cNvSpPr/>
          <p:nvPr/>
        </p:nvSpPr>
        <p:spPr>
          <a:xfrm>
            <a:off x="7746797" y="6100877"/>
            <a:ext cx="5815584" cy="548640"/>
          </a:xfrm>
          <a:prstGeom prst="rect">
            <a:avLst/>
          </a:prstGeom>
          <a:noFill/>
          <a:ln/>
        </p:spPr>
        <p:txBody>
          <a:bodyPr wrap="square" lIns="0" tIns="0" rIns="0" bIns="0" rtlCol="0" anchor="ctr"/>
          <a:lstStyle/>
          <a:p>
            <a:pPr indent="0" marL="0">
              <a:lnSpc>
                <a:spcPts val="2040"/>
              </a:lnSpc>
              <a:buNone/>
            </a:pPr>
            <a:r>
              <a:rPr lang="en-US" sz="1200" dirty="0">
                <a:solidFill>
                  <a:srgbClr val="1F2226"/>
                </a:solidFill>
                <a:latin typeface="Arial" pitchFamily="34" charset="0"/>
                <a:ea typeface="Arial" pitchFamily="34" charset="-122"/>
                <a:cs typeface="Arial" pitchFamily="34" charset="-120"/>
              </a:rPr>
              <a:t>「 AI 산출물이 본인의 설계 의도에 부합하여 추가 검토 없이 활용했다 」</a:t>
            </a:r>
            <a:endParaRPr lang="en-US" sz="1200" dirty="0"/>
          </a:p>
        </p:txBody>
      </p:sp>
      <p:sp>
        <p:nvSpPr>
          <p:cNvPr id="43" name="Text 41"/>
          <p:cNvSpPr/>
          <p:nvPr/>
        </p:nvSpPr>
        <p:spPr>
          <a:xfrm>
            <a:off x="7746797" y="6649517"/>
            <a:ext cx="5815584" cy="285293"/>
          </a:xfrm>
          <a:prstGeom prst="rect">
            <a:avLst/>
          </a:prstGeom>
          <a:noFill/>
          <a:ln/>
        </p:spPr>
        <p:txBody>
          <a:bodyPr wrap="square" lIns="0" tIns="0" rIns="0" bIns="0" rtlCol="0" anchor="ctr"/>
          <a:lstStyle/>
          <a:p>
            <a:pPr indent="0" marL="0">
              <a:buNone/>
            </a:pPr>
            <a:r>
              <a:rPr lang="en-US" sz="1050" dirty="0">
                <a:solidFill>
                  <a:srgbClr val="70757C"/>
                </a:solidFill>
                <a:latin typeface="Arial" pitchFamily="34" charset="0"/>
                <a:ea typeface="Arial" pitchFamily="34" charset="-122"/>
                <a:cs typeface="Arial" pitchFamily="34" charset="-120"/>
              </a:rPr>
              <a:t>내 판단의 흔적이 옅다</a:t>
            </a:r>
            <a:endParaRPr lang="en-US" sz="1050" dirty="0"/>
          </a:p>
        </p:txBody>
      </p:sp>
      <p:sp>
        <p:nvSpPr>
          <p:cNvPr id="44" name="Text 42"/>
          <p:cNvSpPr/>
          <p:nvPr/>
        </p:nvSpPr>
        <p:spPr>
          <a:xfrm>
            <a:off x="768096" y="7154266"/>
            <a:ext cx="13112496" cy="307238"/>
          </a:xfrm>
          <a:prstGeom prst="rect">
            <a:avLst/>
          </a:prstGeom>
          <a:noFill/>
          <a:ln/>
        </p:spPr>
        <p:txBody>
          <a:bodyPr wrap="square" lIns="0" tIns="0" rIns="0" bIns="0" rtlCol="0" anchor="ctr"/>
          <a:lstStyle/>
          <a:p>
            <a:pPr indent="0" marL="0">
              <a:buNone/>
            </a:pPr>
            <a:r>
              <a:rPr lang="en-US" sz="1100" dirty="0">
                <a:solidFill>
                  <a:srgbClr val="70757C"/>
                </a:solidFill>
                <a:latin typeface="Arial" pitchFamily="34" charset="0"/>
                <a:ea typeface="Arial" pitchFamily="34" charset="-122"/>
                <a:cs typeface="Arial" pitchFamily="34" charset="-120"/>
              </a:rPr>
              <a:t>품질·난이도·평가 결과는 어느 조건에도 쓰지 않는다 — 쓰면 분배 결과가 생겨 DV가 오염된다</a:t>
            </a:r>
            <a:endParaRPr lang="en-US" sz="1100" dirty="0"/>
          </a:p>
        </p:txBody>
      </p:sp>
      <p:sp>
        <p:nvSpPr>
          <p:cNvPr id="45" name="Text 43"/>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Appendix F. 측정 문항</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68096" y="2370125"/>
          <a:ext cx="13112496" cy="914400"/>
        </p:xfrm>
        <a:graphic>
          <a:graphicData uri="http://schemas.openxmlformats.org/drawingml/2006/table">
            <a:tbl>
              <a:tblPr/>
              <a:tblGrid>
                <a:gridCol w="932688"/>
                <a:gridCol w="8778240"/>
                <a:gridCol w="3401568"/>
              </a:tblGrid>
              <a:tr h="345643">
                <a:tc>
                  <a:txBody>
                    <a:bodyPr/>
                    <a:lstStyle/>
                    <a:p>
                      <a:pPr indent="0" marL="0">
                        <a:buNone/>
                      </a:pPr>
                      <a:r>
                        <a:rPr lang="en-US" sz="1050" b="1" dirty="0">
                          <a:solidFill>
                            <a:srgbClr val="1F2226"/>
                          </a:solidFill>
                          <a:latin typeface="Arial" pitchFamily="34" charset="0"/>
                          <a:ea typeface="Arial" pitchFamily="34" charset="-122"/>
                          <a:cs typeface="Arial" pitchFamily="34" charset="-120"/>
                        </a:rPr>
                        <a:t>구분</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b="1" dirty="0">
                          <a:solidFill>
                            <a:srgbClr val="1F2226"/>
                          </a:solidFill>
                          <a:latin typeface="Arial" pitchFamily="34" charset="0"/>
                          <a:ea typeface="Arial" pitchFamily="34" charset="-122"/>
                          <a:cs typeface="Arial" pitchFamily="34" charset="-120"/>
                        </a:rPr>
                        <a:t>문항</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b="1" dirty="0">
                          <a:solidFill>
                            <a:srgbClr val="1F2226"/>
                          </a:solidFill>
                          <a:latin typeface="Arial" pitchFamily="34" charset="0"/>
                          <a:ea typeface="Arial" pitchFamily="34" charset="-122"/>
                          <a:cs typeface="Arial" pitchFamily="34" charset="-120"/>
                        </a:rPr>
                        <a:t>근거</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MC1</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나는 이 성과가 나의 역량에서 비롯된 것인지 AI의 기여에서 비롯된 것인지 구분하기 어렵다고 느낀다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조작 점검 · 신규</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MC2</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나는 이 결과물에서 나의 순수 기여분을 식별하기 어렵다고 느낀다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조작 점검 · 신규</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MC3</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나는 이 성과가 나의 기여와 AI의 기여가 분리하기 어렵게 결합되어 있다고 느낀다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MC4</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나는 이 성과의 실제 기여 주체를 명확히 판단하기 어렵다고 느낀다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MV1</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이 성과에 대해 내가 어떤 평가를 받을지 확신할 수 없다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Rizzo(1970) 정의 ⑴ (p.155)</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MV2</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이 성과에 대한 평가 결과가 어느 수준일지 가늠하기 어렵다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MV3</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나의 업무에 대한 노력이 어떤 평가로 귀결될지 예상하기 어렵다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Rizzo ⑴ + Weiner(1985)</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MV4</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나의 업무 투입 시간이 어떤 평가로 귀결될지 예상하기 어렵다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DV1</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이 성과평가 절차는 모든 구성원에게 동일한 기준으로 적용된다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N&amp;M(1993) Table 1 p.541 item 5 (λ=.901)</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DV3</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이 성과평가 절차는 특정인에게 유리하거나 불리하게 편향되지 않는다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Colquitt(2001) Table 1 p.389 item 4</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345643">
                <a:tc>
                  <a:txBody>
                    <a:bodyPr/>
                    <a:lstStyle/>
                    <a:p>
                      <a:pPr indent="0" marL="0">
                        <a:buNone/>
                      </a:pPr>
                      <a:r>
                        <a:rPr lang="en-US" sz="1050" dirty="0">
                          <a:solidFill>
                            <a:srgbClr val="1F2226"/>
                          </a:solidFill>
                          <a:latin typeface="Arial" pitchFamily="34" charset="0"/>
                          <a:ea typeface="Arial" pitchFamily="34" charset="-122"/>
                          <a:cs typeface="Arial" pitchFamily="34" charset="-120"/>
                        </a:rPr>
                        <a:t>DV4</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이 평가는 평가자의 개인적 편견 없이 이루어진다</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050" dirty="0">
                          <a:solidFill>
                            <a:srgbClr val="1F2226"/>
                          </a:solidFill>
                          <a:latin typeface="Arial" pitchFamily="34" charset="0"/>
                          <a:ea typeface="Arial" pitchFamily="34" charset="-122"/>
                          <a:cs typeface="Arial" pitchFamily="34" charset="-120"/>
                        </a:rPr>
                        <a:t>N&amp;M(1993) Table 1 p.541 item 1 (λ=.897)</a:t>
                      </a:r>
                      <a:endParaRPr lang="en-US" sz="1050" dirty="0">
                        <a:latin typeface="Arial" charset="0"/>
                        <a:ea typeface="Arial" charset="0"/>
                        <a:cs typeface="Arial" charset="0"/>
                      </a:endParaRPr>
                    </a:p>
                  </a:txBody>
                  <a:tcPr marL="88900" marR="88900" marT="25400" marB="254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bl>
          </a:graphicData>
        </a:graphic>
      </p:graphicFrame>
      <p:sp>
        <p:nvSpPr>
          <p:cNvPr id="10" name="Text 7"/>
          <p:cNvSpPr/>
          <p:nvPr/>
        </p:nvSpPr>
        <p:spPr>
          <a:xfrm>
            <a:off x="768096" y="6956755"/>
            <a:ext cx="13112496" cy="307238"/>
          </a:xfrm>
          <a:prstGeom prst="rect">
            <a:avLst/>
          </a:prstGeom>
          <a:noFill/>
          <a:ln/>
        </p:spPr>
        <p:txBody>
          <a:bodyPr wrap="square" lIns="0" tIns="0" rIns="0" bIns="0" rtlCol="0" anchor="ctr"/>
          <a:lstStyle/>
          <a:p>
            <a:pPr indent="0" marL="0">
              <a:buNone/>
            </a:pPr>
            <a:r>
              <a:rPr lang="en-US" sz="1100" dirty="0">
                <a:solidFill>
                  <a:srgbClr val="70757C"/>
                </a:solidFill>
                <a:latin typeface="Arial" pitchFamily="34" charset="0"/>
                <a:ea typeface="Arial" pitchFamily="34" charset="-122"/>
                <a:cs typeface="Arial" pitchFamily="34" charset="-120"/>
              </a:rPr>
              <a:t>DV 3문항은 전원 검증된 원문항에 대응하며 신규 문항이 없다 · MOD 4문항은 재설계 검토 중이라 싣지 않았다</a:t>
            </a:r>
            <a:endParaRPr lang="en-US" sz="1100" dirty="0"/>
          </a:p>
        </p:txBody>
      </p:sp>
      <p:sp>
        <p:nvSpPr>
          <p:cNvPr id="11" name="Text 8"/>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F</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8339328" y="329184"/>
            <a:ext cx="4992624" cy="285293"/>
          </a:xfrm>
          <a:prstGeom prst="rect">
            <a:avLst/>
          </a:prstGeom>
          <a:noFill/>
          <a:ln/>
        </p:spPr>
        <p:txBody>
          <a:bodyPr wrap="square" lIns="0" tIns="0" rIns="0" bIns="0" rtlCol="0" anchor="ctr"/>
          <a:lstStyle/>
          <a:p>
            <a:pPr algn="r" indent="0" marL="0">
              <a:buNone/>
            </a:pPr>
            <a:r>
              <a:rPr lang="en-US" sz="1050" dirty="0">
                <a:solidFill>
                  <a:srgbClr val="70757C"/>
                </a:solidFill>
                <a:latin typeface="Arial" pitchFamily="34" charset="0"/>
                <a:ea typeface="Arial" pitchFamily="34" charset="-122"/>
                <a:cs typeface="Arial" pitchFamily="34" charset="-120"/>
              </a:rPr>
              <a:t>2026 윤제방 하계세미나</a:t>
            </a:r>
            <a:endParaRPr lang="en-US" sz="1050" dirty="0"/>
          </a:p>
        </p:txBody>
      </p:sp>
      <p:sp>
        <p:nvSpPr>
          <p:cNvPr id="3" name="Text 1"/>
          <p:cNvSpPr/>
          <p:nvPr/>
        </p:nvSpPr>
        <p:spPr>
          <a:xfrm>
            <a:off x="8339328" y="603504"/>
            <a:ext cx="4992624" cy="307238"/>
          </a:xfrm>
          <a:prstGeom prst="rect">
            <a:avLst/>
          </a:prstGeom>
          <a:noFill/>
          <a:ln/>
        </p:spPr>
        <p:txBody>
          <a:bodyPr wrap="square" lIns="0" tIns="0" rIns="0" bIns="0" rtlCol="0" anchor="ctr"/>
          <a:lstStyle/>
          <a:p>
            <a:pPr algn="r" indent="0" marL="0">
              <a:buNone/>
            </a:pPr>
            <a:r>
              <a:rPr lang="en-US" sz="1200" b="1" dirty="0">
                <a:solidFill>
                  <a:srgbClr val="1F2226"/>
                </a:solidFill>
                <a:latin typeface="Arial" pitchFamily="34" charset="0"/>
                <a:ea typeface="Arial" pitchFamily="34" charset="-122"/>
                <a:cs typeface="Arial" pitchFamily="34" charset="-120"/>
              </a:rPr>
              <a:t>연구 계획 발표</a:t>
            </a:r>
            <a:endParaRPr lang="en-US" sz="1200" dirty="0"/>
          </a:p>
        </p:txBody>
      </p:sp>
      <p:sp>
        <p:nvSpPr>
          <p:cNvPr id="4" name="Shape 2"/>
          <p:cNvSpPr/>
          <p:nvPr/>
        </p:nvSpPr>
        <p:spPr>
          <a:xfrm>
            <a:off x="680314" y="1009498"/>
            <a:ext cx="13277088" cy="0"/>
          </a:xfrm>
          <a:prstGeom prst="line">
            <a:avLst/>
          </a:prstGeom>
          <a:noFill/>
          <a:ln w="12700">
            <a:solidFill>
              <a:srgbClr val="C9CDD3"/>
            </a:solidFill>
            <a:prstDash val="solid"/>
          </a:ln>
        </p:spPr>
      </p:sp>
      <p:sp>
        <p:nvSpPr>
          <p:cNvPr id="5" name="Shape 3"/>
          <p:cNvSpPr/>
          <p:nvPr/>
        </p:nvSpPr>
        <p:spPr>
          <a:xfrm>
            <a:off x="8339328" y="1009498"/>
            <a:ext cx="5618074" cy="0"/>
          </a:xfrm>
          <a:prstGeom prst="line">
            <a:avLst/>
          </a:prstGeom>
          <a:noFill/>
          <a:ln w="25400">
            <a:solidFill>
              <a:srgbClr val="8C2A32"/>
            </a:solidFill>
            <a:prstDash val="solid"/>
          </a:ln>
        </p:spPr>
      </p:sp>
      <p:sp>
        <p:nvSpPr>
          <p:cNvPr id="6" name="Shape 4"/>
          <p:cNvSpPr/>
          <p:nvPr/>
        </p:nvSpPr>
        <p:spPr>
          <a:xfrm>
            <a:off x="680314" y="1207008"/>
            <a:ext cx="899770" cy="899770"/>
          </a:xfrm>
          <a:prstGeom prst="ellipse">
            <a:avLst/>
          </a:prstGeom>
          <a:solidFill>
            <a:srgbClr val="FFFFFF">
              <a:alpha val="0"/>
            </a:srgbClr>
          </a:solidFill>
          <a:ln w="63500">
            <a:solidFill>
              <a:srgbClr val="8C2A32"/>
            </a:solidFill>
            <a:prstDash val="solid"/>
          </a:ln>
        </p:spPr>
      </p:sp>
      <p:sp>
        <p:nvSpPr>
          <p:cNvPr id="7" name="Shape 5"/>
          <p:cNvSpPr/>
          <p:nvPr/>
        </p:nvSpPr>
        <p:spPr>
          <a:xfrm>
            <a:off x="1207008" y="1119226"/>
            <a:ext cx="680314" cy="1075334"/>
          </a:xfrm>
          <a:prstGeom prst="rect">
            <a:avLst/>
          </a:prstGeom>
          <a:solidFill>
            <a:srgbClr val="FFFFFF"/>
          </a:solidFill>
          <a:ln w="12700">
            <a:solidFill>
              <a:srgbClr val="FFFFFF"/>
            </a:solidFill>
            <a:prstDash val="solid"/>
          </a:ln>
        </p:spPr>
      </p:sp>
      <p:sp>
        <p:nvSpPr>
          <p:cNvPr id="8" name="Text 6"/>
          <p:cNvSpPr/>
          <p:nvPr/>
        </p:nvSpPr>
        <p:spPr>
          <a:xfrm>
            <a:off x="1119226" y="1207008"/>
            <a:ext cx="12508992" cy="899770"/>
          </a:xfrm>
          <a:prstGeom prst="rect">
            <a:avLst/>
          </a:prstGeom>
          <a:noFill/>
          <a:ln/>
        </p:spPr>
        <p:txBody>
          <a:bodyPr wrap="square" lIns="0" tIns="0" rIns="0" bIns="0" rtlCol="0" anchor="ctr"/>
          <a:lstStyle/>
          <a:p>
            <a:pPr indent="0" marL="0">
              <a:buNone/>
            </a:pPr>
            <a:r>
              <a:rPr lang="en-US" sz="2600" b="1" dirty="0">
                <a:solidFill>
                  <a:srgbClr val="1F2226"/>
                </a:solidFill>
                <a:latin typeface="Arial" pitchFamily="34" charset="0"/>
                <a:ea typeface="Arial" pitchFamily="34" charset="-122"/>
                <a:cs typeface="Arial" pitchFamily="34" charset="-120"/>
              </a:rPr>
              <a:t>Appendix G. 이론 층 선택의 근거</a:t>
            </a:r>
            <a:endParaRPr lang="en-US" sz="2600" dirty="0"/>
          </a:p>
        </p:txBody>
      </p:sp>
      <p:sp>
        <p:nvSpPr>
          <p:cNvPr id="9" name="Text 7"/>
          <p:cNvSpPr/>
          <p:nvPr/>
        </p:nvSpPr>
        <p:spPr>
          <a:xfrm>
            <a:off x="768096" y="2304288"/>
            <a:ext cx="7680960"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UMT 계열 실증 5편 — 불확실성의 배치 】</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68096" y="2699309"/>
          <a:ext cx="13112496" cy="914400"/>
        </p:xfrm>
        <a:graphic>
          <a:graphicData uri="http://schemas.openxmlformats.org/drawingml/2006/table">
            <a:tbl>
              <a:tblPr/>
              <a:tblGrid>
                <a:gridCol w="4718304"/>
                <a:gridCol w="8394192"/>
              </a:tblGrid>
              <a:tr h="416966">
                <a:tc>
                  <a:txBody>
                    <a:bodyPr/>
                    <a:lstStyle/>
                    <a:p>
                      <a:pPr indent="0" marL="0">
                        <a:buNone/>
                      </a:pPr>
                      <a:r>
                        <a:rPr lang="en-US" sz="1150" b="1" dirty="0">
                          <a:solidFill>
                            <a:srgbClr val="1F2226"/>
                          </a:solidFill>
                          <a:latin typeface="Arial" pitchFamily="34" charset="0"/>
                          <a:ea typeface="Arial" pitchFamily="34" charset="-122"/>
                          <a:cs typeface="Arial" pitchFamily="34" charset="-120"/>
                        </a:rPr>
                        <a:t>문헌</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226"/>
                          </a:solidFill>
                          <a:latin typeface="Arial" pitchFamily="34" charset="0"/>
                          <a:ea typeface="Arial" pitchFamily="34" charset="-122"/>
                          <a:cs typeface="Arial" pitchFamily="34" charset="-120"/>
                        </a:rPr>
                        <a:t>불확실성의 배치</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16966">
                <a:tc>
                  <a:txBody>
                    <a:bodyPr/>
                    <a:lstStyle/>
                    <a:p>
                      <a:pPr indent="0" marL="0">
                        <a:buNone/>
                      </a:pPr>
                      <a:r>
                        <a:rPr lang="en-US" sz="1150" dirty="0">
                          <a:solidFill>
                            <a:srgbClr val="1F2226"/>
                          </a:solidFill>
                          <a:latin typeface="Arial" pitchFamily="34" charset="0"/>
                          <a:ea typeface="Arial" pitchFamily="34" charset="-122"/>
                          <a:cs typeface="Arial" pitchFamily="34" charset="-120"/>
                        </a:rPr>
                        <a:t>van den Bos (2001) JPSP</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불확실성 현저성을 조작 → 절차공정성 반응 강화   ·   조절</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16966">
                <a:tc>
                  <a:txBody>
                    <a:bodyPr/>
                    <a:lstStyle/>
                    <a:p>
                      <a:pPr indent="0" marL="0">
                        <a:buNone/>
                      </a:pPr>
                      <a:r>
                        <a:rPr lang="en-US" sz="1150" dirty="0">
                          <a:solidFill>
                            <a:srgbClr val="1F2226"/>
                          </a:solidFill>
                          <a:latin typeface="Arial" pitchFamily="34" charset="0"/>
                          <a:ea typeface="Arial" pitchFamily="34" charset="-122"/>
                          <a:cs typeface="Arial" pitchFamily="34" charset="-120"/>
                        </a:rPr>
                        <a:t>van den Bos &amp; Miedema (2000) JPSP</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죽음 현저성 조작 → 절차공정성 반응 변화   ·   조절</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16966">
                <a:tc>
                  <a:txBody>
                    <a:bodyPr/>
                    <a:lstStyle/>
                    <a:p>
                      <a:pPr indent="0" marL="0">
                        <a:buNone/>
                      </a:pPr>
                      <a:r>
                        <a:rPr lang="en-US" sz="1150" dirty="0">
                          <a:solidFill>
                            <a:srgbClr val="1F2226"/>
                          </a:solidFill>
                          <a:latin typeface="Arial" pitchFamily="34" charset="0"/>
                          <a:ea typeface="Arial" pitchFamily="34" charset="-122"/>
                          <a:cs typeface="Arial" pitchFamily="34" charset="-120"/>
                        </a:rPr>
                        <a:t>De Cremer &amp; Sedikides (2004) JEP</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자기 불확실성이 절차공정성 욕구에 영향   ·   조절 · 개인 특성</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16966">
                <a:tc>
                  <a:txBody>
                    <a:bodyPr/>
                    <a:lstStyle/>
                    <a:p>
                      <a:pPr indent="0" marL="0">
                        <a:buNone/>
                      </a:pPr>
                      <a:r>
                        <a:rPr lang="en-US" sz="1150" dirty="0">
                          <a:solidFill>
                            <a:srgbClr val="1F2226"/>
                          </a:solidFill>
                          <a:latin typeface="Arial" pitchFamily="34" charset="0"/>
                          <a:ea typeface="Arial" pitchFamily="34" charset="-122"/>
                          <a:cs typeface="Arial" pitchFamily="34" charset="-120"/>
                        </a:rPr>
                        <a:t>Diekmann, Barsness &amp; Sondak (2004) SJR</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평가 기준 불확실성이 높을 때 절차공정성이 직무만족의 더 나은 예측자   ·   조절 · DV=직무만족</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r h="416966">
                <a:tc>
                  <a:txBody>
                    <a:bodyPr/>
                    <a:lstStyle/>
                    <a:p>
                      <a:pPr indent="0" marL="0">
                        <a:buNone/>
                      </a:pPr>
                      <a:r>
                        <a:rPr lang="en-US" sz="1150" dirty="0">
                          <a:solidFill>
                            <a:srgbClr val="1F2226"/>
                          </a:solidFill>
                          <a:latin typeface="Arial" pitchFamily="34" charset="0"/>
                          <a:ea typeface="Arial" pitchFamily="34" charset="-122"/>
                          <a:cs typeface="Arial" pitchFamily="34" charset="-120"/>
                        </a:rPr>
                        <a:t>Thau et al. (2009) OBHDP</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c>
                  <a:txBody>
                    <a:bodyPr/>
                    <a:lstStyle/>
                    <a:p>
                      <a:pPr indent="0" marL="0">
                        <a:buNone/>
                      </a:pPr>
                      <a:r>
                        <a:rPr lang="en-US" sz="1150" dirty="0">
                          <a:solidFill>
                            <a:srgbClr val="1F2226"/>
                          </a:solidFill>
                          <a:latin typeface="Arial" pitchFamily="34" charset="0"/>
                          <a:ea typeface="Arial" pitchFamily="34" charset="-122"/>
                          <a:cs typeface="Arial" pitchFamily="34" charset="-120"/>
                        </a:rPr>
                        <a:t>맥락 불확실성이 학대적 감독 반응을 악화   ·   조절</a:t>
                      </a:r>
                      <a:endParaRPr lang="en-US" sz="1150" dirty="0">
                        <a:latin typeface="Arial" charset="0"/>
                        <a:ea typeface="Arial" charset="0"/>
                        <a:cs typeface="Arial" charset="0"/>
                      </a:endParaRPr>
                    </a:p>
                  </a:txBody>
                  <a:tcPr marL="101600" marR="101600" marT="38100" marB="38100" anchor="ctr">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FFFFFF"/>
                    </a:solidFill>
                  </a:tcPr>
                </a:tc>
              </a:tr>
            </a:tbl>
          </a:graphicData>
        </a:graphic>
      </p:graphicFrame>
      <p:sp>
        <p:nvSpPr>
          <p:cNvPr id="11" name="Text 8"/>
          <p:cNvSpPr/>
          <p:nvPr/>
        </p:nvSpPr>
        <p:spPr>
          <a:xfrm>
            <a:off x="822960" y="5310835"/>
            <a:ext cx="13002768" cy="329184"/>
          </a:xfrm>
          <a:prstGeom prst="rect">
            <a:avLst/>
          </a:prstGeom>
          <a:noFill/>
          <a:ln/>
        </p:spPr>
        <p:txBody>
          <a:bodyPr wrap="square" lIns="0" tIns="0" rIns="0" bIns="0" rtlCol="0" anchor="ctr"/>
          <a:lstStyle/>
          <a:p>
            <a:pPr indent="0" marL="0">
              <a:buNone/>
            </a:pPr>
            <a:r>
              <a:rPr lang="en-US" sz="1150" b="1" dirty="0">
                <a:solidFill>
                  <a:srgbClr val="1F2226"/>
                </a:solidFill>
                <a:latin typeface="Arial" pitchFamily="34" charset="0"/>
                <a:ea typeface="Arial" pitchFamily="34" charset="-122"/>
                <a:cs typeface="Arial" pitchFamily="34" charset="-120"/>
              </a:rPr>
              <a:t>다섯 편 모두 불확실성을 조절변수 또는 조작된 외생 조건으로 놓는다 — 조직 내 선행요인이 불확실성을 유발하고 공정성 지각으로 이어지는 매개 경로를 검증한 연구는 확인되지 않는다</a:t>
            </a:r>
            <a:endParaRPr lang="en-US" sz="1150" dirty="0"/>
          </a:p>
        </p:txBody>
      </p:sp>
      <p:sp>
        <p:nvSpPr>
          <p:cNvPr id="12" name="Text 9"/>
          <p:cNvSpPr/>
          <p:nvPr/>
        </p:nvSpPr>
        <p:spPr>
          <a:xfrm>
            <a:off x="768096" y="5815584"/>
            <a:ext cx="7680960" cy="329184"/>
          </a:xfrm>
          <a:prstGeom prst="rect">
            <a:avLst/>
          </a:prstGeom>
          <a:noFill/>
          <a:ln/>
        </p:spPr>
        <p:txBody>
          <a:bodyPr wrap="square" lIns="0" tIns="0" rIns="0" bIns="0" rtlCol="0" anchor="ctr"/>
          <a:lstStyle/>
          <a:p>
            <a:pPr algn="l" indent="0" marL="0">
              <a:buNone/>
            </a:pPr>
            <a:r>
              <a:rPr lang="en-US" sz="1300" b="1" dirty="0">
                <a:solidFill>
                  <a:srgbClr val="1F2226"/>
                </a:solidFill>
                <a:latin typeface="Arial" pitchFamily="34" charset="0"/>
                <a:ea typeface="Arial" pitchFamily="34" charset="-122"/>
                <a:cs typeface="Arial" pitchFamily="34" charset="-120"/>
              </a:rPr>
              <a:t>【 Leventhal 규칙 층을 쓰는 방식 】</a:t>
            </a:r>
            <a:endParaRPr lang="en-US" sz="1300" dirty="0"/>
          </a:p>
        </p:txBody>
      </p:sp>
      <p:sp>
        <p:nvSpPr>
          <p:cNvPr id="13" name="Shape 10"/>
          <p:cNvSpPr/>
          <p:nvPr/>
        </p:nvSpPr>
        <p:spPr>
          <a:xfrm>
            <a:off x="768096" y="6210605"/>
            <a:ext cx="6419088" cy="1185062"/>
          </a:xfrm>
          <a:prstGeom prst="rect">
            <a:avLst/>
          </a:prstGeom>
          <a:solidFill>
            <a:srgbClr val="F7F8F9"/>
          </a:solidFill>
          <a:ln w="12700">
            <a:solidFill>
              <a:srgbClr val="C9CDD3"/>
            </a:solidFill>
            <a:prstDash val="solid"/>
          </a:ln>
        </p:spPr>
      </p:sp>
      <p:sp>
        <p:nvSpPr>
          <p:cNvPr id="14" name="Text 11"/>
          <p:cNvSpPr/>
          <p:nvPr/>
        </p:nvSpPr>
        <p:spPr>
          <a:xfrm>
            <a:off x="1053389" y="6331306"/>
            <a:ext cx="5870448" cy="307238"/>
          </a:xfrm>
          <a:prstGeom prst="rect">
            <a:avLst/>
          </a:prstGeom>
          <a:noFill/>
          <a:ln/>
        </p:spPr>
        <p:txBody>
          <a:bodyPr wrap="square" lIns="0" tIns="0" rIns="0" bIns="0" rtlCol="0" anchor="ctr"/>
          <a:lstStyle/>
          <a:p>
            <a:pPr indent="0" marL="0">
              <a:buNone/>
            </a:pPr>
            <a:r>
              <a:rPr lang="en-US" sz="1250" b="1" dirty="0">
                <a:solidFill>
                  <a:srgbClr val="70757C"/>
                </a:solidFill>
                <a:latin typeface="Arial" pitchFamily="34" charset="0"/>
                <a:ea typeface="Arial" pitchFamily="34" charset="-122"/>
                <a:cs typeface="Arial" pitchFamily="34" charset="-120"/>
              </a:rPr>
              <a:t>Hartmann이 비판한 용법</a:t>
            </a:r>
            <a:endParaRPr lang="en-US" sz="1250" dirty="0"/>
          </a:p>
        </p:txBody>
      </p:sp>
      <p:sp>
        <p:nvSpPr>
          <p:cNvPr id="15" name="Text 12"/>
          <p:cNvSpPr/>
          <p:nvPr/>
        </p:nvSpPr>
        <p:spPr>
          <a:xfrm>
            <a:off x="1053389" y="6638544"/>
            <a:ext cx="5870448" cy="373075"/>
          </a:xfrm>
          <a:prstGeom prst="rect">
            <a:avLst/>
          </a:prstGeom>
          <a:noFill/>
          <a:ln/>
        </p:spPr>
        <p:txBody>
          <a:bodyPr wrap="square" lIns="0" tIns="0" rIns="0" bIns="0" rtlCol="0" anchor="ctr"/>
          <a:lstStyle/>
          <a:p>
            <a:pPr indent="0" marL="0">
              <a:lnSpc>
                <a:spcPts val="1800"/>
              </a:lnSpc>
              <a:buNone/>
            </a:pPr>
            <a:r>
              <a:rPr lang="en-US" sz="1100" dirty="0">
                <a:solidFill>
                  <a:srgbClr val="1F2226"/>
                </a:solidFill>
                <a:latin typeface="Arial" pitchFamily="34" charset="0"/>
                <a:ea typeface="Arial" pitchFamily="34" charset="-122"/>
                <a:cs typeface="Arial" pitchFamily="34" charset="-120"/>
              </a:rPr>
              <a:t>Leventhal 원칙을 공정성의 원인을 설명하는 이론으로 사용</a:t>
            </a:r>
            <a:endParaRPr lang="en-US" sz="1100" dirty="0"/>
          </a:p>
        </p:txBody>
      </p:sp>
      <p:sp>
        <p:nvSpPr>
          <p:cNvPr id="16" name="Text 13"/>
          <p:cNvSpPr/>
          <p:nvPr/>
        </p:nvSpPr>
        <p:spPr>
          <a:xfrm>
            <a:off x="1053389" y="7011619"/>
            <a:ext cx="5870448" cy="307238"/>
          </a:xfrm>
          <a:prstGeom prst="rect">
            <a:avLst/>
          </a:prstGeom>
          <a:noFill/>
          <a:ln/>
        </p:spPr>
        <p:txBody>
          <a:bodyPr wrap="square" lIns="0" tIns="0" rIns="0" bIns="0" rtlCol="0" anchor="ctr"/>
          <a:lstStyle/>
          <a:p>
            <a:pPr indent="0" marL="0">
              <a:buNone/>
            </a:pPr>
            <a:r>
              <a:rPr lang="en-US" sz="1100" b="1" dirty="0">
                <a:solidFill>
                  <a:srgbClr val="1F2226"/>
                </a:solidFill>
                <a:latin typeface="Arial" pitchFamily="34" charset="0"/>
                <a:ea typeface="Arial" pitchFamily="34" charset="-122"/>
                <a:cs typeface="Arial" pitchFamily="34" charset="-120"/>
              </a:rPr>
              <a:t>→ 「일관되게 행동하면 공정해 보인다」 (동어반복)</a:t>
            </a:r>
            <a:endParaRPr lang="en-US" sz="1100" dirty="0"/>
          </a:p>
        </p:txBody>
      </p:sp>
      <p:sp>
        <p:nvSpPr>
          <p:cNvPr id="17" name="Shape 14"/>
          <p:cNvSpPr/>
          <p:nvPr/>
        </p:nvSpPr>
        <p:spPr>
          <a:xfrm>
            <a:off x="7439558" y="6210605"/>
            <a:ext cx="6419088" cy="1185062"/>
          </a:xfrm>
          <a:prstGeom prst="rect">
            <a:avLst/>
          </a:prstGeom>
          <a:solidFill>
            <a:srgbClr val="EDEEF0"/>
          </a:solidFill>
          <a:ln w="12700">
            <a:solidFill>
              <a:srgbClr val="E2D2D1"/>
            </a:solidFill>
            <a:prstDash val="solid"/>
          </a:ln>
        </p:spPr>
      </p:sp>
      <p:sp>
        <p:nvSpPr>
          <p:cNvPr id="18" name="Text 15"/>
          <p:cNvSpPr/>
          <p:nvPr/>
        </p:nvSpPr>
        <p:spPr>
          <a:xfrm>
            <a:off x="7724851" y="6331306"/>
            <a:ext cx="5870448" cy="307238"/>
          </a:xfrm>
          <a:prstGeom prst="rect">
            <a:avLst/>
          </a:prstGeom>
          <a:noFill/>
          <a:ln/>
        </p:spPr>
        <p:txBody>
          <a:bodyPr wrap="square" lIns="0" tIns="0" rIns="0" bIns="0" rtlCol="0" anchor="ctr"/>
          <a:lstStyle/>
          <a:p>
            <a:pPr indent="0" marL="0">
              <a:buNone/>
            </a:pPr>
            <a:r>
              <a:rPr lang="en-US" sz="1250" b="1" dirty="0">
                <a:solidFill>
                  <a:srgbClr val="1F2226"/>
                </a:solidFill>
                <a:latin typeface="Arial" pitchFamily="34" charset="0"/>
                <a:ea typeface="Arial" pitchFamily="34" charset="-122"/>
                <a:cs typeface="Arial" pitchFamily="34" charset="-120"/>
              </a:rPr>
              <a:t>본 연구의 용법</a:t>
            </a:r>
            <a:endParaRPr lang="en-US" sz="1250" dirty="0"/>
          </a:p>
        </p:txBody>
      </p:sp>
      <p:sp>
        <p:nvSpPr>
          <p:cNvPr id="19" name="Text 16"/>
          <p:cNvSpPr/>
          <p:nvPr/>
        </p:nvSpPr>
        <p:spPr>
          <a:xfrm>
            <a:off x="7724851" y="6638544"/>
            <a:ext cx="5870448" cy="373075"/>
          </a:xfrm>
          <a:prstGeom prst="rect">
            <a:avLst/>
          </a:prstGeom>
          <a:noFill/>
          <a:ln/>
        </p:spPr>
        <p:txBody>
          <a:bodyPr wrap="square" lIns="0" tIns="0" rIns="0" bIns="0" rtlCol="0" anchor="ctr"/>
          <a:lstStyle/>
          <a:p>
            <a:pPr indent="0" marL="0">
              <a:lnSpc>
                <a:spcPts val="1800"/>
              </a:lnSpc>
              <a:buNone/>
            </a:pPr>
            <a:r>
              <a:rPr lang="en-US" sz="1100" dirty="0">
                <a:solidFill>
                  <a:srgbClr val="1F2226"/>
                </a:solidFill>
                <a:latin typeface="Arial" pitchFamily="34" charset="0"/>
                <a:ea typeface="Arial" pitchFamily="34" charset="-122"/>
                <a:cs typeface="Arial" pitchFamily="34" charset="-120"/>
              </a:rPr>
              <a:t>인과 동력은 귀인이론 기대원리 · Leventhal은 판단의 내용을 규정</a:t>
            </a:r>
            <a:endParaRPr lang="en-US" sz="1100" dirty="0"/>
          </a:p>
        </p:txBody>
      </p:sp>
      <p:sp>
        <p:nvSpPr>
          <p:cNvPr id="20" name="Text 17"/>
          <p:cNvSpPr/>
          <p:nvPr/>
        </p:nvSpPr>
        <p:spPr>
          <a:xfrm>
            <a:off x="7724851" y="7011619"/>
            <a:ext cx="5870448" cy="307238"/>
          </a:xfrm>
          <a:prstGeom prst="rect">
            <a:avLst/>
          </a:prstGeom>
          <a:noFill/>
          <a:ln/>
        </p:spPr>
        <p:txBody>
          <a:bodyPr wrap="square" lIns="0" tIns="0" rIns="0" bIns="0" rtlCol="0" anchor="ctr"/>
          <a:lstStyle/>
          <a:p>
            <a:pPr indent="0" marL="0">
              <a:buNone/>
            </a:pPr>
            <a:r>
              <a:rPr lang="en-US" sz="1100" b="1" dirty="0">
                <a:solidFill>
                  <a:srgbClr val="1F2226"/>
                </a:solidFill>
                <a:latin typeface="Arial" pitchFamily="34" charset="0"/>
                <a:ea typeface="Arial" pitchFamily="34" charset="-122"/>
                <a:cs typeface="Arial" pitchFamily="34" charset="-120"/>
              </a:rPr>
              <a:t>→ 「예측할 수 없으면 규칙 충족 여부를 판단할 근거를 잃는다」</a:t>
            </a:r>
            <a:endParaRPr lang="en-US" sz="1100" dirty="0"/>
          </a:p>
        </p:txBody>
      </p:sp>
      <p:sp>
        <p:nvSpPr>
          <p:cNvPr id="21" name="Text 18"/>
          <p:cNvSpPr/>
          <p:nvPr/>
        </p:nvSpPr>
        <p:spPr>
          <a:xfrm>
            <a:off x="12508992" y="7626096"/>
            <a:ext cx="1448410" cy="307238"/>
          </a:xfrm>
          <a:prstGeom prst="rect">
            <a:avLst/>
          </a:prstGeom>
          <a:noFill/>
          <a:ln/>
        </p:spPr>
        <p:txBody>
          <a:bodyPr wrap="square" lIns="0" tIns="0" rIns="0" bIns="0" rtlCol="0" anchor="ctr"/>
          <a:lstStyle/>
          <a:p>
            <a:pPr algn="r" indent="0" marL="0">
              <a:buNone/>
            </a:pPr>
            <a:r>
              <a:rPr lang="en-US" sz="1000" dirty="0">
                <a:solidFill>
                  <a:srgbClr val="70757C"/>
                </a:solidFill>
                <a:latin typeface="Arial" pitchFamily="34" charset="0"/>
                <a:ea typeface="Arial" pitchFamily="34" charset="-122"/>
                <a:cs typeface="Arial" pitchFamily="34" charset="-120"/>
              </a:rPr>
              <a:t>G</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2026-08-23T23:57:47Z</dcterms:created>
  <dcterms:modified xsi:type="dcterms:W3CDTF">2026-08-23T23:57:47Z</dcterms:modified>
</cp:coreProperties>
</file>